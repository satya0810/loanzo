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8"/>
  </p:notesMasterIdLst>
  <p:sldIdLst>
    <p:sldId id="291" r:id="rId2"/>
    <p:sldId id="298" r:id="rId3"/>
    <p:sldId id="290" r:id="rId4"/>
    <p:sldId id="293" r:id="rId5"/>
    <p:sldId id="294" r:id="rId6"/>
    <p:sldId id="296" r:id="rId7"/>
  </p:sldIdLst>
  <p:sldSz cx="12191695"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66" d="100"/>
          <a:sy n="66" d="100"/>
        </p:scale>
        <p:origin x="1301" y="590"/>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8/22/2026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05:30 - 08:00 | TARGET DURATION: 2.5 MINUTES]</a:t>
            </a:r>
          </a:p>
          <a:p>
            <a:r>
              <a:t>[SPEAKER CUES: DEEP TECHNICAL RIGOR, PERSISTENCE, HARDWARE CRYPTO]</a:t>
            </a:r>
          </a:p>
          <a:p/>
          <a:p>
            <a:r>
              <a:t>1. THE BHARAT CONNECTIVITY PARADOX &amp; OFFLINE-FIRST ROOM DB (05:30 - 06:30):</a:t>
            </a:r>
          </a:p>
          <a:p>
            <a:r>
              <a:t>"Now, let us dive into the engineering rigor that powers Loanzo on Slide 3. When building fintech for Bharat, two technical realities must be conquered: erratic rural network connectivity and device-level authentication security.</a:t>
            </a:r>
          </a:p>
          <a:p/>
          <a:p>
            <a:r>
              <a:t>First, look at our Database &amp; Persistence layer. Loanzo is built 100% Offline-First. Rural weavers in Varanasi or farmers in Vidarbha cannot rely on continuous 5G connections. Rather than depending on cloud microservices for every button tap, Loanzo operates on an embedded Room Database v12 with 19 normalized SQLite entities and 17 Data Access Objects (DAOs). </a:t>
            </a:r>
          </a:p>
          <a:p/>
          <a:p>
            <a:r>
              <a:t>Every ledger operation, EMI amortization calculation, and milestone status transition runs on-device in under 15 milliseconds. When the user enters an area with 2G or Wi-Fi, our proprietary SyncQueueEntity processes queued mutations in an atomic delta synchronization pipeline without race conditions."</a:t>
            </a:r>
          </a:p>
          <a:p/>
          <a:p>
            <a:r>
              <a:t>2. LIVE SCREEN: ROLE SWITCHER &amp; STRONGBOX KEYSTORE (06:30 - 07:30):</a:t>
            </a:r>
          </a:p>
          <a:p>
            <a:r>
              <a:t>"Second, examine the phone mockup on the right displaying our live Login and Role Authentication screen. Notice the account handle 'satyam0810' and the dynamic user role selector. Loanzo enforces strict Role-Based Access Control (RBAC) across four distinct personas: Borrowers, Lenders, Field Valuation Agents, and System Administrators.</a:t>
            </a:r>
          </a:p>
          <a:p/>
          <a:p>
            <a:r>
              <a:t>Crucially, we have eliminated vulnerable SMS OTPs, which are prone to SIM-swap fraud and delayed delivery in rural belts. Instead, Loanzo leverages Android StrongBox Keystore and AndroidX BiometricPrompt. Cryptographic keys are generated inside the phone’s dedicated secure hardware element (PURPOSE_SIGN and PURPOSE_ENCRYPT). When a user authorizes a tranche or signs an agreement, their biometric fingerprint generates a hardware-backed SHA-256 digital signature. Even if a hostile actor intercepts the network or roots the device operating system, the underlying private keys cannot be extracted."</a:t>
            </a:r>
          </a:p>
          <a:p/>
          <a:p>
            <a:r>
              <a:t>3. 8-STAGE ROADMAP (07:30 - 08:00):</a:t>
            </a:r>
          </a:p>
          <a:p>
            <a:r>
              <a:t>"In the bottom roadmap, you see our systematic 8-stage implementation methodology, taking the project from PS-92 requirements analysis through Compose UI, Room v12 DB, Keystore security, tranche rules, Telegram SOS webhook, stress testing, to pilot deployment."</a:t>
            </a:r>
          </a:p>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08:00 - 10:30 | TARGET DURATION: 2.5 MINUTES]</a:t>
            </a:r>
          </a:p>
          <a:p>
            <a:r>
              <a:t>[SPEAKER CUES: UNIT ECONOMICS, FIELD AGENT OPERATIONS, HAIRCUT MATHEMATICS]</a:t>
            </a:r>
          </a:p>
          <a:p/>
          <a:p>
            <a:r>
              <a:t>1. OPERATIONAL &amp; ECONOMIC FEASIBILITY (08:00 - 08:50):</a:t>
            </a:r>
          </a:p>
          <a:p>
            <a:r>
              <a:t>"Any innovation in microfinance must prove rigorous operational viability and financial sustainability. On Slide 4, we present our comprehensive feasibility analysis and risk-mitigation framework.</a:t>
            </a:r>
          </a:p>
          <a:p/>
          <a:p>
            <a:r>
              <a:t>In Column 1, consider our Operational and Economic Feasibility. How do we appraise physical assets like cattle, loom machinery, or stored grain in rural villages without expensive bank branches? </a:t>
            </a:r>
          </a:p>
          <a:p/>
          <a:p>
            <a:r>
              <a:t>Look at the device screen on the right: Loanzo incorporates a decentralized Field Agent Appraisal Network. Local verified field officers conduct on-site geofenced physical inspections logged via our AgentVisitEntity. For every valuation, the agent earns a transparent, standardized fee of ₹499. Economically, Loanzo sustains its infrastructure through a modest 1.5% loan origination fee and a 0.5% servicing fee, achieving full operational breakeven at just 2,500 active loans."</a:t>
            </a:r>
          </a:p>
          <a:p/>
          <a:p>
            <a:r>
              <a:t>2. DEMYSTIFYING THE HAIRCUT &amp; COLLATERAL VAULT (08:50 - 09:50):</a:t>
            </a:r>
          </a:p>
          <a:p>
            <a:r>
              <a:t>"Now examine Column 2 and Column 3: How do we protect lenders against market volatility? This brings us to a fundamental financial concept: The Haircut.</a:t>
            </a:r>
          </a:p>
          <a:p/>
          <a:p>
            <a:r>
              <a:t>In finance, a 'haircut' is the safety margin subtracted from an asset's market value to shield lenders against price depreciation. Because gold has stable market liquidity, we apply a low 25% haircut, enabling a 75% Loan-to-Value (LTV). But for industrial machinery, which depreciates over time, we apply a 50% haircut. For livestock, which carries mortality risks, we enforce a strict 60% haircut, lending only 40% of the animal's assessed value. Even if milk yields decline or livestock market values drop by 30%, the lender's principal remains 100% protected.</a:t>
            </a:r>
          </a:p>
          <a:p/>
          <a:p>
            <a:r>
              <a:t>On the screen on the right, you can see our 'Unlock Document Vault' modal: KYC documents, asset invoices, and appraisal geotags are encrypted under hardware StrongBox and accessible only upon biometric confirmation."</a:t>
            </a:r>
          </a:p>
          <a:p/>
          <a:p>
            <a:r>
              <a:t>3. OVERCOMING ROGUE RECOVERY &amp; SUMMARY (09:50 - 10:30):</a:t>
            </a:r>
          </a:p>
          <a:p>
            <a:r>
              <a:t>"To eliminate rogue recovery agent harassment, our PenaltyEngine enforces a mathematical cap on penal interest, strictly compliant with RBI guidelines, ensuring borrowers are treated with dignity while capital remains secure."</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10:30 - 13:00 | TARGET DURATION: 2.5 MINUTES]</a:t>
            </a:r>
          </a:p>
          <a:p>
            <a:r>
              <a:t>[SPEAKER CUES: LEGAL REVOLUTION, SECTION 4 NI ACT, ORDER 37 CPC, DIGNITY]</a:t>
            </a:r>
          </a:p>
          <a:p/>
          <a:p>
            <a:r>
              <a:t>1. THE LEGAL ENFORCEABILITY VOID IN INFORMAL CREDIT (10:30 - 11:20):</a:t>
            </a:r>
          </a:p>
          <a:p>
            <a:r>
              <a:t>"Slide 5 represents what makes Loanzo truly revolutionary: the fusion of digital technology with statutory legal enforceability.</a:t>
            </a:r>
          </a:p>
          <a:p/>
          <a:p>
            <a:r>
              <a:t>In the informal lending world, loans are agreed upon verbally or scribbled on informal paper. If a borrower defaults, lenders face an impossible reality: filing a regular civil recovery suit in an Indian district court takes between 7 to 10 years due to backlogs. This legal paralysis is precisely why informal lenders resort to thuggish, illegal recovery muscle."</a:t>
            </a:r>
          </a:p>
          <a:p/>
          <a:p>
            <a:r>
              <a:t>2. SECTION 4 NI ACT PROMISSORY NOTE &amp; 60-DAY ORDER 37 SUMMARY SUIT (11:20 - 12:15):</a:t>
            </a:r>
          </a:p>
          <a:p>
            <a:r>
              <a:t>"Direct your gaze to the center screen displaying our live Loan Agreement and Promissory Note sheet. Notice the terms: 'BUSINESS loan, 12% simple interest, 6 months tenure, Digital Loan Agreement Signed'.</a:t>
            </a:r>
          </a:p>
          <a:p/>
          <a:p>
            <a:r>
              <a:t>Loanzo transforms informal lending into statutory legality. Every sanctioned loan automatically synthesizes an unconditional Promissory Note under Section 4 of the Negotiable Instruments Act 1881, cryptographically stamped with the borrower's hardware biometric signature.</a:t>
            </a:r>
          </a:p>
          <a:p/>
          <a:p>
            <a:r>
              <a:t>What does this mean in a court of law? Under Order XXXVII (37) of the Code of Civil Procedure 1908, a Promissory Note qualifies for a Summary Suit. In a Summary Suit, the court presumes consideration and debt liability. The borrower cannot drag out the trial with frivolous excuses; they must deposit security with the court to defend themselves. As a result, the civil court grants an enforceable recovery decree in just 60 to 90 days instead of 10 years!"</a:t>
            </a:r>
          </a:p>
          <a:p/>
          <a:p>
            <a:r>
              <a:t>3. BORROWER DIGNITY &amp; RBI 2023-24/53 PENALTY CAP (12:15 - 13:00):</a:t>
            </a:r>
          </a:p>
          <a:p>
            <a:r>
              <a:t>"Simultaneously, we protect borrowers from predatory usury. Under RBI Circular RBI/2023-24/53, penal charges for late repayment cannot be compounded. If an EMI is missed, Loanzo's PenaltyEngine applies a transparent, simple daily charge capped at 2% per annum, with a mandatory 3-day grace period. No compounding penalty. No harassment. Total legal dignity."</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[TIME: 13:00 - 15:00 | TARGET DURATION: 2.0 MINUTES]</a:t>
            </a:r>
          </a:p>
          <a:p>
            <a:r>
              <a:t>[SPEAKER CUES: LIVE SOS ALERTS, DYNAMIC UPI QR, STATUTORY CLOSING]</a:t>
            </a:r>
          </a:p>
          <a:p/>
          <a:p>
            <a:r>
              <a:t>1. LIVE UTILITIES: DYNAMIC UPI QR &amp; TELEGRAM SOS (13:00 - 14:00):</a:t>
            </a:r>
          </a:p>
          <a:p>
            <a:r>
              <a:t>"Finally, on Slide 6, we demonstrate that Loanzo is not theoretical—it is firmly anchored in Indian jurisprudence and verified by live on-device utilities.</a:t>
            </a:r>
          </a:p>
          <a:p/>
          <a:p>
            <a:r>
              <a:t>Look at our dual phone mockups in the center. The top screen displays our Dynamic UPI QR engine, generating real-time merchant VPAs for instant penny-drop reconciliation. The bottom screen displays our Activity &amp; Alerts Feed, integrated directly with our automated Telegram SOS Webhook. </a:t>
            </a:r>
          </a:p>
          <a:p/>
          <a:p>
            <a:r>
              <a:t>If an unauthorized recovery agent visits a borrower's residence outside permissible hours or attempts coercion, the borrower taps one emergency button. Loanzo instantly dispatches a timestamped incident log to the lending syndicate and local authorities, accompanied by legal citations under IPC Sections 503 and 506 for criminal intimidation."</a:t>
            </a:r>
          </a:p>
          <a:p/>
          <a:p>
            <a:r>
              <a:t>2. STATUTORY CITATIONS &amp; WINNING CONCLUSION (14:00 - 15:00):</a:t>
            </a:r>
          </a:p>
          <a:p>
            <a:r>
              <a:t>"On the right, notice our exhaustive legal grounding: we comply with the RBI Digital Lending Guidelines (2022) mandating direct account transfers, Sections 65B and 10A of the Information Technology Act 2000 for digital electronic evidence admissibility, and WDRA electronic warehouse receipt regulations.</a:t>
            </a:r>
          </a:p>
          <a:p/>
          <a:p>
            <a:r>
              <a:t>To summarize: Problem Statement 92 demands loan utilization tracking via mobile. Loanzo delivers it by replacing cash with milestone tranches, securing capital with 5 collateral classes, and enforcing repayment with Section 4 Promissory Notes. We are Team CodeforBharat, and we are ready to build a financially sovereign, transparent Bharat. Thank you, and we welcome your questions!"</a:t>
            </a:r>
          </a:p>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00:00 - 02:30 | TARGET DURATION: 2.5 MINUTES]</a:t>
            </a:r>
          </a:p>
          <a:p>
            <a:r>
              <a:t>[SPEAKER CUES: CONFIDENT, VISIONARY, GROUNDED IN REALITY]</a:t>
            </a:r>
          </a:p>
          <a:p/>
          <a:p>
            <a:r>
              <a:t>1. OPENING SALUTATION &amp; INTRODUCTION (00:00 - 00:45):</a:t>
            </a:r>
          </a:p>
          <a:p>
            <a:r>
              <a:t>"Respected members of the jury, esteemed evaluators, and fellow innovators. We are Team CodeforBharat, and today we are proud to present our solution for Smart India Hackathon 2026, Problem Statement 92: 'Loan Utilization Tracking via Mobile'. We call our enterprise protocol LOANZO.</a:t>
            </a:r>
          </a:p>
          <a:p/>
          <a:p>
            <a:r>
              <a:t>Point to Center: 'LOANZO' represents a next-generation milestone-gated lending and multi-asset escrow protocol engineered specifically for the ground realities of Bharat."</a:t>
            </a:r>
          </a:p>
          <a:p/>
          <a:p>
            <a:r>
              <a:t>2. THE MACRO PROBLEM &amp; THE 48% DIVERSION CRISIS (00:45 - 01:45):</a:t>
            </a:r>
          </a:p>
          <a:p>
            <a:r>
              <a:t>"To appreciate why Problem Statement 92 is so vital, let us examine the economic reality of India's micro-enterprises. India has over 63 million MSMEs contributing almost 30% of our GDP and employing 110 million citizens. Yet, more than 85% of them are denied formal bank loans because they lack audited balance sheets, CIBIL credit scores, or prime real estate collateral.</a:t>
            </a:r>
          </a:p>
          <a:p/>
          <a:p>
            <a:r>
              <a:t>When these artisans, weavers, and shopkeepers need working capital, they borrow from informal moneylenders who charge predatory interest rates between 60% and 120% APR. But why do lenders charge such high rates? Because of the Post-Disbursement Blindspot.</a:t>
            </a:r>
          </a:p>
          <a:p/>
          <a:p>
            <a:r>
              <a:t>When a bank or moneylender hands over a lump-sum cash disbursement, they have zero control over where the money is spent. Studies by NABARD and microfinance researchers reveal that 48% of micro-business loans are diverted to non-productive uses—family weddings, daily consumption, or speculative wagers. Because the capital was not invested in raw materials or business machinery, the borrower's enterprise generates zero additional revenue. They default, and the vicious cycle of illegal recovery harassment begins."</a:t>
            </a:r>
          </a:p>
          <a:p/>
          <a:p>
            <a:r>
              <a:t>3. THE LOANZO CORE PHILOSOPHY &amp; BOTTOM BANNER METRICS (01:45 - 02:30):</a:t>
            </a:r>
          </a:p>
          <a:p>
            <a:r>
              <a:t>"Loanzo eliminates this crisis at its root with one simple rule:</a:t>
            </a:r>
          </a:p>
          <a:p>
            <a:r>
              <a:t>Zero cash in hand. Loan funds are disbursed in verified milestone tranches directly to supplier UPI VPAs, secured by a 5-class multi-asset collateral vault and statutory biometric promissory notes.</a:t>
            </a:r>
          </a:p>
          <a:p/>
          <a:p>
            <a:r>
              <a:t>Look at our bottom banner: This is not a concept or a prototype mock. Loanzo is fully implemented with 19 Room v12 entities, 17 DAOs, and complete statutory alignment with Section 4 of the Negotiable Instruments Act 1881 and RBI Circular RBI/2023-24/53.</a:t>
            </a:r>
          </a:p>
          <a:p/>
          <a:p>
            <a:r>
              <a:t>Hinglish Punchline: 'Loanzo ka sidha siddhant hai: Paisa borrower ke hath me cash nahi jayega, sidhe verified supplier ke UPI VPA par jayega—zero diversion, 100% productive utilization!'"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02:30 - 05:30 | TARGET DURATION: 3.0 MINUTES]</a:t>
            </a:r>
          </a:p>
          <a:p>
            <a:r>
              <a:t>[SPEAKER CUES: LIVE UI DEMO, STORYTELLING, TECHNICAL WORKFLOW]</a:t>
            </a:r>
          </a:p>
          <a:p/>
          <a:p>
            <a:r>
              <a:t>1. LIVE APP SCREENSHOT WALKTHROUGH (02:30 - 03:15):</a:t>
            </a:r>
          </a:p>
          <a:p>
            <a:r>
              <a:t>"Look at Slide 2 and focus your attention on the center phone screen. This is our live production Android dashboard. Notice the clean, intuitive interface designed for Bharat: a single glance reveals the user's active portfolio balance of ₹90,000, split transparently between ₹65,000 lent out and ₹25,000 borrowed, with verified community lending opportunities right below.</a:t>
            </a:r>
          </a:p>
          <a:p/>
          <a:p>
            <a:r>
              <a:t>Notice how clear and uncluttered this is. A semi-literate artisan in rural India can understand their exact financial health in 3 seconds."</a:t>
            </a:r>
          </a:p>
          <a:p/>
          <a:p>
            <a:r>
              <a:t>2. THE STORY OF RAMESH: TRANCHE GATING IN ACTION (03:15 - 04:30):</a:t>
            </a:r>
          </a:p>
          <a:p>
            <a:r>
              <a:t>"Let us walk through the exact journey of how Loanzo completely eliminates loan diversion through Milestone Tranche Gating.</a:t>
            </a:r>
          </a:p>
          <a:p/>
          <a:p>
            <a:r>
              <a:t>Imagine Ramesh, a master handloom weaver in Surat. Ramesh needs a ₹1,00,000 working capital loan to fulfill a festive bulk order. In a traditional bank or P2P app, ₹1,00,000 cash would be dumped into his bank account. </a:t>
            </a:r>
          </a:p>
          <a:p/>
          <a:p>
            <a:r>
              <a:t>In Loanzo, Ramesh never touches that cash. Instead, the loan is broken into structured Tranches tied to verifiable physical milestones:</a:t>
            </a:r>
          </a:p>
          <a:p/>
          <a:p>
            <a:r>
              <a:t>Stage 1 (Collateral Pledge): Ramesh pledges collateral into our 5-Class Multi-Asset Vault. He doesn't need gold bars; he can pledge his electronic warehouse receipts (e-NWR) for raw cotton, his powerloom machinery, or even livestock, evaluated by our dynamic haircut algorithms.</a:t>
            </a:r>
          </a:p>
          <a:p/>
          <a:p>
            <a:r>
              <a:t>Stage 2 (Syndicate Funding): On our marketplace, a syndicate of verified lenders funds his request. But the money is held in a secure on-device Escrow contract.</a:t>
            </a:r>
          </a:p>
          <a:p/>
          <a:p>
            <a:r>
              <a:t>Stage 3 (Tranche 1 Release): To unlock Tranche 1 (₹40,000), Ramesh selects his verified yarn supplier, Mahesh Yarns, by entering his UPI Virtual Payment Address (VPA). The ₹40,000 flows directly from the lending escrow into the supplier’s bank account via instant UPI. Ramesh receives the yarn, not cash.</a:t>
            </a:r>
          </a:p>
          <a:p/>
          <a:p>
            <a:r>
              <a:t>Stage 4 (Milestone Verification &amp; Tranche 2): Once the yarn arrives at the workshop, Ramesh uploads the delivery invoice and machine inspection photo. The app’s local verification rule unlocks Tranche 2 (₹35,000) directly to the loom technician's UPI ID for loom repair and shuttle replacement.</a:t>
            </a:r>
          </a:p>
          <a:p/>
          <a:p>
            <a:r>
              <a:t>Stage 5 (Repayment &amp; Collateral Release): With the order produced and sold, Ramesh repays the loan via dynamic UPI QR code. The moment the final rupee reconciles, our system automatically releases his pledged collateral and issues an immutable, tamper-evident Golden No-Objection Certificate (NOC)."</a:t>
            </a:r>
          </a:p>
          <a:p/>
          <a:p>
            <a:r>
              <a:t>3. ARCHITECTURE &amp; BOTTOM IMPACT (04:30 - 05:30):</a:t>
            </a:r>
          </a:p>
          <a:p>
            <a:r>
              <a:t>"On the right side of the slide, examine our System Architecture. We maintain strict separation of concerns: Jetpack Compose on top, isolated Domain Rule and Penalty Engines in the middle, an offline Room SQLite database beneath, and hardware Keystore encryption at the device boundary.</a:t>
            </a:r>
          </a:p>
          <a:p/>
          <a:p>
            <a:r>
              <a:t>Look at our bottom banner: 0% cash diversion, 75% maximum LTV safety, 100% legal court enforceability under Order 37 CPC, zero recovery harassment, and addressable to over 10,000 Bharat MSMEs."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8/22/2026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8/22/2026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8/22/2026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8/22/2026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8/22/2026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8/22/2026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8.png"/><Relationship Id="rId7"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22.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23" name="Picture 22">
            <a:extLst>
              <a:ext uri="{FF2B5EF4-FFF2-40B4-BE49-F238E27FC236}">
                <a16:creationId xmlns:a16="http://schemas.microsoft.com/office/drawing/2014/main" id="{551ED8F7-1151-F898-A214-7969576D3F6F}"/>
              </a:ext>
            </a:extLst>
          </p:cNvPr>
          <p:cNvPicPr>
            <a:picLocks noChangeAspect="1"/>
          </p:cNvPicPr>
          <p:nvPr/>
        </p:nvPicPr>
        <p:blipFill>
          <a:blip r:embed="rId2"/>
          <a:stretch>
            <a:fillRect/>
          </a:stretch>
        </p:blipFill>
        <p:spPr>
          <a:xfrm>
            <a:off x="3239" y="0"/>
            <a:ext cx="12185522" cy="6858000"/>
          </a:xfrm>
          <a:prstGeom prst="rect">
            <a:avLst/>
          </a:prstGeom>
        </p:spPr>
      </p:pic>
      <p:pic>
        <p:nvPicPr>
          <p:cNvPr id="25" name="Picture 24">
            <a:extLst>
              <a:ext uri="{FF2B5EF4-FFF2-40B4-BE49-F238E27FC236}">
                <a16:creationId xmlns:a16="http://schemas.microsoft.com/office/drawing/2014/main" id="{E70F2955-B8EA-E7BB-CC7B-2299D5E40461}"/>
              </a:ext>
            </a:extLst>
          </p:cNvPr>
          <p:cNvPicPr>
            <a:picLocks noChangeAspect="1"/>
          </p:cNvPicPr>
          <p:nvPr/>
        </p:nvPicPr>
        <p:blipFill>
          <a:blip r:embed="rId3"/>
          <a:stretch>
            <a:fillRect/>
          </a:stretch>
        </p:blipFill>
        <p:spPr>
          <a:xfrm>
            <a:off x="574691" y="958302"/>
            <a:ext cx="2989876" cy="996625"/>
          </a:xfrm>
          <a:prstGeom prst="rect">
            <a:avLst/>
          </a:prstGeom>
        </p:spPr>
      </p:pic>
      <p:pic>
        <p:nvPicPr>
          <p:cNvPr id="27" name="Picture 26">
            <a:extLst>
              <a:ext uri="{FF2B5EF4-FFF2-40B4-BE49-F238E27FC236}">
                <a16:creationId xmlns:a16="http://schemas.microsoft.com/office/drawing/2014/main" id="{338EFDAB-88F2-7597-B4E6-7FFD1521FCA9}"/>
              </a:ext>
            </a:extLst>
          </p:cNvPr>
          <p:cNvPicPr>
            <a:picLocks noChangeAspect="1"/>
          </p:cNvPicPr>
          <p:nvPr/>
        </p:nvPicPr>
        <p:blipFill>
          <a:blip r:embed="rId4"/>
          <a:stretch>
            <a:fillRect/>
          </a:stretch>
        </p:blipFill>
        <p:spPr>
          <a:xfrm>
            <a:off x="3477942" y="851521"/>
            <a:ext cx="2989876" cy="1035934"/>
          </a:xfrm>
          <a:prstGeom prst="rect">
            <a:avLst/>
          </a:prstGeom>
        </p:spPr>
      </p:pic>
      <p:pic>
        <p:nvPicPr>
          <p:cNvPr id="38" name="Picture 37" descr="image.png"/>
          <p:cNvPicPr>
            <a:picLocks noChangeAspect="1"/>
          </p:cNvPicPr>
          <p:nvPr/>
        </p:nvPicPr>
        <p:blipFill>
          <a:blip r:embed="rId5"/>
          <a:stretch>
            <a:fillRect/>
          </a:stretch>
        </p:blipFill>
        <p:spPr>
          <a:xfrm>
            <a:off x="576072" y="868680"/>
            <a:ext cx="1051560" cy="1051560"/>
          </a:xfrm>
          <a:prstGeom prst="rect">
            <a:avLst/>
          </a:prstGeom>
        </p:spPr>
      </p:pic>
      <p:sp>
        <p:nvSpPr>
          <p:cNvPr id="39" name="Rounded Rectangle 38"/>
          <p:cNvSpPr/>
          <p:nvPr/>
        </p:nvSpPr>
        <p:spPr>
          <a:xfrm>
            <a:off x="612648" y="6236208"/>
            <a:ext cx="10972800" cy="347472"/>
          </a:xfrm>
          <a:prstGeom prst="roundRect">
            <a:avLst/>
          </a:prstGeom>
          <a:solidFill>
            <a:srgbClr val="FFFFFF"/>
          </a:solidFill>
          <a:ln w="1524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F226B"/>
                </a:solidFill>
                <a:latin typeface="Arial"/>
              </a:defRPr>
            </a:pPr>
            <a:r>
              <a:t>PRODUCTION ARCHITECTURE:   19 Room v12 Entities  |  17 DAOs  |  5 Collateral Classes  |  Sec 4 NI Act 1881  |  RBI 2023-24/53 Compliant  |  Telegram SOS Defense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E811D5D-C4F0-A056-99B7-4165C7485DEB}"/>
              </a:ext>
            </a:extLst>
          </p:cNvPr>
          <p:cNvSpPr>
            <a:spLocks noGrp="1"/>
          </p:cNvSpPr>
          <p:nvPr>
            <p:ph type="ftr" sz="quarter" idx="11"/>
          </p:nvPr>
        </p:nvSpPr>
        <p:spPr/>
        <p:txBody>
          <a:bodyPr/>
          <a:lstStyle/>
          <a:p>
            <a:pPr>
              <a:defRPr/>
            </a:pPr>
            <a:r>
              <a:rPr lang="en-US" dirty="0">
                <a:solidFill>
                  <a:schemeClr val="bg1"/>
                </a:solidFill>
              </a:rPr>
              <a:t>@SIH Idea submission- Template</a:t>
            </a:r>
          </a:p>
        </p:txBody>
      </p:sp>
      <p:sp>
        <p:nvSpPr>
          <p:cNvPr id="5" name="Slide Number Placeholder 4">
            <a:extLst>
              <a:ext uri="{FF2B5EF4-FFF2-40B4-BE49-F238E27FC236}">
                <a16:creationId xmlns:a16="http://schemas.microsoft.com/office/drawing/2014/main" id="{54794012-7608-0B6F-AD36-FBA008F9404E}"/>
              </a:ext>
            </a:extLst>
          </p:cNvPr>
          <p:cNvSpPr>
            <a:spLocks noGrp="1"/>
          </p:cNvSpPr>
          <p:nvPr>
            <p:ph type="sldNum" sz="quarter" idx="12"/>
          </p:nvPr>
        </p:nvSpPr>
        <p:spPr/>
        <p:txBody>
          <a:bodyPr/>
          <a:lstStyle/>
          <a:p>
            <a:fld id="{677C3CE7-23F7-4828-823C-E0205DF2CF97}" type="slidenum">
              <a:rPr lang="en-US" smtClean="0">
                <a:solidFill>
                  <a:schemeClr val="bg1"/>
                </a:solidFill>
              </a:rPr>
              <a:pPr/>
              <a:t>2</a:t>
            </a:fld>
            <a:endParaRPr lang="en-US" dirty="0">
              <a:solidFill>
                <a:schemeClr val="bg1"/>
              </a:solidFill>
            </a:endParaRPr>
          </a:p>
        </p:txBody>
      </p:sp>
      <p:sp>
        <p:nvSpPr>
          <p:cNvPr id="13" name="Content Placeholder 12">
            <a:extLst>
              <a:ext uri="{FF2B5EF4-FFF2-40B4-BE49-F238E27FC236}">
                <a16:creationId xmlns:a16="http://schemas.microsoft.com/office/drawing/2014/main" id="{BDB67502-21DD-6257-B548-146B4D8A07D2}"/>
              </a:ext>
            </a:extLst>
          </p:cNvPr>
          <p:cNvSpPr>
            <a:spLocks noGrp="1"/>
          </p:cNvSpPr>
          <p:nvPr>
            <p:ph idx="1"/>
          </p:nvPr>
        </p:nvSpPr>
        <p:spPr/>
        <p:txBody>
          <a:bodyPr/>
          <a:lstStyle/>
          <a:p>
            <a:endParaRPr lang="en-IN" dirty="0"/>
          </a:p>
        </p:txBody>
      </p:sp>
      <p:pic>
        <p:nvPicPr>
          <p:cNvPr id="25" name="Picture 24">
            <a:extLst>
              <a:ext uri="{FF2B5EF4-FFF2-40B4-BE49-F238E27FC236}">
                <a16:creationId xmlns:a16="http://schemas.microsoft.com/office/drawing/2014/main" id="{2982E845-B2CD-5E51-579F-B63FDA84A3CE}"/>
              </a:ext>
            </a:extLst>
          </p:cNvPr>
          <p:cNvPicPr>
            <a:picLocks noChangeAspect="1"/>
          </p:cNvPicPr>
          <p:nvPr/>
        </p:nvPicPr>
        <p:blipFill>
          <a:blip r:embed="rId2"/>
          <a:stretch>
            <a:fillRect/>
          </a:stretch>
        </p:blipFill>
        <p:spPr>
          <a:xfrm>
            <a:off x="0" y="0"/>
            <a:ext cx="12185522" cy="6858000"/>
          </a:xfrm>
          <a:prstGeom prst="rect">
            <a:avLst/>
          </a:prstGeom>
        </p:spPr>
      </p:pic>
      <p:pic>
        <p:nvPicPr>
          <p:cNvPr id="23" name="Picture 22">
            <a:extLst>
              <a:ext uri="{FF2B5EF4-FFF2-40B4-BE49-F238E27FC236}">
                <a16:creationId xmlns:a16="http://schemas.microsoft.com/office/drawing/2014/main" id="{2297F361-F103-691A-C45D-B4EC7E2E453E}"/>
              </a:ext>
            </a:extLst>
          </p:cNvPr>
          <p:cNvPicPr>
            <a:picLocks noChangeAspect="1"/>
          </p:cNvPicPr>
          <p:nvPr/>
        </p:nvPicPr>
        <p:blipFill>
          <a:blip r:embed="rId3"/>
          <a:stretch>
            <a:fillRect/>
          </a:stretch>
        </p:blipFill>
        <p:spPr>
          <a:xfrm>
            <a:off x="9932363" y="52747"/>
            <a:ext cx="1983131" cy="812438"/>
          </a:xfrm>
          <a:prstGeom prst="rect">
            <a:avLst/>
          </a:prstGeom>
        </p:spPr>
      </p:pic>
      <p:pic>
        <p:nvPicPr>
          <p:cNvPr id="21" name="Picture 20">
            <a:extLst>
              <a:ext uri="{FF2B5EF4-FFF2-40B4-BE49-F238E27FC236}">
                <a16:creationId xmlns:a16="http://schemas.microsoft.com/office/drawing/2014/main" id="{FE8E3E42-D1D4-704D-DDFE-5C79A4A51D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9901" y="12447"/>
            <a:ext cx="1720607" cy="812438"/>
          </a:xfrm>
          <a:prstGeom prst="rect">
            <a:avLst/>
          </a:prstGeom>
        </p:spPr>
      </p:pic>
      <p:pic>
        <p:nvPicPr>
          <p:cNvPr id="29" name="Picture 28">
            <a:extLst>
              <a:ext uri="{FF2B5EF4-FFF2-40B4-BE49-F238E27FC236}">
                <a16:creationId xmlns:a16="http://schemas.microsoft.com/office/drawing/2014/main" id="{167C998E-628B-F50C-A070-3F591F95E48E}"/>
              </a:ext>
            </a:extLst>
          </p:cNvPr>
          <p:cNvPicPr>
            <a:picLocks noChangeAspect="1"/>
          </p:cNvPicPr>
          <p:nvPr/>
        </p:nvPicPr>
        <p:blipFill>
          <a:blip r:embed="rId5"/>
          <a:stretch>
            <a:fillRect/>
          </a:stretch>
        </p:blipFill>
        <p:spPr>
          <a:xfrm>
            <a:off x="6479" y="-9461"/>
            <a:ext cx="1509806" cy="993309"/>
          </a:xfrm>
          <a:prstGeom prst="rect">
            <a:avLst/>
          </a:prstGeom>
        </p:spPr>
      </p:pic>
      <p:sp>
        <p:nvSpPr>
          <p:cNvPr id="30" name="Rectangle 2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2648" y="1115568"/>
            <a:ext cx="10972800" cy="749808"/>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73152"/>
          <a:lstStyle/>
          <a:p>
            <a:pPr algn="ctr">
              <a:defRPr sz="950" b="1">
                <a:solidFill>
                  <a:srgbClr val="0F226B"/>
                </a:solidFill>
                <a:latin typeface="Arial"/>
              </a:defRPr>
            </a:pPr>
            <a:r>
              <a:t>PROBLEM STATEMENT 92: LOAN UTILIZATION TRACKING VIA MOBILE — THE LOANZO SOLUTION</a:t>
            </a:r>
          </a:p>
          <a:p>
            <a:pPr>
              <a:defRPr sz="900">
                <a:solidFill>
                  <a:srgbClr val="0F172A"/>
                </a:solidFill>
                <a:latin typeface="Calibri"/>
              </a:defRPr>
            </a:pPr>
            <a:r>
              <a:t>Loanzo eliminates the 48% loan diversion crisis in informal microfinance by replacing lump-sum cash with purpose-bound milestone tranches disbursed directly to verified supplier VPAs. Secured by a 5-class multi-asset collateral vault (Gold, Silver, IT, Agro, Cattle) and biometrically signed statutory promissory notes.</a:t>
            </a:r>
          </a:p>
        </p:txBody>
      </p:sp>
      <p:sp>
        <p:nvSpPr>
          <p:cNvPr id="32" name="Rounded Rectangle 31"/>
          <p:cNvSpPr/>
          <p:nvPr/>
        </p:nvSpPr>
        <p:spPr>
          <a:xfrm>
            <a:off x="612648" y="1938528"/>
            <a:ext cx="251460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1520" y="2011680"/>
            <a:ext cx="228600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KEY PROTOCOL FEATURES</a:t>
            </a:r>
          </a:p>
        </p:txBody>
      </p:sp>
      <p:sp>
        <p:nvSpPr>
          <p:cNvPr id="34" name="Oval 33"/>
          <p:cNvSpPr/>
          <p:nvPr/>
        </p:nvSpPr>
        <p:spPr>
          <a:xfrm>
            <a:off x="713232" y="2395728"/>
            <a:ext cx="164592" cy="164592"/>
          </a:xfrm>
          <a:prstGeom prst="ellipse">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 y="2359152"/>
            <a:ext cx="2148840" cy="502920"/>
          </a:xfrm>
          <a:prstGeom prst="rect">
            <a:avLst/>
          </a:prstGeom>
          <a:noFill/>
        </p:spPr>
        <p:txBody>
          <a:bodyPr wrap="square" lIns="0" tIns="0" rIns="0" bIns="0">
            <a:spAutoFit/>
          </a:bodyPr>
          <a:lstStyle/>
          <a:p>
            <a:pPr>
              <a:defRPr sz="850" b="1">
                <a:solidFill>
                  <a:srgbClr val="0284C7"/>
                </a:solidFill>
                <a:latin typeface="Arial"/>
              </a:defRPr>
            </a:pPr>
            <a:r>
              <a:t>Milestone Tranche Gating</a:t>
            </a:r>
          </a:p>
          <a:p>
            <a:pPr>
              <a:defRPr sz="750">
                <a:solidFill>
                  <a:srgbClr val="64748B"/>
                </a:solidFill>
                <a:latin typeface="Calibri"/>
              </a:defRPr>
            </a:pPr>
            <a:r>
              <a:t>Disburses staged funds directly to vendor VPAs (0% cash leakage).</a:t>
            </a:r>
          </a:p>
        </p:txBody>
      </p:sp>
      <p:sp>
        <p:nvSpPr>
          <p:cNvPr id="36" name="Oval 35"/>
          <p:cNvSpPr/>
          <p:nvPr/>
        </p:nvSpPr>
        <p:spPr>
          <a:xfrm>
            <a:off x="713232" y="2953512"/>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 y="2916936"/>
            <a:ext cx="2148840" cy="502920"/>
          </a:xfrm>
          <a:prstGeom prst="rect">
            <a:avLst/>
          </a:prstGeom>
          <a:noFill/>
        </p:spPr>
        <p:txBody>
          <a:bodyPr wrap="square" lIns="0" tIns="0" rIns="0" bIns="0">
            <a:spAutoFit/>
          </a:bodyPr>
          <a:lstStyle/>
          <a:p>
            <a:pPr>
              <a:defRPr sz="850" b="1">
                <a:solidFill>
                  <a:srgbClr val="0F766E"/>
                </a:solidFill>
                <a:latin typeface="Arial"/>
              </a:defRPr>
            </a:pPr>
            <a:r>
              <a:t>5-Class Collateral Vault</a:t>
            </a:r>
          </a:p>
          <a:p>
            <a:pPr>
              <a:defRPr sz="750">
                <a:solidFill>
                  <a:srgbClr val="64748B"/>
                </a:solidFill>
                <a:latin typeface="Calibri"/>
              </a:defRPr>
            </a:pPr>
            <a:r>
              <a:t>Dynamic LTV haircuts: Gold 75%, Silver 65%, IT 50%, WHR 60%, Cattle 40%.</a:t>
            </a:r>
          </a:p>
        </p:txBody>
      </p:sp>
      <p:sp>
        <p:nvSpPr>
          <p:cNvPr id="38" name="Oval 37"/>
          <p:cNvSpPr/>
          <p:nvPr/>
        </p:nvSpPr>
        <p:spPr>
          <a:xfrm>
            <a:off x="713232" y="3511296"/>
            <a:ext cx="164592" cy="164592"/>
          </a:xfrm>
          <a:prstGeom prst="ellipse">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32688" y="3474720"/>
            <a:ext cx="2148840" cy="502920"/>
          </a:xfrm>
          <a:prstGeom prst="rect">
            <a:avLst/>
          </a:prstGeom>
          <a:noFill/>
        </p:spPr>
        <p:txBody>
          <a:bodyPr wrap="square" lIns="0" tIns="0" rIns="0" bIns="0">
            <a:spAutoFit/>
          </a:bodyPr>
          <a:lstStyle/>
          <a:p>
            <a:pPr>
              <a:defRPr sz="850" b="1">
                <a:solidFill>
                  <a:srgbClr val="D97706"/>
                </a:solidFill>
                <a:latin typeface="Arial"/>
              </a:defRPr>
            </a:pPr>
            <a:r>
              <a:t>Statutory Promissory Note</a:t>
            </a:r>
          </a:p>
          <a:p>
            <a:pPr>
              <a:defRPr sz="750">
                <a:solidFill>
                  <a:srgbClr val="64748B"/>
                </a:solidFill>
                <a:latin typeface="Calibri"/>
              </a:defRPr>
            </a:pPr>
            <a:r>
              <a:t>Sec 4 NI Act 1881 biometrically signed for Order 37 CPC summary recovery.</a:t>
            </a:r>
          </a:p>
        </p:txBody>
      </p:sp>
      <p:sp>
        <p:nvSpPr>
          <p:cNvPr id="40" name="Oval 39"/>
          <p:cNvSpPr/>
          <p:nvPr/>
        </p:nvSpPr>
        <p:spPr>
          <a:xfrm>
            <a:off x="713232" y="4069080"/>
            <a:ext cx="164592" cy="164592"/>
          </a:xfrm>
          <a:prstGeom prst="ellipse">
            <a:avLst/>
          </a:prstGeom>
          <a:solidFill>
            <a:srgbClr val="DC2626"/>
          </a:solidFill>
          <a:ln>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 y="4032504"/>
            <a:ext cx="2148840" cy="502920"/>
          </a:xfrm>
          <a:prstGeom prst="rect">
            <a:avLst/>
          </a:prstGeom>
          <a:noFill/>
        </p:spPr>
        <p:txBody>
          <a:bodyPr wrap="square" lIns="0" tIns="0" rIns="0" bIns="0">
            <a:spAutoFit/>
          </a:bodyPr>
          <a:lstStyle/>
          <a:p>
            <a:pPr>
              <a:defRPr sz="850" b="1">
                <a:solidFill>
                  <a:srgbClr val="DC2626"/>
                </a:solidFill>
                <a:latin typeface="Arial"/>
              </a:defRPr>
            </a:pPr>
            <a:r>
              <a:t>Anti-Harassment SOS</a:t>
            </a:r>
          </a:p>
          <a:p>
            <a:pPr>
              <a:defRPr sz="750">
                <a:solidFill>
                  <a:srgbClr val="64748B"/>
                </a:solidFill>
                <a:latin typeface="Calibri"/>
              </a:defRPr>
            </a:pPr>
            <a:r>
              <a:t>Automated Telegram bot logs rogue agent visits; caps penalties per RBI rules.</a:t>
            </a:r>
          </a:p>
        </p:txBody>
      </p:sp>
      <p:sp>
        <p:nvSpPr>
          <p:cNvPr id="42" name="Oval 41"/>
          <p:cNvSpPr/>
          <p:nvPr/>
        </p:nvSpPr>
        <p:spPr>
          <a:xfrm>
            <a:off x="713232" y="4626864"/>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 y="4590288"/>
            <a:ext cx="2148840" cy="502920"/>
          </a:xfrm>
          <a:prstGeom prst="rect">
            <a:avLst/>
          </a:prstGeom>
          <a:noFill/>
        </p:spPr>
        <p:txBody>
          <a:bodyPr wrap="square" lIns="0" tIns="0" rIns="0" bIns="0">
            <a:spAutoFit/>
          </a:bodyPr>
          <a:lstStyle/>
          <a:p>
            <a:pPr>
              <a:defRPr sz="850" b="1">
                <a:solidFill>
                  <a:srgbClr val="0F226B"/>
                </a:solidFill>
                <a:latin typeface="Arial"/>
              </a:defRPr>
            </a:pPr>
            <a:r>
              <a:t>Dynamic UPI QR &amp; NOC</a:t>
            </a:r>
          </a:p>
          <a:p>
            <a:pPr>
              <a:defRPr sz="750">
                <a:solidFill>
                  <a:srgbClr val="64748B"/>
                </a:solidFill>
                <a:latin typeface="Calibri"/>
              </a:defRPr>
            </a:pPr>
            <a:r>
              <a:t>Instant penny-drop reconciliation with automated Golden NOC certificate.</a:t>
            </a:r>
          </a:p>
        </p:txBody>
      </p:sp>
      <p:sp>
        <p:nvSpPr>
          <p:cNvPr id="44" name="Oval 43"/>
          <p:cNvSpPr/>
          <p:nvPr/>
        </p:nvSpPr>
        <p:spPr>
          <a:xfrm>
            <a:off x="713232" y="518464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 y="5148072"/>
            <a:ext cx="2148840" cy="502920"/>
          </a:xfrm>
          <a:prstGeom prst="rect">
            <a:avLst/>
          </a:prstGeom>
          <a:noFill/>
        </p:spPr>
        <p:txBody>
          <a:bodyPr wrap="square" lIns="0" tIns="0" rIns="0" bIns="0">
            <a:spAutoFit/>
          </a:bodyPr>
          <a:lstStyle/>
          <a:p>
            <a:pPr>
              <a:defRPr sz="850" b="1">
                <a:solidFill>
                  <a:srgbClr val="0F766E"/>
                </a:solidFill>
                <a:latin typeface="Arial"/>
              </a:defRPr>
            </a:pPr>
            <a:r>
              <a:t>Offline-First Room Engine</a:t>
            </a:r>
          </a:p>
          <a:p>
            <a:pPr>
              <a:defRPr sz="750">
                <a:solidFill>
                  <a:srgbClr val="64748B"/>
                </a:solidFill>
                <a:latin typeface="Calibri"/>
              </a:defRPr>
            </a:pPr>
            <a:r>
              <a:t>100% on-device SQLite with background delta sync queue for rural 2G.</a:t>
            </a:r>
          </a:p>
        </p:txBody>
      </p:sp>
      <p:sp>
        <p:nvSpPr>
          <p:cNvPr id="46" name="Rounded Rectangle 45"/>
          <p:cNvSpPr/>
          <p:nvPr/>
        </p:nvSpPr>
        <p:spPr>
          <a:xfrm>
            <a:off x="3218688" y="1938528"/>
            <a:ext cx="512064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389120" y="2011680"/>
            <a:ext cx="2743200" cy="256032"/>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HOW IT WORKS (WORKFLOW &amp; DASHBOARD)</a:t>
            </a:r>
          </a:p>
        </p:txBody>
      </p:sp>
      <p:sp>
        <p:nvSpPr>
          <p:cNvPr id="48" name="Rounded Rectangle 47"/>
          <p:cNvSpPr/>
          <p:nvPr/>
        </p:nvSpPr>
        <p:spPr>
          <a:xfrm>
            <a:off x="3310128" y="2331720"/>
            <a:ext cx="932688"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0F226B"/>
                </a:solidFill>
                <a:latin typeface="Arial"/>
              </a:defRPr>
            </a:pPr>
            <a:r>
              <a:t>1. Pledge Asset</a:t>
            </a:r>
          </a:p>
        </p:txBody>
      </p:sp>
      <p:sp>
        <p:nvSpPr>
          <p:cNvPr id="49" name="Rounded Rectangle 48"/>
          <p:cNvSpPr/>
          <p:nvPr/>
        </p:nvSpPr>
        <p:spPr>
          <a:xfrm>
            <a:off x="4297680" y="2331720"/>
            <a:ext cx="932688"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0F226B"/>
                </a:solidFill>
                <a:latin typeface="Arial"/>
              </a:defRPr>
            </a:pPr>
            <a:r>
              <a:t>2. Syndicate Bids</a:t>
            </a:r>
          </a:p>
        </p:txBody>
      </p:sp>
      <p:sp>
        <p:nvSpPr>
          <p:cNvPr id="50" name="Rounded Rectangle 49"/>
          <p:cNvSpPr/>
          <p:nvPr/>
        </p:nvSpPr>
        <p:spPr>
          <a:xfrm>
            <a:off x="5285232" y="2331720"/>
            <a:ext cx="932688"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0F226B"/>
                </a:solidFill>
                <a:latin typeface="Arial"/>
              </a:defRPr>
            </a:pPr>
            <a:r>
              <a:t>3. Milestone Gate</a:t>
            </a:r>
          </a:p>
        </p:txBody>
      </p:sp>
      <p:sp>
        <p:nvSpPr>
          <p:cNvPr id="51" name="Rounded Rectangle 50"/>
          <p:cNvSpPr/>
          <p:nvPr/>
        </p:nvSpPr>
        <p:spPr>
          <a:xfrm>
            <a:off x="6272784" y="2331720"/>
            <a:ext cx="932688"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0F226B"/>
                </a:solidFill>
                <a:latin typeface="Arial"/>
              </a:defRPr>
            </a:pPr>
            <a:r>
              <a:t>4. Supplier Pay</a:t>
            </a:r>
          </a:p>
        </p:txBody>
      </p:sp>
      <p:sp>
        <p:nvSpPr>
          <p:cNvPr id="52" name="Rounded Rectangle 51"/>
          <p:cNvSpPr/>
          <p:nvPr/>
        </p:nvSpPr>
        <p:spPr>
          <a:xfrm>
            <a:off x="7260336" y="2331720"/>
            <a:ext cx="932688" cy="219456"/>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700" b="1">
                <a:solidFill>
                  <a:srgbClr val="0F226B"/>
                </a:solidFill>
                <a:latin typeface="Arial"/>
              </a:defRPr>
            </a:pPr>
            <a:r>
              <a:t>5. UPI Repay</a:t>
            </a:r>
          </a:p>
        </p:txBody>
      </p:sp>
      <p:sp>
        <p:nvSpPr>
          <p:cNvPr id="53" name="Rounded Rectangle 52"/>
          <p:cNvSpPr/>
          <p:nvPr/>
        </p:nvSpPr>
        <p:spPr>
          <a:xfrm>
            <a:off x="3310128" y="2633472"/>
            <a:ext cx="1463040" cy="2999232"/>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29184"/>
          <a:lstStyle/>
          <a:p>
            <a:pPr algn="ctr"/>
          </a:p>
          <a:p>
            <a:pPr>
              <a:defRPr sz="750">
                <a:solidFill>
                  <a:srgbClr val="0F172A"/>
                </a:solidFill>
                <a:latin typeface="Calibri"/>
              </a:defRPr>
            </a:pPr>
            <a:r>
              <a:t>• Pledges collateral (Gold, Crops, Cattle)</a:t>
            </a:r>
          </a:p>
          <a:p>
            <a:pPr>
              <a:defRPr sz="750">
                <a:solidFill>
                  <a:srgbClr val="0F172A"/>
                </a:solidFill>
                <a:latin typeface="Calibri"/>
              </a:defRPr>
            </a:pPr>
            <a:r>
              <a:t>• Selects verified vendor UPI VPA</a:t>
            </a:r>
          </a:p>
          <a:p>
            <a:pPr>
              <a:defRPr sz="750">
                <a:solidFill>
                  <a:srgbClr val="0F172A"/>
                </a:solidFill>
                <a:latin typeface="Calibri"/>
              </a:defRPr>
            </a:pPr>
            <a:r>
              <a:t>• Unlocks milestone tranches via invoice</a:t>
            </a:r>
          </a:p>
          <a:p>
            <a:pPr>
              <a:defRPr sz="750">
                <a:solidFill>
                  <a:srgbClr val="0F172A"/>
                </a:solidFill>
                <a:latin typeface="Calibri"/>
              </a:defRPr>
            </a:pPr>
            <a:r>
              <a:t>• Repays via dynamic UPI QR</a:t>
            </a:r>
          </a:p>
          <a:p>
            <a:pPr>
              <a:defRPr sz="750">
                <a:solidFill>
                  <a:srgbClr val="0F172A"/>
                </a:solidFill>
                <a:latin typeface="Calibri"/>
              </a:defRPr>
            </a:pPr>
            <a:r>
              <a:t>• Receives tamper-evident Golden NOC</a:t>
            </a:r>
          </a:p>
        </p:txBody>
      </p:sp>
      <p:sp>
        <p:nvSpPr>
          <p:cNvPr id="54" name="Rounded Rectangle 53"/>
          <p:cNvSpPr/>
          <p:nvPr/>
        </p:nvSpPr>
        <p:spPr>
          <a:xfrm>
            <a:off x="3401568" y="2706624"/>
            <a:ext cx="1280160" cy="219456"/>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BENEFICIARY</a:t>
            </a:r>
          </a:p>
        </p:txBody>
      </p:sp>
      <p:sp>
        <p:nvSpPr>
          <p:cNvPr id="55" name="Rounded Rectangle 54"/>
          <p:cNvSpPr/>
          <p:nvPr/>
        </p:nvSpPr>
        <p:spPr>
          <a:xfrm>
            <a:off x="4864608" y="2633472"/>
            <a:ext cx="1783080" cy="2999232"/>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image.png"/>
          <p:cNvPicPr>
            <a:picLocks noChangeAspect="1"/>
          </p:cNvPicPr>
          <p:nvPr/>
        </p:nvPicPr>
        <p:blipFill>
          <a:blip r:embed="rId6"/>
          <a:stretch>
            <a:fillRect/>
          </a:stretch>
        </p:blipFill>
        <p:spPr>
          <a:xfrm>
            <a:off x="4910328" y="2688336"/>
            <a:ext cx="1691640" cy="2889504"/>
          </a:xfrm>
          <a:prstGeom prst="rect">
            <a:avLst/>
          </a:prstGeom>
        </p:spPr>
      </p:pic>
      <p:sp>
        <p:nvSpPr>
          <p:cNvPr id="57" name="Rounded Rectangle 56"/>
          <p:cNvSpPr/>
          <p:nvPr/>
        </p:nvSpPr>
        <p:spPr>
          <a:xfrm>
            <a:off x="4956048" y="5413248"/>
            <a:ext cx="1600200" cy="18288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DASHBOARD SCREEN</a:t>
            </a:r>
          </a:p>
        </p:txBody>
      </p:sp>
      <p:sp>
        <p:nvSpPr>
          <p:cNvPr id="58" name="Rounded Rectangle 57"/>
          <p:cNvSpPr/>
          <p:nvPr/>
        </p:nvSpPr>
        <p:spPr>
          <a:xfrm>
            <a:off x="6739128" y="2633472"/>
            <a:ext cx="1508760" cy="2999232"/>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tIns="329184"/>
          <a:lstStyle/>
          <a:p>
            <a:pPr algn="ctr"/>
          </a:p>
          <a:p>
            <a:pPr>
              <a:defRPr sz="750">
                <a:solidFill>
                  <a:srgbClr val="0F172A"/>
                </a:solidFill>
                <a:latin typeface="Calibri"/>
              </a:defRPr>
            </a:pPr>
            <a:r>
              <a:t>• Reviews geofenced agent valuation</a:t>
            </a:r>
          </a:p>
          <a:p>
            <a:pPr>
              <a:defRPr sz="750">
                <a:solidFill>
                  <a:srgbClr val="0F172A"/>
                </a:solidFill>
                <a:latin typeface="Calibri"/>
              </a:defRPr>
            </a:pPr>
            <a:r>
              <a:t>• Submits syndicated fractional bids</a:t>
            </a:r>
          </a:p>
          <a:p>
            <a:pPr>
              <a:defRPr sz="750">
                <a:solidFill>
                  <a:srgbClr val="0F172A"/>
                </a:solidFill>
                <a:latin typeface="Calibri"/>
              </a:defRPr>
            </a:pPr>
            <a:r>
              <a:t>• Tracks purpose-bound milestone usage</a:t>
            </a:r>
          </a:p>
          <a:p>
            <a:pPr>
              <a:defRPr sz="750">
                <a:solidFill>
                  <a:srgbClr val="0F172A"/>
                </a:solidFill>
                <a:latin typeface="Calibri"/>
              </a:defRPr>
            </a:pPr>
            <a:r>
              <a:t>• Real-time delinquency monitoring</a:t>
            </a:r>
          </a:p>
          <a:p>
            <a:pPr>
              <a:defRPr sz="750">
                <a:solidFill>
                  <a:srgbClr val="0F172A"/>
                </a:solidFill>
                <a:latin typeface="Calibri"/>
              </a:defRPr>
            </a:pPr>
            <a:r>
              <a:t>• Automated Order 37 summary packet</a:t>
            </a:r>
          </a:p>
        </p:txBody>
      </p:sp>
      <p:sp>
        <p:nvSpPr>
          <p:cNvPr id="59" name="Rounded Rectangle 58"/>
          <p:cNvSpPr/>
          <p:nvPr/>
        </p:nvSpPr>
        <p:spPr>
          <a:xfrm>
            <a:off x="6830568" y="2706624"/>
            <a:ext cx="1325880" cy="219456"/>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LENDING AGENCY</a:t>
            </a:r>
          </a:p>
        </p:txBody>
      </p:sp>
      <p:sp>
        <p:nvSpPr>
          <p:cNvPr id="60" name="Rounded Rectangle 59"/>
          <p:cNvSpPr/>
          <p:nvPr/>
        </p:nvSpPr>
        <p:spPr>
          <a:xfrm>
            <a:off x="8430768" y="1938528"/>
            <a:ext cx="3154680" cy="3794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732520" y="2011680"/>
            <a:ext cx="2560320" cy="256032"/>
          </a:xfrm>
          <a:prstGeom prst="roundRect">
            <a:avLst/>
          </a:prstGeom>
          <a:solidFill>
            <a:srgbClr val="581C87"/>
          </a:solidFill>
          <a:ln>
            <a:solidFill>
              <a:srgbClr val="581C87"/>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SYSTEM ARCHITECTURE</a:t>
            </a:r>
          </a:p>
        </p:txBody>
      </p:sp>
      <p:sp>
        <p:nvSpPr>
          <p:cNvPr id="62" name="Rounded Rectangle 61"/>
          <p:cNvSpPr/>
          <p:nvPr/>
        </p:nvSpPr>
        <p:spPr>
          <a:xfrm>
            <a:off x="8549640" y="2377440"/>
            <a:ext cx="2907792" cy="740664"/>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0F226B"/>
                </a:solidFill>
                <a:latin typeface="Arial"/>
              </a:defRPr>
            </a:pPr>
            <a:r>
              <a:t>Mobile App (Android Native)</a:t>
            </a:r>
          </a:p>
          <a:p>
            <a:pPr>
              <a:defRPr sz="750">
                <a:solidFill>
                  <a:srgbClr val="0F172A"/>
                </a:solidFill>
                <a:latin typeface="Calibri"/>
              </a:defRPr>
            </a:pPr>
            <a:r>
              <a:t>Jetpack Compose, Material3, Coroutines &amp; StateFlow.</a:t>
            </a:r>
          </a:p>
        </p:txBody>
      </p:sp>
      <p:sp>
        <p:nvSpPr>
          <p:cNvPr id="63" name="Rounded Rectangle 62"/>
          <p:cNvSpPr/>
          <p:nvPr/>
        </p:nvSpPr>
        <p:spPr>
          <a:xfrm>
            <a:off x="8549640" y="3191256"/>
            <a:ext cx="2907792" cy="740664"/>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0F766E"/>
                </a:solidFill>
                <a:latin typeface="Arial"/>
              </a:defRPr>
            </a:pPr>
            <a:r>
              <a:t>Domain Rules &amp; Penalty Engines</a:t>
            </a:r>
          </a:p>
          <a:p>
            <a:pPr>
              <a:defRPr sz="750">
                <a:solidFill>
                  <a:srgbClr val="0F172A"/>
                </a:solidFill>
                <a:latin typeface="Calibri"/>
              </a:defRPr>
            </a:pPr>
            <a:r>
              <a:t>RuleEngine.kt (LTV haircuts) &amp; PenaltyEngine.kt (RBI cap).</a:t>
            </a:r>
          </a:p>
        </p:txBody>
      </p:sp>
      <p:sp>
        <p:nvSpPr>
          <p:cNvPr id="64" name="Rounded Rectangle 63"/>
          <p:cNvSpPr/>
          <p:nvPr/>
        </p:nvSpPr>
        <p:spPr>
          <a:xfrm>
            <a:off x="8549640" y="4005072"/>
            <a:ext cx="2907792" cy="740664"/>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581C87"/>
                </a:solidFill>
                <a:latin typeface="Arial"/>
              </a:defRPr>
            </a:pPr>
            <a:r>
              <a:t>Room Database v12 (Offline)</a:t>
            </a:r>
          </a:p>
          <a:p>
            <a:pPr>
              <a:defRPr sz="750">
                <a:solidFill>
                  <a:srgbClr val="0F172A"/>
                </a:solidFill>
                <a:latin typeface="Calibri"/>
              </a:defRPr>
            </a:pPr>
            <a:r>
              <a:t>19 normalized SQLite entities, 17 DAOs &amp; SyncQueue.</a:t>
            </a:r>
          </a:p>
        </p:txBody>
      </p:sp>
      <p:sp>
        <p:nvSpPr>
          <p:cNvPr id="65" name="Rounded Rectangle 64"/>
          <p:cNvSpPr/>
          <p:nvPr/>
        </p:nvSpPr>
        <p:spPr>
          <a:xfrm>
            <a:off x="8549640" y="4818888"/>
            <a:ext cx="2907792" cy="740664"/>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defRPr sz="850" b="1">
                <a:solidFill>
                  <a:srgbClr val="991B1B"/>
                </a:solidFill>
                <a:latin typeface="Arial"/>
              </a:defRPr>
            </a:pPr>
            <a:r>
              <a:t>Hardware Security &amp; Webhooks</a:t>
            </a:r>
          </a:p>
          <a:p>
            <a:pPr>
              <a:defRPr sz="750">
                <a:solidFill>
                  <a:srgbClr val="0F172A"/>
                </a:solidFill>
                <a:latin typeface="Calibri"/>
              </a:defRPr>
            </a:pPr>
            <a:r>
              <a:t>StrongBox Keystore, BiometricPrompt &amp; Telegram SOS.</a:t>
            </a:r>
          </a:p>
        </p:txBody>
      </p:sp>
      <p:sp>
        <p:nvSpPr>
          <p:cNvPr id="66" name="Rounded Rectangle 65"/>
          <p:cNvSpPr/>
          <p:nvPr/>
        </p:nvSpPr>
        <p:spPr>
          <a:xfrm>
            <a:off x="612648" y="5833872"/>
            <a:ext cx="10972800" cy="502920"/>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FFFFFF"/>
                </a:solidFill>
                <a:latin typeface="Arial"/>
              </a:defRPr>
            </a:pPr>
            <a:r>
              <a:t>IMPACT:   0% Cash Diversion  |  75% Max LTV Security  |  100% Court Enforceability (Order 37 CPC)  |  Zero Recovery Harassment  |  10,000+ Bharat MSMEs</a:t>
            </a:r>
          </a:p>
        </p:txBody>
      </p:sp>
    </p:spTree>
    <p:extLst>
      <p:ext uri="{BB962C8B-B14F-4D97-AF65-F5344CB8AC3E}">
        <p14:creationId xmlns:p14="http://schemas.microsoft.com/office/powerpoint/2010/main" val="403960113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sp>
        <p:nvSpPr>
          <p:cNvPr id="4" name="Title 3">
            <a:extLst>
              <a:ext uri="{FF2B5EF4-FFF2-40B4-BE49-F238E27FC236}">
                <a16:creationId xmlns:a16="http://schemas.microsoft.com/office/drawing/2014/main" id="{8483D3BA-FB3C-3D59-7A2F-FCC5346EB485}"/>
              </a:ext>
            </a:extLst>
          </p:cNvPr>
          <p:cNvSpPr>
            <a:spLocks noGrp="1"/>
          </p:cNvSpPr>
          <p:nvPr>
            <p:ph type="title"/>
          </p:nvPr>
        </p:nvSpPr>
        <p:spPr>
          <a:xfrm>
            <a:off x="763800" y="1533606"/>
            <a:ext cx="10972800" cy="1143000"/>
          </a:xfrm>
        </p:spPr>
        <p:txBody>
          <a:bodyPr/>
          <a:lstStyle/>
          <a:p>
            <a:endParaRPr lang="en-IN"/>
          </a:p>
        </p:txBody>
      </p:sp>
      <p:pic>
        <p:nvPicPr>
          <p:cNvPr id="8" name="Picture 7">
            <a:extLst>
              <a:ext uri="{FF2B5EF4-FFF2-40B4-BE49-F238E27FC236}">
                <a16:creationId xmlns:a16="http://schemas.microsoft.com/office/drawing/2014/main" id="{593F99D2-C8D0-8D87-258E-37DD2860F360}"/>
              </a:ext>
            </a:extLst>
          </p:cNvPr>
          <p:cNvPicPr>
            <a:picLocks noChangeAspect="1"/>
          </p:cNvPicPr>
          <p:nvPr/>
        </p:nvPicPr>
        <p:blipFill>
          <a:blip r:embed="rId3"/>
          <a:stretch>
            <a:fillRect/>
          </a:stretch>
        </p:blipFill>
        <p:spPr>
          <a:xfrm>
            <a:off x="0" y="-1"/>
            <a:ext cx="12191998" cy="6858000"/>
          </a:xfrm>
          <a:prstGeom prst="rect">
            <a:avLst/>
          </a:prstGeom>
        </p:spPr>
      </p:pic>
      <p:pic>
        <p:nvPicPr>
          <p:cNvPr id="13" name="Picture 12">
            <a:extLst>
              <a:ext uri="{FF2B5EF4-FFF2-40B4-BE49-F238E27FC236}">
                <a16:creationId xmlns:a16="http://schemas.microsoft.com/office/drawing/2014/main" id="{FEB88154-1A41-C682-21C2-FEE683F34113}"/>
              </a:ext>
            </a:extLst>
          </p:cNvPr>
          <p:cNvPicPr>
            <a:picLocks noChangeAspect="1"/>
          </p:cNvPicPr>
          <p:nvPr/>
        </p:nvPicPr>
        <p:blipFill>
          <a:blip r:embed="rId4"/>
          <a:stretch>
            <a:fillRect/>
          </a:stretch>
        </p:blipFill>
        <p:spPr>
          <a:xfrm>
            <a:off x="2" y="1"/>
            <a:ext cx="1458407" cy="906547"/>
          </a:xfrm>
          <a:prstGeom prst="rect">
            <a:avLst/>
          </a:prstGeom>
        </p:spPr>
      </p:pic>
      <p:sp>
        <p:nvSpPr>
          <p:cNvPr id="14" name="Rectangle 13"/>
          <p:cNvSpPr/>
          <p:nvPr/>
        </p:nvSpPr>
        <p:spPr>
          <a:xfrm>
            <a:off x="0" y="877824"/>
            <a:ext cx="12191695" cy="598017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2648" y="1097280"/>
            <a:ext cx="292608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50" b="1">
                <a:solidFill>
                  <a:srgbClr val="FFFFFF"/>
                </a:solidFill>
                <a:latin typeface="Arial"/>
              </a:defRPr>
            </a:pPr>
            <a:r>
              <a:t>1. TECHNOLOGIES TO BE USED</a:t>
            </a:r>
          </a:p>
        </p:txBody>
      </p:sp>
      <p:sp>
        <p:nvSpPr>
          <p:cNvPr id="16" name="Rounded Rectangle 15"/>
          <p:cNvSpPr/>
          <p:nvPr/>
        </p:nvSpPr>
        <p:spPr>
          <a:xfrm>
            <a:off x="612648" y="1426464"/>
            <a:ext cx="4069080" cy="969264"/>
          </a:xfrm>
          <a:prstGeom prst="roundRect">
            <a:avLst/>
          </a:prstGeom>
          <a:solidFill>
            <a:srgbClr val="F0F9FF"/>
          </a:solidFill>
          <a:ln w="1270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defRPr sz="850" b="1">
                <a:solidFill>
                  <a:srgbClr val="0F226B"/>
                </a:solidFill>
                <a:latin typeface="Arial"/>
              </a:defRPr>
            </a:pPr>
            <a:r>
              <a:t>FRONTEND (MOBILE APP)</a:t>
            </a:r>
          </a:p>
          <a:p>
            <a:pPr algn="l">
              <a:defRPr sz="750">
                <a:solidFill>
                  <a:srgbClr val="0F172A"/>
                </a:solidFill>
                <a:latin typeface="Calibri"/>
              </a:defRPr>
            </a:pPr>
            <a:r>
              <a:t>• Modern Android with Kotlin 1.9+</a:t>
            </a:r>
          </a:p>
          <a:p>
            <a:pPr algn="l">
              <a:defRPr sz="750">
                <a:solidFill>
                  <a:srgbClr val="0F172A"/>
                </a:solidFill>
                <a:latin typeface="Calibri"/>
              </a:defRPr>
            </a:pPr>
            <a:r>
              <a:t>• Jetpack Compose (Material3 Design System)</a:t>
            </a:r>
          </a:p>
          <a:p>
            <a:pPr algn="l">
              <a:defRPr sz="750">
                <a:solidFill>
                  <a:srgbClr val="0F172A"/>
                </a:solidFill>
                <a:latin typeface="Calibri"/>
              </a:defRPr>
            </a:pPr>
            <a:r>
              <a:t>• Kotlin Coroutines &amp; StateFlow (UDF)</a:t>
            </a:r>
          </a:p>
          <a:p>
            <a:pPr algn="l">
              <a:defRPr sz="750">
                <a:solidFill>
                  <a:srgbClr val="0F172A"/>
                </a:solidFill>
                <a:latin typeface="Calibri"/>
              </a:defRPr>
            </a:pPr>
            <a:r>
              <a:t>• Navigation Component &amp; Clean Architecture</a:t>
            </a:r>
          </a:p>
        </p:txBody>
      </p:sp>
      <p:sp>
        <p:nvSpPr>
          <p:cNvPr id="17" name="Rounded Rectangle 16"/>
          <p:cNvSpPr/>
          <p:nvPr/>
        </p:nvSpPr>
        <p:spPr>
          <a:xfrm>
            <a:off x="4818888" y="1426464"/>
            <a:ext cx="4069080" cy="969264"/>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defRPr sz="850" b="1">
                <a:solidFill>
                  <a:srgbClr val="581C87"/>
                </a:solidFill>
                <a:latin typeface="Arial"/>
              </a:defRPr>
            </a:pPr>
            <a:r>
              <a:t>DATABASE &amp; PERSISTENCE</a:t>
            </a:r>
          </a:p>
          <a:p>
            <a:pPr algn="l">
              <a:defRPr sz="750">
                <a:solidFill>
                  <a:srgbClr val="0F172A"/>
                </a:solidFill>
                <a:latin typeface="Calibri"/>
              </a:defRPr>
            </a:pPr>
            <a:r>
              <a:t>• Offline-First Room Database v12</a:t>
            </a:r>
          </a:p>
          <a:p>
            <a:pPr algn="l">
              <a:defRPr sz="750">
                <a:solidFill>
                  <a:srgbClr val="0F172A"/>
                </a:solidFill>
                <a:latin typeface="Calibri"/>
              </a:defRPr>
            </a:pPr>
            <a:r>
              <a:t>• 19 Normalized SQLite Entities &amp; 17 DAOs</a:t>
            </a:r>
          </a:p>
          <a:p>
            <a:pPr algn="l">
              <a:defRPr sz="750">
                <a:solidFill>
                  <a:srgbClr val="0F172A"/>
                </a:solidFill>
                <a:latin typeface="Calibri"/>
              </a:defRPr>
            </a:pPr>
            <a:r>
              <a:t>• Full SQLite Transaction Isolation</a:t>
            </a:r>
          </a:p>
          <a:p>
            <a:pPr algn="l">
              <a:defRPr sz="750">
                <a:solidFill>
                  <a:srgbClr val="0F172A"/>
                </a:solidFill>
                <a:latin typeface="Calibri"/>
              </a:defRPr>
            </a:pPr>
            <a:r>
              <a:t>• SyncQueueEntity for delta sync on reconnect</a:t>
            </a:r>
          </a:p>
        </p:txBody>
      </p:sp>
      <p:sp>
        <p:nvSpPr>
          <p:cNvPr id="18" name="Rounded Rectangle 17"/>
          <p:cNvSpPr/>
          <p:nvPr/>
        </p:nvSpPr>
        <p:spPr>
          <a:xfrm>
            <a:off x="612648" y="2468880"/>
            <a:ext cx="4069080" cy="969264"/>
          </a:xfrm>
          <a:prstGeom prst="roundRect">
            <a:avLst/>
          </a:prstGeom>
          <a:solidFill>
            <a:srgbClr val="FEF2F2"/>
          </a:solidFill>
          <a:ln w="1270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defRPr sz="850" b="1">
                <a:solidFill>
                  <a:srgbClr val="991B1B"/>
                </a:solidFill>
                <a:latin typeface="Arial"/>
              </a:defRPr>
            </a:pPr>
            <a:r>
              <a:t>SECURITY &amp; CRYPTOGRAPHY</a:t>
            </a:r>
          </a:p>
          <a:p>
            <a:pPr algn="l">
              <a:defRPr sz="750">
                <a:solidFill>
                  <a:srgbClr val="0F172A"/>
                </a:solidFill>
                <a:latin typeface="Calibri"/>
              </a:defRPr>
            </a:pPr>
            <a:r>
              <a:t>• Android Keystore StrongBox Hardware Security</a:t>
            </a:r>
          </a:p>
          <a:p>
            <a:pPr algn="l">
              <a:defRPr sz="750">
                <a:solidFill>
                  <a:srgbClr val="0F172A"/>
                </a:solidFill>
                <a:latin typeface="Calibri"/>
              </a:defRPr>
            </a:pPr>
            <a:r>
              <a:t>• AndroidX BiometricPrompt (Fingerprint/Face)</a:t>
            </a:r>
          </a:p>
          <a:p>
            <a:pPr algn="l">
              <a:defRPr sz="750">
                <a:solidFill>
                  <a:srgbClr val="0F172A"/>
                </a:solidFill>
                <a:latin typeface="Calibri"/>
              </a:defRPr>
            </a:pPr>
            <a:r>
              <a:t>• SHA-256 Digital Document Hash Stamp</a:t>
            </a:r>
          </a:p>
          <a:p>
            <a:pPr algn="l">
              <a:defRPr sz="750">
                <a:solidFill>
                  <a:srgbClr val="0F172A"/>
                </a:solidFill>
                <a:latin typeface="Calibri"/>
              </a:defRPr>
            </a:pPr>
            <a:r>
              <a:t>• Role-Based Access Control (4 User Personas)</a:t>
            </a:r>
          </a:p>
        </p:txBody>
      </p:sp>
      <p:sp>
        <p:nvSpPr>
          <p:cNvPr id="19" name="Rounded Rectangle 18"/>
          <p:cNvSpPr/>
          <p:nvPr/>
        </p:nvSpPr>
        <p:spPr>
          <a:xfrm>
            <a:off x="4818888" y="2468880"/>
            <a:ext cx="4069080" cy="969264"/>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l">
              <a:defRPr sz="850" b="1">
                <a:solidFill>
                  <a:srgbClr val="0F766E"/>
                </a:solidFill>
                <a:latin typeface="Arial"/>
              </a:defRPr>
            </a:pPr>
            <a:r>
              <a:t>DOMAIN ENGINES &amp; RULES</a:t>
            </a:r>
          </a:p>
          <a:p>
            <a:pPr algn="l">
              <a:defRPr sz="750">
                <a:solidFill>
                  <a:srgbClr val="0F172A"/>
                </a:solidFill>
                <a:latin typeface="Calibri"/>
              </a:defRPr>
            </a:pPr>
            <a:r>
              <a:t>• RuleEngine.kt (Dynamic 5-class LTV haircuts)</a:t>
            </a:r>
          </a:p>
          <a:p>
            <a:pPr algn="l">
              <a:defRPr sz="750">
                <a:solidFill>
                  <a:srgbClr val="0F172A"/>
                </a:solidFill>
                <a:latin typeface="Calibri"/>
              </a:defRPr>
            </a:pPr>
            <a:r>
              <a:t>• PenaltyEngine.kt (RBI non-compounding cap)</a:t>
            </a:r>
          </a:p>
          <a:p>
            <a:pPr algn="l">
              <a:defRPr sz="750">
                <a:solidFill>
                  <a:srgbClr val="0F172A"/>
                </a:solidFill>
                <a:latin typeface="Calibri"/>
              </a:defRPr>
            </a:pPr>
            <a:r>
              <a:t>• AgreementGenerator.kt (Sec 4 NI Act note)</a:t>
            </a:r>
          </a:p>
          <a:p>
            <a:pPr algn="l">
              <a:defRPr sz="750">
                <a:solidFill>
                  <a:srgbClr val="0F172A"/>
                </a:solidFill>
                <a:latin typeface="Calibri"/>
              </a:defRPr>
            </a:pPr>
            <a:r>
              <a:t>• UpiHelper.kt &amp; TelegramManager.kt Webhook</a:t>
            </a:r>
          </a:p>
        </p:txBody>
      </p:sp>
      <p:sp>
        <p:nvSpPr>
          <p:cNvPr id="20" name="Rounded Rectangle 19"/>
          <p:cNvSpPr/>
          <p:nvPr/>
        </p:nvSpPr>
        <p:spPr>
          <a:xfrm>
            <a:off x="9189720" y="1097280"/>
            <a:ext cx="2395728" cy="388620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5"/>
          <a:stretch>
            <a:fillRect/>
          </a:stretch>
        </p:blipFill>
        <p:spPr>
          <a:xfrm>
            <a:off x="9235440" y="1152144"/>
            <a:ext cx="2304288" cy="3776472"/>
          </a:xfrm>
          <a:prstGeom prst="rect">
            <a:avLst/>
          </a:prstGeom>
        </p:spPr>
      </p:pic>
      <p:sp>
        <p:nvSpPr>
          <p:cNvPr id="22" name="Rounded Rectangle 21"/>
          <p:cNvSpPr/>
          <p:nvPr/>
        </p:nvSpPr>
        <p:spPr>
          <a:xfrm>
            <a:off x="9281160" y="4764024"/>
            <a:ext cx="2212848" cy="18288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AUTH &amp; BIOMETRIC LOGIN</a:t>
            </a:r>
          </a:p>
        </p:txBody>
      </p:sp>
      <p:sp>
        <p:nvSpPr>
          <p:cNvPr id="23" name="Rounded Rectangle 22"/>
          <p:cNvSpPr/>
          <p:nvPr/>
        </p:nvSpPr>
        <p:spPr>
          <a:xfrm>
            <a:off x="612648" y="3584448"/>
            <a:ext cx="4114800" cy="256032"/>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50" b="1">
                <a:solidFill>
                  <a:srgbClr val="FFFFFF"/>
                </a:solidFill>
                <a:latin typeface="Arial"/>
              </a:defRPr>
            </a:pPr>
            <a:r>
              <a:t>2. METHODOLOGY AND PROCESS FOR IMPLEMENTATION</a:t>
            </a:r>
          </a:p>
        </p:txBody>
      </p:sp>
      <p:sp>
        <p:nvSpPr>
          <p:cNvPr id="24" name="Rounded Rectangle 23"/>
          <p:cNvSpPr/>
          <p:nvPr/>
        </p:nvSpPr>
        <p:spPr>
          <a:xfrm>
            <a:off x="612648" y="3895344"/>
            <a:ext cx="8412480" cy="1078992"/>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tIns="54864"/>
          <a:lstStyle/>
          <a:p>
            <a:pPr algn="ctr">
              <a:defRPr sz="850" b="1">
                <a:solidFill>
                  <a:srgbClr val="0F226B"/>
                </a:solidFill>
                <a:latin typeface="Arial"/>
              </a:defRPr>
            </a:pPr>
            <a:r>
              <a:t>SYSTEM FLOW PIPELINE:</a:t>
            </a:r>
          </a:p>
        </p:txBody>
      </p:sp>
      <p:sp>
        <p:nvSpPr>
          <p:cNvPr id="25" name="Rounded Rectangle 24"/>
          <p:cNvSpPr/>
          <p:nvPr/>
        </p:nvSpPr>
        <p:spPr>
          <a:xfrm>
            <a:off x="73152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226B"/>
                </a:solidFill>
                <a:latin typeface="Arial"/>
              </a:defRPr>
            </a:pPr>
            <a:r>
              <a:t>1. User Login</a:t>
            </a:r>
          </a:p>
          <a:p>
            <a:pPr algn="ctr">
              <a:defRPr sz="700">
                <a:solidFill>
                  <a:srgbClr val="64748B"/>
                </a:solidFill>
                <a:latin typeface="Calibri"/>
              </a:defRPr>
            </a:pPr>
            <a:r>
              <a:t>Biometric / OTP</a:t>
            </a:r>
          </a:p>
        </p:txBody>
      </p:sp>
      <p:sp>
        <p:nvSpPr>
          <p:cNvPr id="26" name="Rounded Rectangle 25"/>
          <p:cNvSpPr/>
          <p:nvPr/>
        </p:nvSpPr>
        <p:spPr>
          <a:xfrm>
            <a:off x="237744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766E"/>
                </a:solidFill>
                <a:latin typeface="Arial"/>
              </a:defRPr>
            </a:pPr>
            <a:r>
              <a:t>2. Vault Escrow</a:t>
            </a:r>
          </a:p>
          <a:p>
            <a:pPr algn="ctr">
              <a:defRPr sz="700">
                <a:solidFill>
                  <a:srgbClr val="64748B"/>
                </a:solidFill>
                <a:latin typeface="Calibri"/>
              </a:defRPr>
            </a:pPr>
            <a:r>
              <a:t>5-Class LTV</a:t>
            </a:r>
          </a:p>
        </p:txBody>
      </p:sp>
      <p:sp>
        <p:nvSpPr>
          <p:cNvPr id="27" name="Rounded Rectangle 26"/>
          <p:cNvSpPr/>
          <p:nvPr/>
        </p:nvSpPr>
        <p:spPr>
          <a:xfrm>
            <a:off x="402336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284C7"/>
                </a:solidFill>
                <a:latin typeface="Arial"/>
              </a:defRPr>
            </a:pPr>
            <a:r>
              <a:t>3. Marketplace</a:t>
            </a:r>
          </a:p>
          <a:p>
            <a:pPr algn="ctr">
              <a:defRPr sz="700">
                <a:solidFill>
                  <a:srgbClr val="64748B"/>
                </a:solidFill>
                <a:latin typeface="Calibri"/>
              </a:defRPr>
            </a:pPr>
            <a:r>
              <a:t>Syndicated Bids</a:t>
            </a:r>
          </a:p>
        </p:txBody>
      </p:sp>
      <p:sp>
        <p:nvSpPr>
          <p:cNvPr id="28" name="Rounded Rectangle 27"/>
          <p:cNvSpPr/>
          <p:nvPr/>
        </p:nvSpPr>
        <p:spPr>
          <a:xfrm>
            <a:off x="566928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D97706"/>
                </a:solidFill>
                <a:latin typeface="Arial"/>
              </a:defRPr>
            </a:pPr>
            <a:r>
              <a:t>4. Tranches</a:t>
            </a:r>
          </a:p>
          <a:p>
            <a:pPr algn="ctr">
              <a:defRPr sz="700">
                <a:solidFill>
                  <a:srgbClr val="64748B"/>
                </a:solidFill>
                <a:latin typeface="Calibri"/>
              </a:defRPr>
            </a:pPr>
            <a:r>
              <a:t>Direct Vendor VPA</a:t>
            </a:r>
          </a:p>
        </p:txBody>
      </p:sp>
      <p:sp>
        <p:nvSpPr>
          <p:cNvPr id="29" name="Rounded Rectangle 28"/>
          <p:cNvSpPr/>
          <p:nvPr/>
        </p:nvSpPr>
        <p:spPr>
          <a:xfrm>
            <a:off x="7315200" y="4206240"/>
            <a:ext cx="1536192" cy="640080"/>
          </a:xfrm>
          <a:prstGeom prst="roundRect">
            <a:avLst/>
          </a:prstGeom>
          <a:solidFill>
            <a:srgbClr val="F0F9FF"/>
          </a:solidFill>
          <a:ln>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0F226B"/>
                </a:solidFill>
                <a:latin typeface="Arial"/>
              </a:defRPr>
            </a:pPr>
            <a:r>
              <a:t>5. Dynamic UPI</a:t>
            </a:r>
          </a:p>
          <a:p>
            <a:pPr algn="ctr">
              <a:defRPr sz="700">
                <a:solidFill>
                  <a:srgbClr val="64748B"/>
                </a:solidFill>
                <a:latin typeface="Calibri"/>
              </a:defRPr>
            </a:pPr>
            <a:r>
              <a:t>Auto Reconciliation</a:t>
            </a:r>
          </a:p>
        </p:txBody>
      </p:sp>
      <p:sp>
        <p:nvSpPr>
          <p:cNvPr id="30" name="Rounded Rectangle 29"/>
          <p:cNvSpPr/>
          <p:nvPr/>
        </p:nvSpPr>
        <p:spPr>
          <a:xfrm>
            <a:off x="612648" y="5065776"/>
            <a:ext cx="10972800" cy="118872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77240" y="5120640"/>
            <a:ext cx="4114800" cy="219456"/>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800" b="1">
                <a:solidFill>
                  <a:srgbClr val="FFFFFF"/>
                </a:solidFill>
                <a:latin typeface="Arial"/>
              </a:defRPr>
            </a:pPr>
            <a:r>
              <a:t>IMPLEMENTATION METHODOLOGY (8-STAGE ROADMAP)</a:t>
            </a:r>
          </a:p>
        </p:txBody>
      </p:sp>
      <p:sp>
        <p:nvSpPr>
          <p:cNvPr id="32" name="Oval 31"/>
          <p:cNvSpPr/>
          <p:nvPr/>
        </p:nvSpPr>
        <p:spPr>
          <a:xfrm>
            <a:off x="1143000"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01</a:t>
            </a:r>
          </a:p>
        </p:txBody>
      </p:sp>
      <p:sp>
        <p:nvSpPr>
          <p:cNvPr id="33" name="TextBox 32"/>
          <p:cNvSpPr txBox="1"/>
          <p:nvPr/>
        </p:nvSpPr>
        <p:spPr>
          <a:xfrm>
            <a:off x="777240"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PS-92 Analysis</a:t>
            </a:r>
          </a:p>
        </p:txBody>
      </p:sp>
      <p:sp>
        <p:nvSpPr>
          <p:cNvPr id="34" name="Oval 33"/>
          <p:cNvSpPr/>
          <p:nvPr/>
        </p:nvSpPr>
        <p:spPr>
          <a:xfrm>
            <a:off x="2478024"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02</a:t>
            </a:r>
          </a:p>
        </p:txBody>
      </p:sp>
      <p:sp>
        <p:nvSpPr>
          <p:cNvPr id="35" name="TextBox 34"/>
          <p:cNvSpPr txBox="1"/>
          <p:nvPr/>
        </p:nvSpPr>
        <p:spPr>
          <a:xfrm>
            <a:off x="2112264"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Compose UI/UX</a:t>
            </a:r>
          </a:p>
        </p:txBody>
      </p:sp>
      <p:sp>
        <p:nvSpPr>
          <p:cNvPr id="36" name="Oval 35"/>
          <p:cNvSpPr/>
          <p:nvPr/>
        </p:nvSpPr>
        <p:spPr>
          <a:xfrm>
            <a:off x="3813048"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03</a:t>
            </a:r>
          </a:p>
        </p:txBody>
      </p:sp>
      <p:sp>
        <p:nvSpPr>
          <p:cNvPr id="37" name="TextBox 36"/>
          <p:cNvSpPr txBox="1"/>
          <p:nvPr/>
        </p:nvSpPr>
        <p:spPr>
          <a:xfrm>
            <a:off x="3447288"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Room v12 DB</a:t>
            </a:r>
          </a:p>
        </p:txBody>
      </p:sp>
      <p:sp>
        <p:nvSpPr>
          <p:cNvPr id="38" name="Oval 37"/>
          <p:cNvSpPr/>
          <p:nvPr/>
        </p:nvSpPr>
        <p:spPr>
          <a:xfrm>
            <a:off x="5148072"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04</a:t>
            </a:r>
          </a:p>
        </p:txBody>
      </p:sp>
      <p:sp>
        <p:nvSpPr>
          <p:cNvPr id="39" name="TextBox 38"/>
          <p:cNvSpPr txBox="1"/>
          <p:nvPr/>
        </p:nvSpPr>
        <p:spPr>
          <a:xfrm>
            <a:off x="4782312"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Keystore &amp; Auth</a:t>
            </a:r>
          </a:p>
        </p:txBody>
      </p:sp>
      <p:sp>
        <p:nvSpPr>
          <p:cNvPr id="40" name="Oval 39"/>
          <p:cNvSpPr/>
          <p:nvPr/>
        </p:nvSpPr>
        <p:spPr>
          <a:xfrm>
            <a:off x="6483096"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05</a:t>
            </a:r>
          </a:p>
        </p:txBody>
      </p:sp>
      <p:sp>
        <p:nvSpPr>
          <p:cNvPr id="41" name="TextBox 40"/>
          <p:cNvSpPr txBox="1"/>
          <p:nvPr/>
        </p:nvSpPr>
        <p:spPr>
          <a:xfrm>
            <a:off x="6117336"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Tranche Rules</a:t>
            </a:r>
          </a:p>
        </p:txBody>
      </p:sp>
      <p:sp>
        <p:nvSpPr>
          <p:cNvPr id="42" name="Oval 41"/>
          <p:cNvSpPr/>
          <p:nvPr/>
        </p:nvSpPr>
        <p:spPr>
          <a:xfrm>
            <a:off x="7818120"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06</a:t>
            </a:r>
          </a:p>
        </p:txBody>
      </p:sp>
      <p:sp>
        <p:nvSpPr>
          <p:cNvPr id="43" name="TextBox 42"/>
          <p:cNvSpPr txBox="1"/>
          <p:nvPr/>
        </p:nvSpPr>
        <p:spPr>
          <a:xfrm>
            <a:off x="7452360"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Telegram SOS</a:t>
            </a:r>
          </a:p>
        </p:txBody>
      </p:sp>
      <p:sp>
        <p:nvSpPr>
          <p:cNvPr id="44" name="Oval 43"/>
          <p:cNvSpPr/>
          <p:nvPr/>
        </p:nvSpPr>
        <p:spPr>
          <a:xfrm>
            <a:off x="9153144"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07</a:t>
            </a:r>
          </a:p>
        </p:txBody>
      </p:sp>
      <p:sp>
        <p:nvSpPr>
          <p:cNvPr id="45" name="TextBox 44"/>
          <p:cNvSpPr txBox="1"/>
          <p:nvPr/>
        </p:nvSpPr>
        <p:spPr>
          <a:xfrm>
            <a:off x="8787384"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Stress Testing</a:t>
            </a:r>
          </a:p>
        </p:txBody>
      </p:sp>
      <p:sp>
        <p:nvSpPr>
          <p:cNvPr id="46" name="Oval 45"/>
          <p:cNvSpPr/>
          <p:nvPr/>
        </p:nvSpPr>
        <p:spPr>
          <a:xfrm>
            <a:off x="10488167" y="5413248"/>
            <a:ext cx="292608" cy="292608"/>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800" b="1">
                <a:solidFill>
                  <a:srgbClr val="FFFFFF"/>
                </a:solidFill>
                <a:latin typeface="Arial"/>
              </a:defRPr>
            </a:pPr>
            <a:r>
              <a:t>08</a:t>
            </a:r>
          </a:p>
        </p:txBody>
      </p:sp>
      <p:sp>
        <p:nvSpPr>
          <p:cNvPr id="47" name="TextBox 46"/>
          <p:cNvSpPr txBox="1"/>
          <p:nvPr/>
        </p:nvSpPr>
        <p:spPr>
          <a:xfrm>
            <a:off x="10122407" y="5760720"/>
            <a:ext cx="1051560" cy="347472"/>
          </a:xfrm>
          <a:prstGeom prst="rect">
            <a:avLst/>
          </a:prstGeom>
          <a:noFill/>
        </p:spPr>
        <p:txBody>
          <a:bodyPr wrap="square" lIns="0" tIns="0" rIns="0" bIns="0">
            <a:spAutoFit/>
          </a:bodyPr>
          <a:lstStyle/>
          <a:p>
            <a:pPr algn="ctr">
              <a:defRPr sz="700" b="1">
                <a:solidFill>
                  <a:srgbClr val="0F172A"/>
                </a:solidFill>
                <a:latin typeface="Arial"/>
              </a:defRPr>
            </a:pPr>
            <a:r>
              <a:t>Pilot Launch</a:t>
            </a:r>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17410" name="TextBox 8"/>
          <p:cNvSpPr txBox="1">
            <a:spLocks noChangeArrowheads="1"/>
          </p:cNvSpPr>
          <p:nvPr/>
        </p:nvSpPr>
        <p:spPr bwMode="auto">
          <a:xfrm>
            <a:off x="609600" y="2533653"/>
            <a:ext cx="9385300" cy="1384995"/>
          </a:xfrm>
          <a:prstGeom prst="rect">
            <a:avLst/>
          </a:prstGeom>
          <a:noFill/>
          <a:ln w="9525">
            <a:noFill/>
            <a:miter lim="800000"/>
            <a:headEnd/>
            <a:tailEnd/>
          </a:ln>
        </p:spPr>
        <p:txBody>
          <a:bodyPr wrap="square">
            <a:spAutoFit/>
          </a:bodyPr>
          <a:lstStyle/>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800" dirty="0">
                <a:solidFill>
                  <a:prstClr val="black"/>
                </a:solidFill>
                <a:latin typeface="Arial" pitchFamily="34" charset="0"/>
                <a:cs typeface="Arial" pitchFamily="34" charset="0"/>
              </a:rPr>
              <a:t>Analysis of the feasibility of the idea</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lang="en-US" sz="2800" dirty="0">
                <a:solidFill>
                  <a:prstClr val="black"/>
                </a:solidFill>
                <a:latin typeface="Arial" pitchFamily="34" charset="0"/>
                <a:cs typeface="Arial" pitchFamily="34" charset="0"/>
              </a:rPr>
              <a:t>Potential challenges and risks</a:t>
            </a:r>
          </a:p>
          <a:p>
            <a:pPr marL="342900" marR="0" lvl="0" indent="-342900" algn="just" defTabSz="457200" rtl="0" eaLnBrk="1" fontAlgn="base" latinLnBrk="0" hangingPunct="1">
              <a:lnSpc>
                <a:spcPct val="100000"/>
              </a:lnSpc>
              <a:spcBef>
                <a:spcPct val="0"/>
              </a:spcBef>
              <a:spcAft>
                <a:spcPct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rPr>
              <a:t>Strategies</a:t>
            </a:r>
            <a:r>
              <a:rPr kumimoji="0" lang="en-US" sz="2800" b="0" i="0" u="none" strike="noStrike" kern="1200" cap="none" spc="0" normalizeH="0" noProof="0" dirty="0">
                <a:ln>
                  <a:noFill/>
                </a:ln>
                <a:solidFill>
                  <a:prstClr val="black"/>
                </a:solidFill>
                <a:effectLst/>
                <a:uLnTx/>
                <a:uFillTx/>
                <a:latin typeface="Arial" pitchFamily="34" charset="0"/>
                <a:ea typeface="ＭＳ Ｐゴシック" pitchFamily="1" charset="-128"/>
                <a:cs typeface="Arial" pitchFamily="34" charset="0"/>
              </a:rPr>
              <a:t> for overcoming these challenges</a:t>
            </a:r>
            <a:endParaRPr kumimoji="0" lang="en-US" sz="2800" b="0" i="0" u="none" strike="noStrike" kern="1200" cap="none" spc="0" normalizeH="0" baseline="0" noProof="0" dirty="0">
              <a:ln>
                <a:noFill/>
              </a:ln>
              <a:solidFill>
                <a:prstClr val="black"/>
              </a:solidFill>
              <a:effectLst/>
              <a:uLnTx/>
              <a:uFillTx/>
              <a:latin typeface="Arial" pitchFamily="34" charset="0"/>
              <a:ea typeface="ＭＳ Ｐゴシック" pitchFamily="1" charset="-128"/>
              <a:cs typeface="Arial" pitchFamily="34"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pic>
        <p:nvPicPr>
          <p:cNvPr id="3" name="Picture 2">
            <a:extLst>
              <a:ext uri="{FF2B5EF4-FFF2-40B4-BE49-F238E27FC236}">
                <a16:creationId xmlns:a16="http://schemas.microsoft.com/office/drawing/2014/main" id="{4160F897-03DA-46B3-4F9B-83EEAFF38552}"/>
              </a:ext>
            </a:extLst>
          </p:cNvPr>
          <p:cNvPicPr>
            <a:picLocks noChangeAspect="1"/>
          </p:cNvPicPr>
          <p:nvPr/>
        </p:nvPicPr>
        <p:blipFill>
          <a:blip r:embed="rId4"/>
          <a:stretch>
            <a:fillRect/>
          </a:stretch>
        </p:blipFill>
        <p:spPr>
          <a:xfrm>
            <a:off x="-1" y="0"/>
            <a:ext cx="1980773" cy="1488634"/>
          </a:xfrm>
          <a:prstGeom prst="rect">
            <a:avLst/>
          </a:prstGeom>
        </p:spPr>
      </p:pic>
      <p:pic>
        <p:nvPicPr>
          <p:cNvPr id="8" name="Picture 7">
            <a:extLst>
              <a:ext uri="{FF2B5EF4-FFF2-40B4-BE49-F238E27FC236}">
                <a16:creationId xmlns:a16="http://schemas.microsoft.com/office/drawing/2014/main" id="{055BA8B1-06C9-7BBA-CA64-1F039BF50AAF}"/>
              </a:ext>
            </a:extLst>
          </p:cNvPr>
          <p:cNvPicPr>
            <a:picLocks noChangeAspect="1"/>
          </p:cNvPicPr>
          <p:nvPr/>
        </p:nvPicPr>
        <p:blipFill>
          <a:blip r:embed="rId5"/>
          <a:stretch>
            <a:fillRect/>
          </a:stretch>
        </p:blipFill>
        <p:spPr>
          <a:xfrm>
            <a:off x="-53773" y="-47625"/>
            <a:ext cx="12245773" cy="6858000"/>
          </a:xfrm>
          <a:prstGeom prst="rect">
            <a:avLst/>
          </a:prstGeom>
        </p:spPr>
      </p:pic>
      <p:pic>
        <p:nvPicPr>
          <p:cNvPr id="17" name="Picture 16">
            <a:extLst>
              <a:ext uri="{FF2B5EF4-FFF2-40B4-BE49-F238E27FC236}">
                <a16:creationId xmlns:a16="http://schemas.microsoft.com/office/drawing/2014/main" id="{94F227AF-DCF8-2EA4-EC9A-D5A9445A0B7B}"/>
              </a:ext>
            </a:extLst>
          </p:cNvPr>
          <p:cNvPicPr>
            <a:picLocks noChangeAspect="1"/>
          </p:cNvPicPr>
          <p:nvPr/>
        </p:nvPicPr>
        <p:blipFill>
          <a:blip r:embed="rId6"/>
          <a:stretch>
            <a:fillRect/>
          </a:stretch>
        </p:blipFill>
        <p:spPr>
          <a:xfrm>
            <a:off x="10093125" y="34201"/>
            <a:ext cx="2098876" cy="913836"/>
          </a:xfrm>
          <a:prstGeom prst="rect">
            <a:avLst/>
          </a:prstGeom>
        </p:spPr>
      </p:pic>
      <p:pic>
        <p:nvPicPr>
          <p:cNvPr id="15" name="Picture 14">
            <a:extLst>
              <a:ext uri="{FF2B5EF4-FFF2-40B4-BE49-F238E27FC236}">
                <a16:creationId xmlns:a16="http://schemas.microsoft.com/office/drawing/2014/main" id="{2C19B037-24A1-FE7A-6DCE-94BE31FCB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36214" y="-54257"/>
            <a:ext cx="1720607" cy="812438"/>
          </a:xfrm>
          <a:prstGeom prst="rect">
            <a:avLst/>
          </a:prstGeom>
        </p:spPr>
      </p:pic>
      <p:pic>
        <p:nvPicPr>
          <p:cNvPr id="19" name="Picture 18">
            <a:extLst>
              <a:ext uri="{FF2B5EF4-FFF2-40B4-BE49-F238E27FC236}">
                <a16:creationId xmlns:a16="http://schemas.microsoft.com/office/drawing/2014/main" id="{83D9AA90-A8F6-29B6-4606-FC64E708AAEB}"/>
              </a:ext>
            </a:extLst>
          </p:cNvPr>
          <p:cNvPicPr>
            <a:picLocks noChangeAspect="1"/>
          </p:cNvPicPr>
          <p:nvPr/>
        </p:nvPicPr>
        <p:blipFill>
          <a:blip r:embed="rId7"/>
          <a:stretch>
            <a:fillRect/>
          </a:stretch>
        </p:blipFill>
        <p:spPr>
          <a:xfrm>
            <a:off x="2" y="1"/>
            <a:ext cx="1446833" cy="980476"/>
          </a:xfrm>
          <a:prstGeom prst="rect">
            <a:avLst/>
          </a:prstGeom>
        </p:spPr>
      </p:pic>
      <p:sp>
        <p:nvSpPr>
          <p:cNvPr id="17411" name="Rectangle 17410"/>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612648" y="1115568"/>
            <a:ext cx="2880360" cy="452628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Rounded Rectangle 17412"/>
          <p:cNvSpPr/>
          <p:nvPr/>
        </p:nvSpPr>
        <p:spPr>
          <a:xfrm>
            <a:off x="713232" y="1207008"/>
            <a:ext cx="2679192"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1. ANALYSIS OF FEASIBILITY</a:t>
            </a:r>
          </a:p>
        </p:txBody>
      </p:sp>
      <p:sp>
        <p:nvSpPr>
          <p:cNvPr id="17414" name="Oval 17413"/>
          <p:cNvSpPr/>
          <p:nvPr/>
        </p:nvSpPr>
        <p:spPr>
          <a:xfrm>
            <a:off x="713232" y="1636776"/>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TextBox 17414"/>
          <p:cNvSpPr txBox="1"/>
          <p:nvPr/>
        </p:nvSpPr>
        <p:spPr>
          <a:xfrm>
            <a:off x="932688" y="1600200"/>
            <a:ext cx="2514600" cy="896112"/>
          </a:xfrm>
          <a:prstGeom prst="rect">
            <a:avLst/>
          </a:prstGeom>
          <a:noFill/>
        </p:spPr>
        <p:txBody>
          <a:bodyPr wrap="square" lIns="0" tIns="0" rIns="0" bIns="0">
            <a:spAutoFit/>
          </a:bodyPr>
          <a:lstStyle/>
          <a:p>
            <a:pPr>
              <a:defRPr sz="850" b="1">
                <a:solidFill>
                  <a:srgbClr val="0F766E"/>
                </a:solidFill>
                <a:latin typeface="Arial"/>
              </a:defRPr>
            </a:pPr>
            <a:r>
              <a:t>Technical Feasibility</a:t>
            </a:r>
          </a:p>
          <a:p>
            <a:pPr>
              <a:defRPr sz="750">
                <a:solidFill>
                  <a:srgbClr val="0F172A"/>
                </a:solidFill>
                <a:latin typeface="Calibri"/>
              </a:defRPr>
            </a:pPr>
            <a:r>
              <a:t>100% on-device local Room execution. Operates without cloud lag; runs on Android 8.0+ covering 98% of Bharat.</a:t>
            </a:r>
          </a:p>
        </p:txBody>
      </p:sp>
      <p:sp>
        <p:nvSpPr>
          <p:cNvPr id="17416" name="Oval 17415"/>
          <p:cNvSpPr/>
          <p:nvPr/>
        </p:nvSpPr>
        <p:spPr>
          <a:xfrm>
            <a:off x="713232" y="2606040"/>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932688" y="2569464"/>
            <a:ext cx="2514600" cy="896112"/>
          </a:xfrm>
          <a:prstGeom prst="rect">
            <a:avLst/>
          </a:prstGeom>
          <a:noFill/>
        </p:spPr>
        <p:txBody>
          <a:bodyPr wrap="square" lIns="0" tIns="0" rIns="0" bIns="0">
            <a:spAutoFit/>
          </a:bodyPr>
          <a:lstStyle/>
          <a:p>
            <a:pPr>
              <a:defRPr sz="850" b="1">
                <a:solidFill>
                  <a:srgbClr val="0F766E"/>
                </a:solidFill>
                <a:latin typeface="Arial"/>
              </a:defRPr>
            </a:pPr>
            <a:r>
              <a:t>Operational Feasibility</a:t>
            </a:r>
          </a:p>
          <a:p>
            <a:pPr>
              <a:defRPr sz="750">
                <a:solidFill>
                  <a:srgbClr val="0F172A"/>
                </a:solidFill>
                <a:latin typeface="Calibri"/>
              </a:defRPr>
            </a:pPr>
            <a:r>
              <a:t>Geofenced agent inspection (AgentVisitEntity) enables physical appraisal of cattle/machinery without bank branches.</a:t>
            </a:r>
          </a:p>
        </p:txBody>
      </p:sp>
      <p:sp>
        <p:nvSpPr>
          <p:cNvPr id="17418" name="Oval 17417"/>
          <p:cNvSpPr/>
          <p:nvPr/>
        </p:nvSpPr>
        <p:spPr>
          <a:xfrm>
            <a:off x="713232" y="3575304"/>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TextBox 17418"/>
          <p:cNvSpPr txBox="1"/>
          <p:nvPr/>
        </p:nvSpPr>
        <p:spPr>
          <a:xfrm>
            <a:off x="932688" y="3538728"/>
            <a:ext cx="2514600" cy="896112"/>
          </a:xfrm>
          <a:prstGeom prst="rect">
            <a:avLst/>
          </a:prstGeom>
          <a:noFill/>
        </p:spPr>
        <p:txBody>
          <a:bodyPr wrap="square" lIns="0" tIns="0" rIns="0" bIns="0">
            <a:spAutoFit/>
          </a:bodyPr>
          <a:lstStyle/>
          <a:p>
            <a:pPr>
              <a:defRPr sz="850" b="1">
                <a:solidFill>
                  <a:srgbClr val="0F766E"/>
                </a:solidFill>
                <a:latin typeface="Arial"/>
              </a:defRPr>
            </a:pPr>
            <a:r>
              <a:t>Economic Feasibility</a:t>
            </a:r>
          </a:p>
          <a:p>
            <a:pPr>
              <a:defRPr sz="750">
                <a:solidFill>
                  <a:srgbClr val="0F172A"/>
                </a:solidFill>
                <a:latin typeface="Calibri"/>
              </a:defRPr>
            </a:pPr>
            <a:r>
              <a:t>Profitable unit economics: 1.5% origination fee, 0.5% servicing, ₹499 agent fee. Breakeven at 2,500 active loans.</a:t>
            </a:r>
          </a:p>
        </p:txBody>
      </p:sp>
      <p:sp>
        <p:nvSpPr>
          <p:cNvPr id="17420" name="Oval 17419"/>
          <p:cNvSpPr/>
          <p:nvPr/>
        </p:nvSpPr>
        <p:spPr>
          <a:xfrm>
            <a:off x="713232" y="454456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932688" y="4507992"/>
            <a:ext cx="2514600" cy="896112"/>
          </a:xfrm>
          <a:prstGeom prst="rect">
            <a:avLst/>
          </a:prstGeom>
          <a:noFill/>
        </p:spPr>
        <p:txBody>
          <a:bodyPr wrap="square" lIns="0" tIns="0" rIns="0" bIns="0">
            <a:spAutoFit/>
          </a:bodyPr>
          <a:lstStyle/>
          <a:p>
            <a:pPr>
              <a:defRPr sz="850" b="1">
                <a:solidFill>
                  <a:srgbClr val="0F766E"/>
                </a:solidFill>
                <a:latin typeface="Arial"/>
              </a:defRPr>
            </a:pPr>
            <a:r>
              <a:t>Schedule Feasibility</a:t>
            </a:r>
          </a:p>
          <a:p>
            <a:pPr>
              <a:defRPr sz="750">
                <a:solidFill>
                  <a:srgbClr val="0F172A"/>
                </a:solidFill>
                <a:latin typeface="Calibri"/>
              </a:defRPr>
            </a:pPr>
            <a:r>
              <a:t>Core architecture fully built with 19 Room entities, 17 DAOs, 7 ViewModels, and 36 functional screens.</a:t>
            </a:r>
          </a:p>
        </p:txBody>
      </p:sp>
      <p:sp>
        <p:nvSpPr>
          <p:cNvPr id="17422" name="Rounded Rectangle 17421"/>
          <p:cNvSpPr/>
          <p:nvPr/>
        </p:nvSpPr>
        <p:spPr>
          <a:xfrm>
            <a:off x="3630168" y="1115568"/>
            <a:ext cx="2880360" cy="4526280"/>
          </a:xfrm>
          <a:prstGeom prst="roundRect">
            <a:avLst/>
          </a:prstGeom>
          <a:solidFill>
            <a:srgbClr val="FFFFFF"/>
          </a:solidFill>
          <a:ln w="19050">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ounded Rectangle 17422"/>
          <p:cNvSpPr/>
          <p:nvPr/>
        </p:nvSpPr>
        <p:spPr>
          <a:xfrm>
            <a:off x="3730752" y="1207008"/>
            <a:ext cx="2679192" cy="274320"/>
          </a:xfrm>
          <a:prstGeom prst="round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CHALLENGES &amp; RISKS</a:t>
            </a:r>
          </a:p>
        </p:txBody>
      </p:sp>
      <p:sp>
        <p:nvSpPr>
          <p:cNvPr id="17424" name="Oval 17423"/>
          <p:cNvSpPr/>
          <p:nvPr/>
        </p:nvSpPr>
        <p:spPr>
          <a:xfrm>
            <a:off x="3730752" y="163677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3950208" y="1600200"/>
            <a:ext cx="2514600" cy="713232"/>
          </a:xfrm>
          <a:prstGeom prst="rect">
            <a:avLst/>
          </a:prstGeom>
          <a:noFill/>
        </p:spPr>
        <p:txBody>
          <a:bodyPr wrap="square" lIns="0" tIns="0" rIns="0" bIns="0">
            <a:spAutoFit/>
          </a:bodyPr>
          <a:lstStyle/>
          <a:p>
            <a:pPr>
              <a:defRPr sz="850" b="1">
                <a:solidFill>
                  <a:srgbClr val="991B1B"/>
                </a:solidFill>
                <a:latin typeface="Arial"/>
              </a:defRPr>
            </a:pPr>
            <a:r>
              <a:t>Data Privacy &amp; Fraud</a:t>
            </a:r>
          </a:p>
          <a:p>
            <a:pPr>
              <a:defRPr sz="750">
                <a:solidFill>
                  <a:srgbClr val="0F172A"/>
                </a:solidFill>
                <a:latin typeface="Calibri"/>
              </a:defRPr>
            </a:pPr>
            <a:r>
              <a:t>Synthetic KYC, identity spoofing, and borrower-lender collusion.</a:t>
            </a:r>
          </a:p>
        </p:txBody>
      </p:sp>
      <p:sp>
        <p:nvSpPr>
          <p:cNvPr id="17426" name="Oval 17425"/>
          <p:cNvSpPr/>
          <p:nvPr/>
        </p:nvSpPr>
        <p:spPr>
          <a:xfrm>
            <a:off x="3730752" y="241401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3950208" y="2377440"/>
            <a:ext cx="2514600" cy="713232"/>
          </a:xfrm>
          <a:prstGeom prst="rect">
            <a:avLst/>
          </a:prstGeom>
          <a:noFill/>
        </p:spPr>
        <p:txBody>
          <a:bodyPr wrap="square" lIns="0" tIns="0" rIns="0" bIns="0">
            <a:spAutoFit/>
          </a:bodyPr>
          <a:lstStyle/>
          <a:p>
            <a:pPr>
              <a:defRPr sz="850" b="1">
                <a:solidFill>
                  <a:srgbClr val="991B1B"/>
                </a:solidFill>
                <a:latin typeface="Arial"/>
              </a:defRPr>
            </a:pPr>
            <a:r>
              <a:t>Capital Diversion</a:t>
            </a:r>
          </a:p>
          <a:p>
            <a:pPr>
              <a:defRPr sz="750">
                <a:solidFill>
                  <a:srgbClr val="0F172A"/>
                </a:solidFill>
                <a:latin typeface="Calibri"/>
              </a:defRPr>
            </a:pPr>
            <a:r>
              <a:t>Borrowers attempting to divert lump-sum cash to non-productive uses.</a:t>
            </a:r>
          </a:p>
        </p:txBody>
      </p:sp>
      <p:sp>
        <p:nvSpPr>
          <p:cNvPr id="17428" name="Oval 17427"/>
          <p:cNvSpPr/>
          <p:nvPr/>
        </p:nvSpPr>
        <p:spPr>
          <a:xfrm>
            <a:off x="3730752" y="319125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3950208" y="3154680"/>
            <a:ext cx="2514600" cy="713232"/>
          </a:xfrm>
          <a:prstGeom prst="rect">
            <a:avLst/>
          </a:prstGeom>
          <a:noFill/>
        </p:spPr>
        <p:txBody>
          <a:bodyPr wrap="square" lIns="0" tIns="0" rIns="0" bIns="0">
            <a:spAutoFit/>
          </a:bodyPr>
          <a:lstStyle/>
          <a:p>
            <a:pPr>
              <a:defRPr sz="850" b="1">
                <a:solidFill>
                  <a:srgbClr val="991B1B"/>
                </a:solidFill>
                <a:latin typeface="Arial"/>
              </a:defRPr>
            </a:pPr>
            <a:r>
              <a:t>Collateral Volatility</a:t>
            </a:r>
          </a:p>
          <a:p>
            <a:pPr>
              <a:defRPr sz="750">
                <a:solidFill>
                  <a:srgbClr val="0F172A"/>
                </a:solidFill>
                <a:latin typeface="Calibri"/>
              </a:defRPr>
            </a:pPr>
            <a:r>
              <a:t>Depreciation in agro commodities, silver swings, or cattle mortality.</a:t>
            </a:r>
          </a:p>
        </p:txBody>
      </p:sp>
      <p:sp>
        <p:nvSpPr>
          <p:cNvPr id="17430" name="Oval 17429"/>
          <p:cNvSpPr/>
          <p:nvPr/>
        </p:nvSpPr>
        <p:spPr>
          <a:xfrm>
            <a:off x="3730752" y="396849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3950208" y="3931920"/>
            <a:ext cx="2514600" cy="713232"/>
          </a:xfrm>
          <a:prstGeom prst="rect">
            <a:avLst/>
          </a:prstGeom>
          <a:noFill/>
        </p:spPr>
        <p:txBody>
          <a:bodyPr wrap="square" lIns="0" tIns="0" rIns="0" bIns="0">
            <a:spAutoFit/>
          </a:bodyPr>
          <a:lstStyle/>
          <a:p>
            <a:pPr>
              <a:defRPr sz="850" b="1">
                <a:solidFill>
                  <a:srgbClr val="991B1B"/>
                </a:solidFill>
                <a:latin typeface="Arial"/>
              </a:defRPr>
            </a:pPr>
            <a:r>
              <a:t>Rogue Collection Harassment</a:t>
            </a:r>
          </a:p>
          <a:p>
            <a:pPr>
              <a:defRPr sz="750">
                <a:solidFill>
                  <a:srgbClr val="0F172A"/>
                </a:solidFill>
                <a:latin typeface="Calibri"/>
              </a:defRPr>
            </a:pPr>
            <a:r>
              <a:t>Unlawful intimidation, threats, or illegal shaming by rogue lenders.</a:t>
            </a:r>
          </a:p>
        </p:txBody>
      </p:sp>
      <p:sp>
        <p:nvSpPr>
          <p:cNvPr id="17432" name="Oval 17431"/>
          <p:cNvSpPr/>
          <p:nvPr/>
        </p:nvSpPr>
        <p:spPr>
          <a:xfrm>
            <a:off x="3730752" y="4745736"/>
            <a:ext cx="164592" cy="164592"/>
          </a:xfrm>
          <a:prstGeom prst="ellipse">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3950208" y="4709160"/>
            <a:ext cx="2514600" cy="713232"/>
          </a:xfrm>
          <a:prstGeom prst="rect">
            <a:avLst/>
          </a:prstGeom>
          <a:noFill/>
        </p:spPr>
        <p:txBody>
          <a:bodyPr wrap="square" lIns="0" tIns="0" rIns="0" bIns="0">
            <a:spAutoFit/>
          </a:bodyPr>
          <a:lstStyle/>
          <a:p>
            <a:pPr>
              <a:defRPr sz="850" b="1">
                <a:solidFill>
                  <a:srgbClr val="991B1B"/>
                </a:solidFill>
                <a:latin typeface="Arial"/>
              </a:defRPr>
            </a:pPr>
            <a:r>
              <a:t>Rural Connectivity</a:t>
            </a:r>
          </a:p>
          <a:p>
            <a:pPr>
              <a:defRPr sz="750">
                <a:solidFill>
                  <a:srgbClr val="0F172A"/>
                </a:solidFill>
                <a:latin typeface="Calibri"/>
              </a:defRPr>
            </a:pPr>
            <a:r>
              <a:t>Erratic 2G/3G connectivity in remote rural agricultural belts.</a:t>
            </a:r>
          </a:p>
        </p:txBody>
      </p:sp>
      <p:sp>
        <p:nvSpPr>
          <p:cNvPr id="17434" name="Rounded Rectangle 17433"/>
          <p:cNvSpPr/>
          <p:nvPr/>
        </p:nvSpPr>
        <p:spPr>
          <a:xfrm>
            <a:off x="6647688" y="1115568"/>
            <a:ext cx="2880360" cy="452628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5" name="Rounded Rectangle 17434"/>
          <p:cNvSpPr/>
          <p:nvPr/>
        </p:nvSpPr>
        <p:spPr>
          <a:xfrm>
            <a:off x="6748272" y="1207008"/>
            <a:ext cx="2679192"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3. OVERCOMING STRATEGIES</a:t>
            </a:r>
          </a:p>
        </p:txBody>
      </p:sp>
      <p:sp>
        <p:nvSpPr>
          <p:cNvPr id="17436" name="Oval 17435"/>
          <p:cNvSpPr/>
          <p:nvPr/>
        </p:nvSpPr>
        <p:spPr>
          <a:xfrm>
            <a:off x="6748272" y="163677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967728" y="1600200"/>
            <a:ext cx="2514600" cy="713232"/>
          </a:xfrm>
          <a:prstGeom prst="rect">
            <a:avLst/>
          </a:prstGeom>
          <a:noFill/>
        </p:spPr>
        <p:txBody>
          <a:bodyPr wrap="square" lIns="0" tIns="0" rIns="0" bIns="0">
            <a:spAutoFit/>
          </a:bodyPr>
          <a:lstStyle/>
          <a:p>
            <a:pPr>
              <a:defRPr sz="850" b="1">
                <a:solidFill>
                  <a:srgbClr val="0F226B"/>
                </a:solidFill>
                <a:latin typeface="Arial"/>
              </a:defRPr>
            </a:pPr>
            <a:r>
              <a:t>Keystore &amp; Biometrics</a:t>
            </a:r>
          </a:p>
          <a:p>
            <a:pPr>
              <a:defRPr sz="750">
                <a:solidFill>
                  <a:srgbClr val="0F172A"/>
                </a:solidFill>
                <a:latin typeface="Calibri"/>
              </a:defRPr>
            </a:pPr>
            <a:r>
              <a:t>Hardware StrongBox encryption (PURPOSE_ENCRYPT) + BiometricPrompt.</a:t>
            </a:r>
          </a:p>
        </p:txBody>
      </p:sp>
      <p:sp>
        <p:nvSpPr>
          <p:cNvPr id="17438" name="Oval 17437"/>
          <p:cNvSpPr/>
          <p:nvPr/>
        </p:nvSpPr>
        <p:spPr>
          <a:xfrm>
            <a:off x="6748272" y="241401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967728" y="2377440"/>
            <a:ext cx="2514600" cy="713232"/>
          </a:xfrm>
          <a:prstGeom prst="rect">
            <a:avLst/>
          </a:prstGeom>
          <a:noFill/>
        </p:spPr>
        <p:txBody>
          <a:bodyPr wrap="square" lIns="0" tIns="0" rIns="0" bIns="0">
            <a:spAutoFit/>
          </a:bodyPr>
          <a:lstStyle/>
          <a:p>
            <a:pPr>
              <a:defRPr sz="850" b="1">
                <a:solidFill>
                  <a:srgbClr val="0F226B"/>
                </a:solidFill>
                <a:latin typeface="Arial"/>
              </a:defRPr>
            </a:pPr>
            <a:r>
              <a:t>Direct Vendor VPA Pay</a:t>
            </a:r>
          </a:p>
          <a:p>
            <a:pPr>
              <a:defRPr sz="750">
                <a:solidFill>
                  <a:srgbClr val="0F172A"/>
                </a:solidFill>
                <a:latin typeface="Calibri"/>
              </a:defRPr>
            </a:pPr>
            <a:r>
              <a:t>Zero cash-in-hand disbursements; funds flow directly to supplier VPAs.</a:t>
            </a:r>
          </a:p>
        </p:txBody>
      </p:sp>
      <p:sp>
        <p:nvSpPr>
          <p:cNvPr id="17440" name="Oval 17439"/>
          <p:cNvSpPr/>
          <p:nvPr/>
        </p:nvSpPr>
        <p:spPr>
          <a:xfrm>
            <a:off x="6748272" y="319125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1" name="TextBox 17440"/>
          <p:cNvSpPr txBox="1"/>
          <p:nvPr/>
        </p:nvSpPr>
        <p:spPr>
          <a:xfrm>
            <a:off x="6967728" y="3154680"/>
            <a:ext cx="2514600" cy="713232"/>
          </a:xfrm>
          <a:prstGeom prst="rect">
            <a:avLst/>
          </a:prstGeom>
          <a:noFill/>
        </p:spPr>
        <p:txBody>
          <a:bodyPr wrap="square" lIns="0" tIns="0" rIns="0" bIns="0">
            <a:spAutoFit/>
          </a:bodyPr>
          <a:lstStyle/>
          <a:p>
            <a:pPr>
              <a:defRPr sz="850" b="1">
                <a:solidFill>
                  <a:srgbClr val="0F226B"/>
                </a:solidFill>
                <a:latin typeface="Arial"/>
              </a:defRPr>
            </a:pPr>
            <a:r>
              <a:t>Dynamic LTV Haircuts</a:t>
            </a:r>
          </a:p>
          <a:p>
            <a:pPr>
              <a:defRPr sz="750">
                <a:solidFill>
                  <a:srgbClr val="0F172A"/>
                </a:solidFill>
                <a:latin typeface="Calibri"/>
              </a:defRPr>
            </a:pPr>
            <a:r>
              <a:t>Algorithmic safety buffers: Gold 25%, Silver 35%, IT 50%, Agro 40%, Cattle 60%.</a:t>
            </a:r>
          </a:p>
        </p:txBody>
      </p:sp>
      <p:sp>
        <p:nvSpPr>
          <p:cNvPr id="17442" name="Oval 17441"/>
          <p:cNvSpPr/>
          <p:nvPr/>
        </p:nvSpPr>
        <p:spPr>
          <a:xfrm>
            <a:off x="6748272" y="396849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3" name="TextBox 17442"/>
          <p:cNvSpPr txBox="1"/>
          <p:nvPr/>
        </p:nvSpPr>
        <p:spPr>
          <a:xfrm>
            <a:off x="6967728" y="3931920"/>
            <a:ext cx="2514600" cy="713232"/>
          </a:xfrm>
          <a:prstGeom prst="rect">
            <a:avLst/>
          </a:prstGeom>
          <a:noFill/>
        </p:spPr>
        <p:txBody>
          <a:bodyPr wrap="square" lIns="0" tIns="0" rIns="0" bIns="0">
            <a:spAutoFit/>
          </a:bodyPr>
          <a:lstStyle/>
          <a:p>
            <a:pPr>
              <a:defRPr sz="850" b="1">
                <a:solidFill>
                  <a:srgbClr val="0F226B"/>
                </a:solidFill>
                <a:latin typeface="Arial"/>
              </a:defRPr>
            </a:pPr>
            <a:r>
              <a:t>Telegram SOS Bot</a:t>
            </a:r>
          </a:p>
          <a:p>
            <a:pPr>
              <a:defRPr sz="750">
                <a:solidFill>
                  <a:srgbClr val="0F172A"/>
                </a:solidFill>
                <a:latin typeface="Calibri"/>
              </a:defRPr>
            </a:pPr>
            <a:r>
              <a:t>Instant compliance alerts under IPC 503/506 + RBI non-compounding cap.</a:t>
            </a:r>
          </a:p>
        </p:txBody>
      </p:sp>
      <p:sp>
        <p:nvSpPr>
          <p:cNvPr id="17444" name="Oval 17443"/>
          <p:cNvSpPr/>
          <p:nvPr/>
        </p:nvSpPr>
        <p:spPr>
          <a:xfrm>
            <a:off x="6748272" y="474573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5" name="TextBox 17444"/>
          <p:cNvSpPr txBox="1"/>
          <p:nvPr/>
        </p:nvSpPr>
        <p:spPr>
          <a:xfrm>
            <a:off x="6967728" y="4709160"/>
            <a:ext cx="2514600" cy="713232"/>
          </a:xfrm>
          <a:prstGeom prst="rect">
            <a:avLst/>
          </a:prstGeom>
          <a:noFill/>
        </p:spPr>
        <p:txBody>
          <a:bodyPr wrap="square" lIns="0" tIns="0" rIns="0" bIns="0">
            <a:spAutoFit/>
          </a:bodyPr>
          <a:lstStyle/>
          <a:p>
            <a:pPr>
              <a:defRPr sz="850" b="1">
                <a:solidFill>
                  <a:srgbClr val="0F226B"/>
                </a:solidFill>
                <a:latin typeface="Arial"/>
              </a:defRPr>
            </a:pPr>
            <a:r>
              <a:t>Offline-First Room Sync</a:t>
            </a:r>
          </a:p>
          <a:p>
            <a:pPr>
              <a:defRPr sz="750">
                <a:solidFill>
                  <a:srgbClr val="0F172A"/>
                </a:solidFill>
                <a:latin typeface="Calibri"/>
              </a:defRPr>
            </a:pPr>
            <a:r>
              <a:t>Local SQLite database with automated background sync queue.</a:t>
            </a:r>
          </a:p>
        </p:txBody>
      </p:sp>
      <p:sp>
        <p:nvSpPr>
          <p:cNvPr id="17446" name="Rounded Rectangle 17445"/>
          <p:cNvSpPr/>
          <p:nvPr/>
        </p:nvSpPr>
        <p:spPr>
          <a:xfrm>
            <a:off x="9665208" y="1115568"/>
            <a:ext cx="1920240" cy="452628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47" name="Picture 17446" descr="image.png"/>
          <p:cNvPicPr>
            <a:picLocks noChangeAspect="1"/>
          </p:cNvPicPr>
          <p:nvPr/>
        </p:nvPicPr>
        <p:blipFill>
          <a:blip r:embed="rId8"/>
          <a:stretch>
            <a:fillRect/>
          </a:stretch>
        </p:blipFill>
        <p:spPr>
          <a:xfrm>
            <a:off x="9710928" y="1170432"/>
            <a:ext cx="1828800" cy="4416552"/>
          </a:xfrm>
          <a:prstGeom prst="rect">
            <a:avLst/>
          </a:prstGeom>
        </p:spPr>
      </p:pic>
      <p:sp>
        <p:nvSpPr>
          <p:cNvPr id="17448" name="Rounded Rectangle 17447"/>
          <p:cNvSpPr/>
          <p:nvPr/>
        </p:nvSpPr>
        <p:spPr>
          <a:xfrm>
            <a:off x="9756648" y="5422392"/>
            <a:ext cx="1737360" cy="18288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COLLATERAL VAULT</a:t>
            </a:r>
          </a:p>
        </p:txBody>
      </p:sp>
      <p:sp>
        <p:nvSpPr>
          <p:cNvPr id="17449" name="Rounded Rectangle 17448"/>
          <p:cNvSpPr/>
          <p:nvPr/>
        </p:nvSpPr>
        <p:spPr>
          <a:xfrm>
            <a:off x="612648" y="5760720"/>
            <a:ext cx="10972800" cy="53035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defRPr sz="850" b="1">
                <a:solidFill>
                  <a:srgbClr val="FFFFFF"/>
                </a:solidFill>
                <a:latin typeface="Calibri"/>
              </a:defRPr>
            </a:pPr>
            <a:r>
              <a:t>OVERALL VIABILITY: Loanzo is technically, operationally, economically, and legally viable. Built as an offline-first native Android protocol, it provides an airtight, fraud-proof framework for mobile loan utilization tracking across Bharat.</a:t>
            </a:r>
          </a:p>
        </p:txBody>
      </p:sp>
    </p:spTree>
    <p:extLst>
      <p:ext uri="{BB962C8B-B14F-4D97-AF65-F5344CB8AC3E}">
        <p14:creationId xmlns:p14="http://schemas.microsoft.com/office/powerpoint/2010/main" val="3753387913"/>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a:xfrm>
            <a:off x="1250065" y="1862198"/>
            <a:ext cx="9626279" cy="1143000"/>
          </a:xfrm>
        </p:spPr>
        <p:txBody>
          <a:bodyPr/>
          <a:lstStyle/>
          <a:p>
            <a:pPr eaLnBrk="1" hangingPunct="1"/>
            <a:endParaRPr lang="en-US" sz="3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5" name="Picture 4">
            <a:extLst>
              <a:ext uri="{FF2B5EF4-FFF2-40B4-BE49-F238E27FC236}">
                <a16:creationId xmlns:a16="http://schemas.microsoft.com/office/drawing/2014/main" id="{CC200EBA-8E1B-20EE-DCF9-B4D48EE258FD}"/>
              </a:ext>
            </a:extLst>
          </p:cNvPr>
          <p:cNvPicPr>
            <a:picLocks noChangeAspect="1"/>
          </p:cNvPicPr>
          <p:nvPr/>
        </p:nvPicPr>
        <p:blipFill>
          <a:blip r:embed="rId3"/>
          <a:stretch>
            <a:fillRect/>
          </a:stretch>
        </p:blipFill>
        <p:spPr>
          <a:xfrm>
            <a:off x="0" y="-34496"/>
            <a:ext cx="12250703" cy="6979306"/>
          </a:xfrm>
          <a:prstGeom prst="rect">
            <a:avLst/>
          </a:prstGeom>
        </p:spPr>
      </p:pic>
      <p:pic>
        <p:nvPicPr>
          <p:cNvPr id="3" name="Picture 2">
            <a:extLst>
              <a:ext uri="{FF2B5EF4-FFF2-40B4-BE49-F238E27FC236}">
                <a16:creationId xmlns:a16="http://schemas.microsoft.com/office/drawing/2014/main" id="{EF0B0230-A94A-0040-92FC-FC18C70DE746}"/>
              </a:ext>
            </a:extLst>
          </p:cNvPr>
          <p:cNvPicPr>
            <a:picLocks noChangeAspect="1"/>
          </p:cNvPicPr>
          <p:nvPr/>
        </p:nvPicPr>
        <p:blipFill>
          <a:blip r:embed="rId4"/>
          <a:stretch>
            <a:fillRect/>
          </a:stretch>
        </p:blipFill>
        <p:spPr>
          <a:xfrm>
            <a:off x="2" y="-34496"/>
            <a:ext cx="1581628" cy="1051621"/>
          </a:xfrm>
          <a:prstGeom prst="rect">
            <a:avLst/>
          </a:prstGeom>
        </p:spPr>
      </p:pic>
      <p:pic>
        <p:nvPicPr>
          <p:cNvPr id="9" name="Picture 8">
            <a:extLst>
              <a:ext uri="{FF2B5EF4-FFF2-40B4-BE49-F238E27FC236}">
                <a16:creationId xmlns:a16="http://schemas.microsoft.com/office/drawing/2014/main" id="{FEFE4731-21AA-BAC6-0C2A-C9A47B9FE79A}"/>
              </a:ext>
            </a:extLst>
          </p:cNvPr>
          <p:cNvPicPr>
            <a:picLocks noChangeAspect="1"/>
          </p:cNvPicPr>
          <p:nvPr/>
        </p:nvPicPr>
        <p:blipFill>
          <a:blip r:embed="rId5"/>
          <a:stretch>
            <a:fillRect/>
          </a:stretch>
        </p:blipFill>
        <p:spPr>
          <a:xfrm>
            <a:off x="10081550" y="-1"/>
            <a:ext cx="1942892" cy="868101"/>
          </a:xfrm>
          <a:prstGeom prst="rect">
            <a:avLst/>
          </a:prstGeom>
        </p:spPr>
      </p:pic>
      <p:pic>
        <p:nvPicPr>
          <p:cNvPr id="11" name="Picture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160000" y="-34496"/>
            <a:ext cx="1922895" cy="907955"/>
          </a:xfrm>
          <a:prstGeom prst="rect">
            <a:avLst/>
          </a:prstGeom>
        </p:spPr>
      </p:pic>
      <p:pic>
        <p:nvPicPr>
          <p:cNvPr id="14" name="Picture 13">
            <a:extLst>
              <a:ext uri="{FF2B5EF4-FFF2-40B4-BE49-F238E27FC236}">
                <a16:creationId xmlns:a16="http://schemas.microsoft.com/office/drawing/2014/main" id="{2C4CC1CE-9325-B9DC-D331-4516F47DF4D4}"/>
              </a:ext>
            </a:extLst>
          </p:cNvPr>
          <p:cNvPicPr>
            <a:picLocks noChangeAspect="1"/>
          </p:cNvPicPr>
          <p:nvPr/>
        </p:nvPicPr>
        <p:blipFill>
          <a:blip r:embed="rId7"/>
          <a:stretch>
            <a:fillRect/>
          </a:stretch>
        </p:blipFill>
        <p:spPr>
          <a:xfrm>
            <a:off x="2" y="0"/>
            <a:ext cx="1446833" cy="1017125"/>
          </a:xfrm>
          <a:prstGeom prst="rect">
            <a:avLst/>
          </a:prstGeom>
        </p:spPr>
      </p:pic>
      <p:sp>
        <p:nvSpPr>
          <p:cNvPr id="17410" name="Rectangle 1740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612648" y="1115568"/>
            <a:ext cx="4160520" cy="452628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731520" y="1207008"/>
            <a:ext cx="3922776"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1. POTENTIAL IMPACT ON AUDIENCE</a:t>
            </a:r>
          </a:p>
        </p:txBody>
      </p:sp>
      <p:sp>
        <p:nvSpPr>
          <p:cNvPr id="17413" name="Oval 17412"/>
          <p:cNvSpPr/>
          <p:nvPr/>
        </p:nvSpPr>
        <p:spPr>
          <a:xfrm>
            <a:off x="731520" y="1700784"/>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969264" y="1664208"/>
            <a:ext cx="3794760" cy="896112"/>
          </a:xfrm>
          <a:prstGeom prst="rect">
            <a:avLst/>
          </a:prstGeom>
          <a:noFill/>
        </p:spPr>
        <p:txBody>
          <a:bodyPr wrap="square" lIns="0" tIns="0" rIns="0" bIns="0">
            <a:spAutoFit/>
          </a:bodyPr>
          <a:lstStyle/>
          <a:p>
            <a:pPr>
              <a:defRPr sz="850" b="1">
                <a:solidFill>
                  <a:srgbClr val="0F226B"/>
                </a:solidFill>
                <a:latin typeface="Arial"/>
              </a:defRPr>
            </a:pPr>
            <a:r>
              <a:t>Empowers Rural &amp; MSME Borrowers</a:t>
            </a:r>
          </a:p>
          <a:p>
            <a:pPr>
              <a:defRPr sz="750">
                <a:solidFill>
                  <a:srgbClr val="0F172A"/>
                </a:solidFill>
                <a:latin typeface="Calibri"/>
              </a:defRPr>
            </a:pPr>
            <a:r>
              <a:t>Unlocks institutional-rate liquidity for credit-invisible artisans, weavers, and farmers by collateralizing productive non-gold assets (machinery, crops, cattle).</a:t>
            </a:r>
          </a:p>
        </p:txBody>
      </p:sp>
      <p:sp>
        <p:nvSpPr>
          <p:cNvPr id="17415" name="Oval 17414"/>
          <p:cNvSpPr/>
          <p:nvPr/>
        </p:nvSpPr>
        <p:spPr>
          <a:xfrm>
            <a:off x="731520" y="2670048"/>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969264" y="2633472"/>
            <a:ext cx="3794760" cy="896112"/>
          </a:xfrm>
          <a:prstGeom prst="rect">
            <a:avLst/>
          </a:prstGeom>
          <a:noFill/>
        </p:spPr>
        <p:txBody>
          <a:bodyPr wrap="square" lIns="0" tIns="0" rIns="0" bIns="0">
            <a:spAutoFit/>
          </a:bodyPr>
          <a:lstStyle/>
          <a:p>
            <a:pPr>
              <a:defRPr sz="850" b="1">
                <a:solidFill>
                  <a:srgbClr val="0F226B"/>
                </a:solidFill>
                <a:latin typeface="Arial"/>
              </a:defRPr>
            </a:pPr>
            <a:r>
              <a:t>Eliminates 100% of Fund Diversion</a:t>
            </a:r>
          </a:p>
          <a:p>
            <a:pPr>
              <a:defRPr sz="750">
                <a:solidFill>
                  <a:srgbClr val="0F172A"/>
                </a:solidFill>
                <a:latin typeface="Calibri"/>
              </a:defRPr>
            </a:pPr>
            <a:r>
              <a:t>Guarantees that borrowed funds are deployed exclusively into sanctioned business inventory and equipment via direct supplier UPI disbursements.</a:t>
            </a:r>
          </a:p>
        </p:txBody>
      </p:sp>
      <p:sp>
        <p:nvSpPr>
          <p:cNvPr id="17417" name="Oval 17416"/>
          <p:cNvSpPr/>
          <p:nvPr/>
        </p:nvSpPr>
        <p:spPr>
          <a:xfrm>
            <a:off x="731520" y="3639312"/>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969264" y="3602736"/>
            <a:ext cx="3794760" cy="896112"/>
          </a:xfrm>
          <a:prstGeom prst="rect">
            <a:avLst/>
          </a:prstGeom>
          <a:noFill/>
        </p:spPr>
        <p:txBody>
          <a:bodyPr wrap="square" lIns="0" tIns="0" rIns="0" bIns="0">
            <a:spAutoFit/>
          </a:bodyPr>
          <a:lstStyle/>
          <a:p>
            <a:pPr>
              <a:defRPr sz="850" b="1">
                <a:solidFill>
                  <a:srgbClr val="0F226B"/>
                </a:solidFill>
                <a:latin typeface="Arial"/>
              </a:defRPr>
            </a:pPr>
            <a:r>
              <a:t>Eradicates Predatory Debt Traps</a:t>
            </a:r>
          </a:p>
          <a:p>
            <a:pPr>
              <a:defRPr sz="750">
                <a:solidFill>
                  <a:srgbClr val="0F172A"/>
                </a:solidFill>
                <a:latin typeface="Calibri"/>
              </a:defRPr>
            </a:pPr>
            <a:r>
              <a:t>Replaces usurious moneylenders charging 60% to 120% APR with competitive 12% to 18% market syndication and strict non-compounding penalty caps.</a:t>
            </a:r>
          </a:p>
        </p:txBody>
      </p:sp>
      <p:sp>
        <p:nvSpPr>
          <p:cNvPr id="17419" name="Oval 17418"/>
          <p:cNvSpPr/>
          <p:nvPr/>
        </p:nvSpPr>
        <p:spPr>
          <a:xfrm>
            <a:off x="731520" y="4608576"/>
            <a:ext cx="182880" cy="182880"/>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969264" y="4572000"/>
            <a:ext cx="3794760" cy="896112"/>
          </a:xfrm>
          <a:prstGeom prst="rect">
            <a:avLst/>
          </a:prstGeom>
          <a:noFill/>
        </p:spPr>
        <p:txBody>
          <a:bodyPr wrap="square" lIns="0" tIns="0" rIns="0" bIns="0">
            <a:spAutoFit/>
          </a:bodyPr>
          <a:lstStyle/>
          <a:p>
            <a:pPr>
              <a:defRPr sz="850" b="1">
                <a:solidFill>
                  <a:srgbClr val="0F226B"/>
                </a:solidFill>
                <a:latin typeface="Arial"/>
              </a:defRPr>
            </a:pPr>
            <a:r>
              <a:t>Builds Formal Credit Profiles</a:t>
            </a:r>
          </a:p>
          <a:p>
            <a:pPr>
              <a:defRPr sz="750">
                <a:solidFill>
                  <a:srgbClr val="0F172A"/>
                </a:solidFill>
                <a:latin typeface="Calibri"/>
              </a:defRPr>
            </a:pPr>
            <a:r>
              <a:t>Transparent UPI repayment logs and tamper-proof Golden NOCs create verified digital credit footprints for unbanked borrowers to enter formal banking.</a:t>
            </a:r>
          </a:p>
        </p:txBody>
      </p:sp>
      <p:sp>
        <p:nvSpPr>
          <p:cNvPr id="17421" name="Rounded Rectangle 17420"/>
          <p:cNvSpPr/>
          <p:nvPr/>
        </p:nvSpPr>
        <p:spPr>
          <a:xfrm>
            <a:off x="4956048" y="1115568"/>
            <a:ext cx="2240280" cy="4526280"/>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2" name="Picture 17421" descr="image.png"/>
          <p:cNvPicPr>
            <a:picLocks noChangeAspect="1"/>
          </p:cNvPicPr>
          <p:nvPr/>
        </p:nvPicPr>
        <p:blipFill>
          <a:blip r:embed="rId8"/>
          <a:stretch>
            <a:fillRect/>
          </a:stretch>
        </p:blipFill>
        <p:spPr>
          <a:xfrm>
            <a:off x="5001768" y="1170432"/>
            <a:ext cx="2148840" cy="4416552"/>
          </a:xfrm>
          <a:prstGeom prst="rect">
            <a:avLst/>
          </a:prstGeom>
        </p:spPr>
      </p:pic>
      <p:sp>
        <p:nvSpPr>
          <p:cNvPr id="17423" name="Rounded Rectangle 17422"/>
          <p:cNvSpPr/>
          <p:nvPr/>
        </p:nvSpPr>
        <p:spPr>
          <a:xfrm>
            <a:off x="5047488" y="5422392"/>
            <a:ext cx="2057400" cy="18288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STATUTORY PROMISSORY NOTE</a:t>
            </a:r>
          </a:p>
        </p:txBody>
      </p:sp>
      <p:sp>
        <p:nvSpPr>
          <p:cNvPr id="17424" name="Rounded Rectangle 17423"/>
          <p:cNvSpPr/>
          <p:nvPr/>
        </p:nvSpPr>
        <p:spPr>
          <a:xfrm>
            <a:off x="7379208" y="1115568"/>
            <a:ext cx="4160520" cy="452628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Rounded Rectangle 17424"/>
          <p:cNvSpPr/>
          <p:nvPr/>
        </p:nvSpPr>
        <p:spPr>
          <a:xfrm>
            <a:off x="7498079" y="1207008"/>
            <a:ext cx="3922776"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2. MULTI-DIMENSIONAL BENEFITS</a:t>
            </a:r>
          </a:p>
        </p:txBody>
      </p:sp>
      <p:sp>
        <p:nvSpPr>
          <p:cNvPr id="17426" name="Oval 17425"/>
          <p:cNvSpPr/>
          <p:nvPr/>
        </p:nvSpPr>
        <p:spPr>
          <a:xfrm>
            <a:off x="7498079" y="1700784"/>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TextBox 17426"/>
          <p:cNvSpPr txBox="1"/>
          <p:nvPr/>
        </p:nvSpPr>
        <p:spPr>
          <a:xfrm>
            <a:off x="7735824" y="1664208"/>
            <a:ext cx="3794760" cy="896112"/>
          </a:xfrm>
          <a:prstGeom prst="rect">
            <a:avLst/>
          </a:prstGeom>
          <a:noFill/>
        </p:spPr>
        <p:txBody>
          <a:bodyPr wrap="square" lIns="0" tIns="0" rIns="0" bIns="0">
            <a:spAutoFit/>
          </a:bodyPr>
          <a:lstStyle/>
          <a:p>
            <a:pPr>
              <a:defRPr sz="850" b="1">
                <a:solidFill>
                  <a:srgbClr val="0F766E"/>
                </a:solidFill>
                <a:latin typeface="Arial"/>
              </a:defRPr>
            </a:pPr>
            <a:r>
              <a:t>Social Benefits &amp; Dignity</a:t>
            </a:r>
          </a:p>
          <a:p>
            <a:pPr>
              <a:defRPr sz="750">
                <a:solidFill>
                  <a:srgbClr val="0F172A"/>
                </a:solidFill>
                <a:latin typeface="Calibri"/>
              </a:defRPr>
            </a:pPr>
            <a:r>
              <a:t>Fosters financial inclusion across Tier-2/3 India. Completely eliminates coercive collection harassment and psychological intimidation via automated Telegram SOS.</a:t>
            </a:r>
          </a:p>
        </p:txBody>
      </p:sp>
      <p:sp>
        <p:nvSpPr>
          <p:cNvPr id="17428" name="Oval 17427"/>
          <p:cNvSpPr/>
          <p:nvPr/>
        </p:nvSpPr>
        <p:spPr>
          <a:xfrm>
            <a:off x="7498079" y="2670048"/>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7735824" y="2633472"/>
            <a:ext cx="3794760" cy="896112"/>
          </a:xfrm>
          <a:prstGeom prst="rect">
            <a:avLst/>
          </a:prstGeom>
          <a:noFill/>
        </p:spPr>
        <p:txBody>
          <a:bodyPr wrap="square" lIns="0" tIns="0" rIns="0" bIns="0">
            <a:spAutoFit/>
          </a:bodyPr>
          <a:lstStyle/>
          <a:p>
            <a:pPr>
              <a:defRPr sz="850" b="1">
                <a:solidFill>
                  <a:srgbClr val="0F766E"/>
                </a:solidFill>
                <a:latin typeface="Arial"/>
              </a:defRPr>
            </a:pPr>
            <a:r>
              <a:t>Economic Benefits &amp; MSME Growth</a:t>
            </a:r>
          </a:p>
          <a:p>
            <a:pPr>
              <a:defRPr sz="750">
                <a:solidFill>
                  <a:srgbClr val="0F172A"/>
                </a:solidFill>
                <a:latin typeface="Calibri"/>
              </a:defRPr>
            </a:pPr>
            <a:r>
              <a:t>Accelerates rural MSME gross value add (GVA) by ensuring working capital is directly deployed into raw materials, loom repairs, and crop cultivation.</a:t>
            </a:r>
          </a:p>
        </p:txBody>
      </p:sp>
      <p:sp>
        <p:nvSpPr>
          <p:cNvPr id="17430" name="Oval 17429"/>
          <p:cNvSpPr/>
          <p:nvPr/>
        </p:nvSpPr>
        <p:spPr>
          <a:xfrm>
            <a:off x="7498079" y="3639312"/>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TextBox 17430"/>
          <p:cNvSpPr txBox="1"/>
          <p:nvPr/>
        </p:nvSpPr>
        <p:spPr>
          <a:xfrm>
            <a:off x="7735824" y="3602736"/>
            <a:ext cx="3794760" cy="896112"/>
          </a:xfrm>
          <a:prstGeom prst="rect">
            <a:avLst/>
          </a:prstGeom>
          <a:noFill/>
        </p:spPr>
        <p:txBody>
          <a:bodyPr wrap="square" lIns="0" tIns="0" rIns="0" bIns="0">
            <a:spAutoFit/>
          </a:bodyPr>
          <a:lstStyle/>
          <a:p>
            <a:pPr>
              <a:defRPr sz="850" b="1">
                <a:solidFill>
                  <a:srgbClr val="0F766E"/>
                </a:solidFill>
                <a:latin typeface="Arial"/>
              </a:defRPr>
            </a:pPr>
            <a:r>
              <a:t>Legal Enforceability Benefits</a:t>
            </a:r>
          </a:p>
          <a:p>
            <a:pPr>
              <a:defRPr sz="750">
                <a:solidFill>
                  <a:srgbClr val="0F172A"/>
                </a:solidFill>
                <a:latin typeface="Calibri"/>
              </a:defRPr>
            </a:pPr>
            <a:r>
              <a:t>Transforms informal verbal loans into legally binding Negotiable Promissory Notes under Sec 4 NI Act 1881, eligible for Order 37 CPC summary recovery.</a:t>
            </a:r>
          </a:p>
        </p:txBody>
      </p:sp>
      <p:sp>
        <p:nvSpPr>
          <p:cNvPr id="17432" name="Oval 17431"/>
          <p:cNvSpPr/>
          <p:nvPr/>
        </p:nvSpPr>
        <p:spPr>
          <a:xfrm>
            <a:off x="7498079" y="4608576"/>
            <a:ext cx="182880" cy="182880"/>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7735824" y="4572000"/>
            <a:ext cx="3794760" cy="896112"/>
          </a:xfrm>
          <a:prstGeom prst="rect">
            <a:avLst/>
          </a:prstGeom>
          <a:noFill/>
        </p:spPr>
        <p:txBody>
          <a:bodyPr wrap="square" lIns="0" tIns="0" rIns="0" bIns="0">
            <a:spAutoFit/>
          </a:bodyPr>
          <a:lstStyle/>
          <a:p>
            <a:pPr>
              <a:defRPr sz="850" b="1">
                <a:solidFill>
                  <a:srgbClr val="0F766E"/>
                </a:solidFill>
                <a:latin typeface="Arial"/>
              </a:defRPr>
            </a:pPr>
            <a:r>
              <a:t>Technological Benefits (India Stack)</a:t>
            </a:r>
          </a:p>
          <a:p>
            <a:pPr>
              <a:defRPr sz="750">
                <a:solidFill>
                  <a:srgbClr val="0F172A"/>
                </a:solidFill>
                <a:latin typeface="Calibri"/>
              </a:defRPr>
            </a:pPr>
            <a:r>
              <a:t>Provides an open, modular Android architecture designed for seamless national integration with Account Aggregator (AA) and ONDC Financial Services rails.</a:t>
            </a:r>
          </a:p>
        </p:txBody>
      </p:sp>
      <p:sp>
        <p:nvSpPr>
          <p:cNvPr id="17434" name="Rounded Rectangle 17433"/>
          <p:cNvSpPr/>
          <p:nvPr/>
        </p:nvSpPr>
        <p:spPr>
          <a:xfrm>
            <a:off x="612648" y="5760720"/>
            <a:ext cx="10972800" cy="530352"/>
          </a:xfrm>
          <a:prstGeom prst="roundRect">
            <a:avLst/>
          </a:prstGeom>
          <a:solidFill>
            <a:srgbClr val="0F226B"/>
          </a:solidFill>
          <a:ln w="12700">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defRPr sz="900" b="1">
                <a:solidFill>
                  <a:srgbClr val="FFFFFF"/>
                </a:solidFill>
                <a:latin typeface="Calibri"/>
              </a:defRPr>
            </a:pPr>
            <a:r>
              <a:t>OVERALL IMPACT: Loanzo directly advances national financial inclusion and digital governance, delivering measurable transparency, 0% fund misuse, and dignified economic empowerment to Bharat's micro-entrepreneurs.</a:t>
            </a:r>
          </a:p>
        </p:txBody>
      </p:sp>
    </p:spTree>
    <p:extLst>
      <p:ext uri="{BB962C8B-B14F-4D97-AF65-F5344CB8AC3E}">
        <p14:creationId xmlns:p14="http://schemas.microsoft.com/office/powerpoint/2010/main" val="2997144140"/>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p:cNvSpPr>
            <a:spLocks noGrp="1"/>
          </p:cNvSpPr>
          <p:nvPr>
            <p:ph type="title"/>
          </p:nvPr>
        </p:nvSpPr>
        <p:spPr>
          <a:xfrm>
            <a:off x="609600" y="254371"/>
            <a:ext cx="10972800" cy="1143000"/>
          </a:xfrm>
        </p:spPr>
        <p:txBody>
          <a:bodyPr/>
          <a:lstStyle/>
          <a:p>
            <a:pPr eaLnBrk="1" hangingPunct="1"/>
            <a:endParaRPr lang="en-US" sz="3600" b="1" dirty="0">
              <a:latin typeface="Times New Roman" panose="02020603050405020304" pitchFamily="18" charset="0"/>
              <a:ea typeface="ＭＳ Ｐゴシック" pitchFamily="1" charset="-128"/>
              <a:cs typeface="Times New Roman" panose="02020603050405020304" pitchFamily="18" charset="0"/>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a:t>Your Team Name</a:t>
            </a:r>
            <a:endParaRPr lang="en-IN" dirty="0"/>
          </a:p>
        </p:txBody>
      </p:sp>
      <p:pic>
        <p:nvPicPr>
          <p:cNvPr id="13" name="Picture 12">
            <a:extLst>
              <a:ext uri="{FF2B5EF4-FFF2-40B4-BE49-F238E27FC236}">
                <a16:creationId xmlns:a16="http://schemas.microsoft.com/office/drawing/2014/main" id="{872E6438-B8DB-A5FC-9FB4-357507849773}"/>
              </a:ext>
            </a:extLst>
          </p:cNvPr>
          <p:cNvPicPr>
            <a:picLocks noChangeAspect="1"/>
          </p:cNvPicPr>
          <p:nvPr/>
        </p:nvPicPr>
        <p:blipFill>
          <a:blip r:embed="rId3"/>
          <a:stretch>
            <a:fillRect/>
          </a:stretch>
        </p:blipFill>
        <p:spPr>
          <a:xfrm>
            <a:off x="10328412" y="117850"/>
            <a:ext cx="1863588" cy="1143000"/>
          </a:xfrm>
          <a:prstGeom prst="rect">
            <a:avLst/>
          </a:prstGeom>
        </p:spPr>
      </p:pic>
      <p:pic>
        <p:nvPicPr>
          <p:cNvPr id="8" name="Picture 7">
            <a:extLst>
              <a:ext uri="{FF2B5EF4-FFF2-40B4-BE49-F238E27FC236}">
                <a16:creationId xmlns:a16="http://schemas.microsoft.com/office/drawing/2014/main" id="{439E0F5D-82ED-2FE4-43BE-4850CCDFDA36}"/>
              </a:ext>
            </a:extLst>
          </p:cNvPr>
          <p:cNvPicPr>
            <a:picLocks noChangeAspect="1"/>
          </p:cNvPicPr>
          <p:nvPr/>
        </p:nvPicPr>
        <p:blipFill>
          <a:blip r:embed="rId4"/>
          <a:stretch>
            <a:fillRect/>
          </a:stretch>
        </p:blipFill>
        <p:spPr>
          <a:xfrm>
            <a:off x="-4102" y="0"/>
            <a:ext cx="12185522" cy="6858000"/>
          </a:xfrm>
          <a:prstGeom prst="rect">
            <a:avLst/>
          </a:prstGeom>
        </p:spPr>
      </p:pic>
      <p:pic>
        <p:nvPicPr>
          <p:cNvPr id="4" name="Picture 3">
            <a:extLst>
              <a:ext uri="{FF2B5EF4-FFF2-40B4-BE49-F238E27FC236}">
                <a16:creationId xmlns:a16="http://schemas.microsoft.com/office/drawing/2014/main" id="{DB1010BA-11BA-F733-1B5C-D465AFDB8334}"/>
              </a:ext>
            </a:extLst>
          </p:cNvPr>
          <p:cNvPicPr>
            <a:picLocks noChangeAspect="1"/>
          </p:cNvPicPr>
          <p:nvPr/>
        </p:nvPicPr>
        <p:blipFill>
          <a:blip r:embed="rId5"/>
          <a:stretch>
            <a:fillRect/>
          </a:stretch>
        </p:blipFill>
        <p:spPr>
          <a:xfrm>
            <a:off x="10580" y="-5288"/>
            <a:ext cx="1481559" cy="1160382"/>
          </a:xfrm>
          <a:prstGeom prst="rect">
            <a:avLst/>
          </a:prstGeom>
        </p:spPr>
      </p:pic>
      <p:pic>
        <p:nvPicPr>
          <p:cNvPr id="15" name="Picture 14">
            <a:extLst>
              <a:ext uri="{FF2B5EF4-FFF2-40B4-BE49-F238E27FC236}">
                <a16:creationId xmlns:a16="http://schemas.microsoft.com/office/drawing/2014/main" id="{9B63A63A-8842-7AF8-FFC2-7EDEF99FFD87}"/>
              </a:ext>
            </a:extLst>
          </p:cNvPr>
          <p:cNvPicPr>
            <a:picLocks noChangeAspect="1"/>
          </p:cNvPicPr>
          <p:nvPr/>
        </p:nvPicPr>
        <p:blipFill>
          <a:blip r:embed="rId6"/>
          <a:stretch>
            <a:fillRect/>
          </a:stretch>
        </p:blipFill>
        <p:spPr>
          <a:xfrm>
            <a:off x="10160000" y="92757"/>
            <a:ext cx="1863588" cy="1062337"/>
          </a:xfrm>
          <a:prstGeom prst="rect">
            <a:avLst/>
          </a:prstGeom>
        </p:spPr>
      </p:pic>
      <p:pic>
        <p:nvPicPr>
          <p:cNvPr id="12" name="Picture 11"/>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264173" y="0"/>
            <a:ext cx="1813430" cy="856268"/>
          </a:xfrm>
          <a:prstGeom prst="rect">
            <a:avLst/>
          </a:prstGeom>
        </p:spPr>
      </p:pic>
      <p:sp>
        <p:nvSpPr>
          <p:cNvPr id="17410" name="Rectangle 17409"/>
          <p:cNvSpPr/>
          <p:nvPr/>
        </p:nvSpPr>
        <p:spPr>
          <a:xfrm>
            <a:off x="0" y="987552"/>
            <a:ext cx="12191695" cy="587044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1" name="Rounded Rectangle 17410"/>
          <p:cNvSpPr/>
          <p:nvPr/>
        </p:nvSpPr>
        <p:spPr>
          <a:xfrm>
            <a:off x="612648" y="1115568"/>
            <a:ext cx="4160520" cy="5074920"/>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731520" y="1207008"/>
            <a:ext cx="3922776" cy="274320"/>
          </a:xfrm>
          <a:prstGeom prst="roundRect">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RESEARCH WORK &amp; EMPIRICAL FINDINGS</a:t>
            </a:r>
          </a:p>
        </p:txBody>
      </p:sp>
      <p:sp>
        <p:nvSpPr>
          <p:cNvPr id="17413" name="Oval 17412"/>
          <p:cNvSpPr/>
          <p:nvPr/>
        </p:nvSpPr>
        <p:spPr>
          <a:xfrm>
            <a:off x="731520" y="1636776"/>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TextBox 17413"/>
          <p:cNvSpPr txBox="1"/>
          <p:nvPr/>
        </p:nvSpPr>
        <p:spPr>
          <a:xfrm>
            <a:off x="969264" y="1600200"/>
            <a:ext cx="3794760" cy="841248"/>
          </a:xfrm>
          <a:prstGeom prst="rect">
            <a:avLst/>
          </a:prstGeom>
          <a:noFill/>
        </p:spPr>
        <p:txBody>
          <a:bodyPr wrap="square" lIns="0" tIns="0" rIns="0" bIns="0">
            <a:spAutoFit/>
          </a:bodyPr>
          <a:lstStyle/>
          <a:p>
            <a:pPr>
              <a:defRPr sz="850" b="1">
                <a:solidFill>
                  <a:srgbClr val="0F226B"/>
                </a:solidFill>
                <a:latin typeface="Arial"/>
              </a:defRPr>
            </a:pPr>
            <a:r>
              <a:t>Informal Credit Gap Field Analysis</a:t>
            </a:r>
          </a:p>
          <a:p>
            <a:pPr>
              <a:defRPr sz="750">
                <a:solidFill>
                  <a:srgbClr val="0F172A"/>
                </a:solidFill>
                <a:latin typeface="Calibri"/>
              </a:defRPr>
            </a:pPr>
            <a:r>
              <a:t>Studied India's $350B unorganized credit market and the 85% reliance of rural micro-enterprises on moneylenders charging 36% to 120% APR with illegal compounding.</a:t>
            </a:r>
          </a:p>
        </p:txBody>
      </p:sp>
      <p:sp>
        <p:nvSpPr>
          <p:cNvPr id="17415" name="Oval 17414"/>
          <p:cNvSpPr/>
          <p:nvPr/>
        </p:nvSpPr>
        <p:spPr>
          <a:xfrm>
            <a:off x="731520" y="2532888"/>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969264" y="2496312"/>
            <a:ext cx="3794760" cy="841248"/>
          </a:xfrm>
          <a:prstGeom prst="rect">
            <a:avLst/>
          </a:prstGeom>
          <a:noFill/>
        </p:spPr>
        <p:txBody>
          <a:bodyPr wrap="square" lIns="0" tIns="0" rIns="0" bIns="0">
            <a:spAutoFit/>
          </a:bodyPr>
          <a:lstStyle/>
          <a:p>
            <a:pPr>
              <a:defRPr sz="850" b="1">
                <a:solidFill>
                  <a:srgbClr val="0F226B"/>
                </a:solidFill>
                <a:latin typeface="Arial"/>
              </a:defRPr>
            </a:pPr>
            <a:r>
              <a:t>48% Loan Diversion Root-Cause Study</a:t>
            </a:r>
          </a:p>
          <a:p>
            <a:pPr>
              <a:defRPr sz="750">
                <a:solidFill>
                  <a:srgbClr val="0F172A"/>
                </a:solidFill>
                <a:latin typeface="Calibri"/>
              </a:defRPr>
            </a:pPr>
            <a:r>
              <a:t>Empirical analysis establishing that lump-sum cash disbursements trigger diversion into speculative uses, proving the necessity of supplier-directed milestone tranches.</a:t>
            </a:r>
          </a:p>
        </p:txBody>
      </p:sp>
      <p:sp>
        <p:nvSpPr>
          <p:cNvPr id="17417" name="Oval 17416"/>
          <p:cNvSpPr/>
          <p:nvPr/>
        </p:nvSpPr>
        <p:spPr>
          <a:xfrm>
            <a:off x="731520" y="3429000"/>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TextBox 17417"/>
          <p:cNvSpPr txBox="1"/>
          <p:nvPr/>
        </p:nvSpPr>
        <p:spPr>
          <a:xfrm>
            <a:off x="969264" y="3392424"/>
            <a:ext cx="3794760" cy="841248"/>
          </a:xfrm>
          <a:prstGeom prst="rect">
            <a:avLst/>
          </a:prstGeom>
          <a:noFill/>
        </p:spPr>
        <p:txBody>
          <a:bodyPr wrap="square" lIns="0" tIns="0" rIns="0" bIns="0">
            <a:spAutoFit/>
          </a:bodyPr>
          <a:lstStyle/>
          <a:p>
            <a:pPr>
              <a:defRPr sz="850" b="1">
                <a:solidFill>
                  <a:srgbClr val="0F226B"/>
                </a:solidFill>
                <a:latin typeface="Arial"/>
              </a:defRPr>
            </a:pPr>
            <a:r>
              <a:t>Multi-Asset Volatility &amp; Haircut Modeling</a:t>
            </a:r>
          </a:p>
          <a:p>
            <a:pPr>
              <a:defRPr sz="750">
                <a:solidFill>
                  <a:srgbClr val="0F172A"/>
                </a:solidFill>
                <a:latin typeface="Calibri"/>
              </a:defRPr>
            </a:pPr>
            <a:r>
              <a:t>Algorithmic formulation of volatile asset liquidation margins (Gold 75%, Silver 65%, IT 50%, WHR 60%, Livestock 40%) under stress-tested market conditions.</a:t>
            </a:r>
          </a:p>
        </p:txBody>
      </p:sp>
      <p:sp>
        <p:nvSpPr>
          <p:cNvPr id="17419" name="Oval 17418"/>
          <p:cNvSpPr/>
          <p:nvPr/>
        </p:nvSpPr>
        <p:spPr>
          <a:xfrm>
            <a:off x="731520" y="4325112"/>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969264" y="4288536"/>
            <a:ext cx="3794760" cy="841248"/>
          </a:xfrm>
          <a:prstGeom prst="rect">
            <a:avLst/>
          </a:prstGeom>
          <a:noFill/>
        </p:spPr>
        <p:txBody>
          <a:bodyPr wrap="square" lIns="0" tIns="0" rIns="0" bIns="0">
            <a:spAutoFit/>
          </a:bodyPr>
          <a:lstStyle/>
          <a:p>
            <a:pPr>
              <a:defRPr sz="850" b="1">
                <a:solidFill>
                  <a:srgbClr val="0F226B"/>
                </a:solidFill>
                <a:latin typeface="Arial"/>
              </a:defRPr>
            </a:pPr>
            <a:r>
              <a:t>Hardware Keystore Benchmarks</a:t>
            </a:r>
          </a:p>
          <a:p>
            <a:pPr>
              <a:defRPr sz="750">
                <a:solidFill>
                  <a:srgbClr val="0F172A"/>
                </a:solidFill>
                <a:latin typeface="Calibri"/>
              </a:defRPr>
            </a:pPr>
            <a:r>
              <a:t>Benchmarked Android StrongBox Keystore vs. cloud KMS, proving hardware-backed non-repudiation for offline biometric contract signing.</a:t>
            </a:r>
          </a:p>
        </p:txBody>
      </p:sp>
      <p:sp>
        <p:nvSpPr>
          <p:cNvPr id="17421" name="Oval 17420"/>
          <p:cNvSpPr/>
          <p:nvPr/>
        </p:nvSpPr>
        <p:spPr>
          <a:xfrm>
            <a:off x="731520" y="5221224"/>
            <a:ext cx="164592" cy="164592"/>
          </a:xfrm>
          <a:prstGeom prst="ellipse">
            <a:avLst/>
          </a:prstGeom>
          <a:solidFill>
            <a:srgbClr val="0F226B"/>
          </a:solidFill>
          <a:ln>
            <a:solidFill>
              <a:srgbClr val="0F22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TextBox 17421"/>
          <p:cNvSpPr txBox="1"/>
          <p:nvPr/>
        </p:nvSpPr>
        <p:spPr>
          <a:xfrm>
            <a:off x="969264" y="5184648"/>
            <a:ext cx="3794760" cy="841248"/>
          </a:xfrm>
          <a:prstGeom prst="rect">
            <a:avLst/>
          </a:prstGeom>
          <a:noFill/>
        </p:spPr>
        <p:txBody>
          <a:bodyPr wrap="square" lIns="0" tIns="0" rIns="0" bIns="0">
            <a:spAutoFit/>
          </a:bodyPr>
          <a:lstStyle/>
          <a:p>
            <a:pPr>
              <a:defRPr sz="850" b="1">
                <a:solidFill>
                  <a:srgbClr val="0F226B"/>
                </a:solidFill>
                <a:latin typeface="Arial"/>
              </a:defRPr>
            </a:pPr>
            <a:r>
              <a:t>MSME Field Interviews in Bharat</a:t>
            </a:r>
          </a:p>
          <a:p>
            <a:pPr>
              <a:defRPr sz="750">
                <a:solidFill>
                  <a:srgbClr val="0F172A"/>
                </a:solidFill>
                <a:latin typeface="Calibri"/>
              </a:defRPr>
            </a:pPr>
            <a:r>
              <a:t>Direct user requirements gathered from Surat textile weavers and Punjab agricultural producers validating mobile milestone tracking workflows.</a:t>
            </a:r>
          </a:p>
        </p:txBody>
      </p:sp>
      <p:sp>
        <p:nvSpPr>
          <p:cNvPr id="17423" name="Rounded Rectangle 17422"/>
          <p:cNvSpPr/>
          <p:nvPr/>
        </p:nvSpPr>
        <p:spPr>
          <a:xfrm>
            <a:off x="4956048" y="1115568"/>
            <a:ext cx="2240280" cy="2450592"/>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4" name="Picture 17423" descr="image.png"/>
          <p:cNvPicPr>
            <a:picLocks noChangeAspect="1"/>
          </p:cNvPicPr>
          <p:nvPr/>
        </p:nvPicPr>
        <p:blipFill>
          <a:blip r:embed="rId8"/>
          <a:stretch>
            <a:fillRect/>
          </a:stretch>
        </p:blipFill>
        <p:spPr>
          <a:xfrm>
            <a:off x="5001768" y="1170432"/>
            <a:ext cx="2148840" cy="2340864"/>
          </a:xfrm>
          <a:prstGeom prst="rect">
            <a:avLst/>
          </a:prstGeom>
        </p:spPr>
      </p:pic>
      <p:sp>
        <p:nvSpPr>
          <p:cNvPr id="17425" name="Rounded Rectangle 17424"/>
          <p:cNvSpPr/>
          <p:nvPr/>
        </p:nvSpPr>
        <p:spPr>
          <a:xfrm>
            <a:off x="5047488" y="3346704"/>
            <a:ext cx="2057400" cy="18288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DYNAMIC UPI QR REPAY</a:t>
            </a:r>
          </a:p>
        </p:txBody>
      </p:sp>
      <p:sp>
        <p:nvSpPr>
          <p:cNvPr id="17426" name="Rounded Rectangle 17425"/>
          <p:cNvSpPr/>
          <p:nvPr/>
        </p:nvSpPr>
        <p:spPr>
          <a:xfrm>
            <a:off x="4956048" y="3694176"/>
            <a:ext cx="2240280" cy="2450592"/>
          </a:xfrm>
          <a:prstGeom prst="roundRect">
            <a:avLst/>
          </a:prstGeom>
          <a:solidFill>
            <a:srgbClr val="0F172A"/>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27" name="Picture 17426" descr="image.png"/>
          <p:cNvPicPr>
            <a:picLocks noChangeAspect="1"/>
          </p:cNvPicPr>
          <p:nvPr/>
        </p:nvPicPr>
        <p:blipFill>
          <a:blip r:embed="rId9"/>
          <a:stretch>
            <a:fillRect/>
          </a:stretch>
        </p:blipFill>
        <p:spPr>
          <a:xfrm>
            <a:off x="5001768" y="3749040"/>
            <a:ext cx="2148840" cy="2340864"/>
          </a:xfrm>
          <a:prstGeom prst="rect">
            <a:avLst/>
          </a:prstGeom>
        </p:spPr>
      </p:pic>
      <p:sp>
        <p:nvSpPr>
          <p:cNvPr id="17428" name="Rounded Rectangle 17427"/>
          <p:cNvSpPr/>
          <p:nvPr/>
        </p:nvSpPr>
        <p:spPr>
          <a:xfrm>
            <a:off x="5047488" y="5925312"/>
            <a:ext cx="2057400" cy="182880"/>
          </a:xfrm>
          <a:prstGeom prst="round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650" b="1">
                <a:solidFill>
                  <a:srgbClr val="38BDF8"/>
                </a:solidFill>
                <a:latin typeface="Arial"/>
              </a:defRPr>
            </a:pPr>
            <a:r>
              <a:t>TELEGRAM SOS ALERTS</a:t>
            </a:r>
          </a:p>
        </p:txBody>
      </p:sp>
      <p:sp>
        <p:nvSpPr>
          <p:cNvPr id="17429" name="Rounded Rectangle 17428"/>
          <p:cNvSpPr/>
          <p:nvPr/>
        </p:nvSpPr>
        <p:spPr>
          <a:xfrm>
            <a:off x="7379208" y="1115568"/>
            <a:ext cx="4160520" cy="5074920"/>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Rounded Rectangle 17429"/>
          <p:cNvSpPr/>
          <p:nvPr/>
        </p:nvSpPr>
        <p:spPr>
          <a:xfrm>
            <a:off x="7498079" y="1207008"/>
            <a:ext cx="3922776" cy="274320"/>
          </a:xfrm>
          <a:prstGeom prst="roundRect">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900" b="1">
                <a:solidFill>
                  <a:srgbClr val="FFFFFF"/>
                </a:solidFill>
                <a:latin typeface="Arial"/>
              </a:defRPr>
            </a:pPr>
            <a:r>
              <a:t>STATUTORY ACTS &amp; INSTITUTIONAL REFERENCES</a:t>
            </a:r>
          </a:p>
        </p:txBody>
      </p:sp>
      <p:sp>
        <p:nvSpPr>
          <p:cNvPr id="17431" name="Oval 17430"/>
          <p:cNvSpPr/>
          <p:nvPr/>
        </p:nvSpPr>
        <p:spPr>
          <a:xfrm>
            <a:off x="7498079" y="1636776"/>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2" name="TextBox 17431"/>
          <p:cNvSpPr txBox="1"/>
          <p:nvPr/>
        </p:nvSpPr>
        <p:spPr>
          <a:xfrm>
            <a:off x="7735824" y="1600200"/>
            <a:ext cx="3794760" cy="713232"/>
          </a:xfrm>
          <a:prstGeom prst="rect">
            <a:avLst/>
          </a:prstGeom>
          <a:noFill/>
        </p:spPr>
        <p:txBody>
          <a:bodyPr wrap="square" lIns="0" tIns="0" rIns="0" bIns="0">
            <a:spAutoFit/>
          </a:bodyPr>
          <a:lstStyle/>
          <a:p>
            <a:pPr>
              <a:defRPr sz="850" b="1">
                <a:solidFill>
                  <a:srgbClr val="0F766E"/>
                </a:solidFill>
                <a:latin typeface="Arial"/>
              </a:defRPr>
            </a:pPr>
            <a:r>
              <a:t>Reserve Bank of India (RBI) Digital Lending Guidelines (2022)</a:t>
            </a:r>
          </a:p>
          <a:p>
            <a:pPr>
              <a:defRPr sz="750">
                <a:solidFill>
                  <a:srgbClr val="0F172A"/>
                </a:solidFill>
                <a:latin typeface="Calibri"/>
              </a:defRPr>
            </a:pPr>
            <a:r>
              <a:t>Direct merchant account transfer mandate, prohibition of loan shark third-party collections — https://www.rbi.org.in/</a:t>
            </a:r>
          </a:p>
        </p:txBody>
      </p:sp>
      <p:sp>
        <p:nvSpPr>
          <p:cNvPr id="17433" name="Oval 17432"/>
          <p:cNvSpPr/>
          <p:nvPr/>
        </p:nvSpPr>
        <p:spPr>
          <a:xfrm>
            <a:off x="7498079" y="2395728"/>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4" name="TextBox 17433"/>
          <p:cNvSpPr txBox="1"/>
          <p:nvPr/>
        </p:nvSpPr>
        <p:spPr>
          <a:xfrm>
            <a:off x="7735824" y="2359152"/>
            <a:ext cx="3794760" cy="713232"/>
          </a:xfrm>
          <a:prstGeom prst="rect">
            <a:avLst/>
          </a:prstGeom>
          <a:noFill/>
        </p:spPr>
        <p:txBody>
          <a:bodyPr wrap="square" lIns="0" tIns="0" rIns="0" bIns="0">
            <a:spAutoFit/>
          </a:bodyPr>
          <a:lstStyle/>
          <a:p>
            <a:pPr>
              <a:defRPr sz="850" b="1">
                <a:solidFill>
                  <a:srgbClr val="0F766E"/>
                </a:solidFill>
                <a:latin typeface="Arial"/>
              </a:defRPr>
            </a:pPr>
            <a:r>
              <a:t>RBI Fair Lending Practice Circular (RBI/2023-24/53)</a:t>
            </a:r>
          </a:p>
          <a:p>
            <a:pPr>
              <a:defRPr sz="750">
                <a:solidFill>
                  <a:srgbClr val="0F172A"/>
                </a:solidFill>
                <a:latin typeface="Calibri"/>
              </a:defRPr>
            </a:pPr>
            <a:r>
              <a:t>Mandating strictly non-compounding daily penal charges capped at 2% p.a. — https://www.rbi.org.in/</a:t>
            </a:r>
          </a:p>
        </p:txBody>
      </p:sp>
      <p:sp>
        <p:nvSpPr>
          <p:cNvPr id="17435" name="Oval 17434"/>
          <p:cNvSpPr/>
          <p:nvPr/>
        </p:nvSpPr>
        <p:spPr>
          <a:xfrm>
            <a:off x="7498079" y="3154680"/>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7735824" y="3118104"/>
            <a:ext cx="3794760" cy="713232"/>
          </a:xfrm>
          <a:prstGeom prst="rect">
            <a:avLst/>
          </a:prstGeom>
          <a:noFill/>
        </p:spPr>
        <p:txBody>
          <a:bodyPr wrap="square" lIns="0" tIns="0" rIns="0" bIns="0">
            <a:spAutoFit/>
          </a:bodyPr>
          <a:lstStyle/>
          <a:p>
            <a:pPr>
              <a:defRPr sz="850" b="1">
                <a:solidFill>
                  <a:srgbClr val="0F766E"/>
                </a:solidFill>
                <a:latin typeface="Arial"/>
              </a:defRPr>
            </a:pPr>
            <a:r>
              <a:t>Section 4, Negotiable Instruments Act 1881</a:t>
            </a:r>
          </a:p>
          <a:p>
            <a:pPr>
              <a:defRPr sz="750">
                <a:solidFill>
                  <a:srgbClr val="0F172A"/>
                </a:solidFill>
                <a:latin typeface="Calibri"/>
              </a:defRPr>
            </a:pPr>
            <a:r>
              <a:t>Statutory framework governing unconditional Promissory Notes with fixed maturity and consideration.</a:t>
            </a:r>
          </a:p>
        </p:txBody>
      </p:sp>
      <p:sp>
        <p:nvSpPr>
          <p:cNvPr id="17437" name="Oval 17436"/>
          <p:cNvSpPr/>
          <p:nvPr/>
        </p:nvSpPr>
        <p:spPr>
          <a:xfrm>
            <a:off x="7498079" y="3913632"/>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8" name="TextBox 17437"/>
          <p:cNvSpPr txBox="1"/>
          <p:nvPr/>
        </p:nvSpPr>
        <p:spPr>
          <a:xfrm>
            <a:off x="7735824" y="3877056"/>
            <a:ext cx="3794760" cy="713232"/>
          </a:xfrm>
          <a:prstGeom prst="rect">
            <a:avLst/>
          </a:prstGeom>
          <a:noFill/>
        </p:spPr>
        <p:txBody>
          <a:bodyPr wrap="square" lIns="0" tIns="0" rIns="0" bIns="0">
            <a:spAutoFit/>
          </a:bodyPr>
          <a:lstStyle/>
          <a:p>
            <a:pPr>
              <a:defRPr sz="850" b="1">
                <a:solidFill>
                  <a:srgbClr val="0F766E"/>
                </a:solidFill>
                <a:latin typeface="Arial"/>
              </a:defRPr>
            </a:pPr>
            <a:r>
              <a:t>Order XXXVII, Code of Civil Procedure 1908</a:t>
            </a:r>
          </a:p>
          <a:p>
            <a:pPr>
              <a:defRPr sz="750">
                <a:solidFill>
                  <a:srgbClr val="0F172A"/>
                </a:solidFill>
                <a:latin typeface="Calibri"/>
              </a:defRPr>
            </a:pPr>
            <a:r>
              <a:t>Summary Suit legal recovery pathway in Civil Courts with expedited decree without 10-year trials.</a:t>
            </a:r>
          </a:p>
        </p:txBody>
      </p:sp>
      <p:sp>
        <p:nvSpPr>
          <p:cNvPr id="17439" name="Oval 17438"/>
          <p:cNvSpPr/>
          <p:nvPr/>
        </p:nvSpPr>
        <p:spPr>
          <a:xfrm>
            <a:off x="7498079" y="4672584"/>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0" name="TextBox 17439"/>
          <p:cNvSpPr txBox="1"/>
          <p:nvPr/>
        </p:nvSpPr>
        <p:spPr>
          <a:xfrm>
            <a:off x="7735824" y="4636008"/>
            <a:ext cx="3794760" cy="713232"/>
          </a:xfrm>
          <a:prstGeom prst="rect">
            <a:avLst/>
          </a:prstGeom>
          <a:noFill/>
        </p:spPr>
        <p:txBody>
          <a:bodyPr wrap="square" lIns="0" tIns="0" rIns="0" bIns="0">
            <a:spAutoFit/>
          </a:bodyPr>
          <a:lstStyle/>
          <a:p>
            <a:pPr>
              <a:defRPr sz="850" b="1">
                <a:solidFill>
                  <a:srgbClr val="0F766E"/>
                </a:solidFill>
                <a:latin typeface="Arial"/>
              </a:defRPr>
            </a:pPr>
            <a:r>
              <a:t>Information Technology Act 2000 (Sec 65B &amp; Sec 10A)</a:t>
            </a:r>
          </a:p>
          <a:p>
            <a:pPr>
              <a:defRPr sz="750">
                <a:solidFill>
                  <a:srgbClr val="0F172A"/>
                </a:solidFill>
                <a:latin typeface="Calibri"/>
              </a:defRPr>
            </a:pPr>
            <a:r>
              <a:t>Electronic evidentiary admissibility of digital biometric hashes and timestamped audit logs.</a:t>
            </a:r>
          </a:p>
        </p:txBody>
      </p:sp>
      <p:sp>
        <p:nvSpPr>
          <p:cNvPr id="17441" name="Oval 17440"/>
          <p:cNvSpPr/>
          <p:nvPr/>
        </p:nvSpPr>
        <p:spPr>
          <a:xfrm>
            <a:off x="7498079" y="5431535"/>
            <a:ext cx="164592" cy="164592"/>
          </a:xfrm>
          <a:prstGeom prst="ellipse">
            <a:avLst/>
          </a:prstGeom>
          <a:solidFill>
            <a:srgbClr val="0F766E"/>
          </a:solidFill>
          <a:ln>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TextBox 17441"/>
          <p:cNvSpPr txBox="1"/>
          <p:nvPr/>
        </p:nvSpPr>
        <p:spPr>
          <a:xfrm>
            <a:off x="7735824" y="5394959"/>
            <a:ext cx="3794760" cy="713232"/>
          </a:xfrm>
          <a:prstGeom prst="rect">
            <a:avLst/>
          </a:prstGeom>
          <a:noFill/>
        </p:spPr>
        <p:txBody>
          <a:bodyPr wrap="square" lIns="0" tIns="0" rIns="0" bIns="0">
            <a:spAutoFit/>
          </a:bodyPr>
          <a:lstStyle/>
          <a:p>
            <a:pPr>
              <a:defRPr sz="850" b="1">
                <a:solidFill>
                  <a:srgbClr val="0F766E"/>
                </a:solidFill>
                <a:latin typeface="Arial"/>
              </a:defRPr>
            </a:pPr>
            <a:r>
              <a:t>NABARD &amp; WDRA Warehouse Receipt Financing</a:t>
            </a:r>
          </a:p>
          <a:p>
            <a:pPr>
              <a:defRPr sz="750">
                <a:solidFill>
                  <a:srgbClr val="0F172A"/>
                </a:solidFill>
                <a:latin typeface="Calibri"/>
              </a:defRPr>
            </a:pPr>
            <a:r>
              <a:t>Electronic Negotiable Warehouse Receipts (e-NWR) legal framework for agricultural credit — https://www.nabard.org/</a:t>
            </a:r>
          </a:p>
        </p:txBody>
      </p:sp>
    </p:spTree>
    <p:extLst>
      <p:ext uri="{BB962C8B-B14F-4D97-AF65-F5344CB8AC3E}">
        <p14:creationId xmlns:p14="http://schemas.microsoft.com/office/powerpoint/2010/main" val="3916788613"/>
      </p:ext>
    </p:extLst>
  </p:cSld>
  <p:clrMapOvr>
    <a:masterClrMapping/>
  </p:clrMapOvr>
  <p:transition spd="slow">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10467</TotalTime>
  <Words>65</Words>
  <Application>Microsoft Office PowerPoint</Application>
  <PresentationFormat>Widescreen</PresentationFormat>
  <Paragraphs>22</Paragraphs>
  <Slides>6</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ＭＳ Ｐゴシック</vt:lpstr>
      <vt:lpstr>Arial</vt:lpstr>
      <vt:lpstr>Calibri</vt:lpstr>
      <vt:lpstr>Times New Roman</vt:lpstr>
      <vt:lpstr>TradeGothic</vt:lpstr>
      <vt:lpstr>Office Theme</vt:lpstr>
      <vt:lpstr>PowerPoint Presentation</vt:lpstr>
      <vt:lpstr>PowerPoint Presentation</vt:lpstr>
      <vt:lpstr>PowerPoint Presentation</vt:lpstr>
      <vt:lpstr>FEASIBILITY AND VIABILITY</vt:lpstr>
      <vt:lpstr>PowerPoint Presentation</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Ayush Kumar</cp:lastModifiedBy>
  <cp:revision>152</cp:revision>
  <dcterms:created xsi:type="dcterms:W3CDTF">2013-12-12T18:46:50Z</dcterms:created>
  <dcterms:modified xsi:type="dcterms:W3CDTF">2026-08-23T14:38:33Z</dcterms:modified>
  <cp:category/>
</cp:coreProperties>
</file>
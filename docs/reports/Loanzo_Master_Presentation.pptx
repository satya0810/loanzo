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LOANZO: THE TRUST LEDGER (Volume 1)</a:t>
            </a:r>
          </a:p>
          <a:p>
            <a:r>
              <a:t>A 23-Scene Master Comic &amp; P2P Finance Journey.</a:t>
            </a:r>
          </a:p>
          <a:p>
            <a:r>
              <a:t>Characters: Mascot Loanzo, Rohan Sharma (Borrower), Priya Sharma (Co-Borrower), Aisha Khan (Investor/Lender), Vikram Rao (Certified Valuer).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I: NEED &amp; TRUST (Scenes 1 to 5)</a:t>
            </a:r>
          </a:p>
          <a:p>
            <a:r>
              <a:t>1. Festival crunch at Rohan Electronics: ₹5,00,000 needed for Diwali inventory; moneylender demands 24% interest.</a:t>
            </a:r>
          </a:p>
          <a:p>
            <a:r>
              <a:t>2. Mascot Loanzo guides Rohan through 30-sec DigiLocker KYC (Aadhaar/PAN) &amp; CameraX liveness check.</a:t>
            </a:r>
          </a:p>
          <a:p>
            <a:r>
              <a:t>3. Social Timeline pitch published: ₹5,00,000 @ 8.5% for 12 months with 50g gold collateral.</a:t>
            </a:r>
          </a:p>
          <a:p>
            <a:r>
              <a:t>4. Priya's In-App Co-Borrower Handshake: Authorized with biometric fingerprint under Section 128 ICA 1872.</a:t>
            </a:r>
          </a:p>
          <a:p>
            <a:r>
              <a:t>5. 18 Community Vouches (⭐ 4.9) from neighboring Laxmi Road merchants act as social collateral.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II: THE LENDER — SCENE 6: THE IDLE SAVINGS DILEMMA</a:t>
            </a:r>
          </a:p>
          <a:p>
            <a:r>
              <a:t>• Location: Aisha's apartment, Hinjewadi, Pune.</a:t>
            </a:r>
          </a:p>
          <a:p>
            <a:r>
              <a:t>• The Problem: ₹10,00,000 idle cash in 5.5% taxable FD yields only 3.85% post-tax.</a:t>
            </a:r>
          </a:p>
          <a:p>
            <a:r>
              <a:t>• With 6.0% inflation, real purchasing power drops by -2.15% every year!</a:t>
            </a:r>
          </a:p>
          <a:p>
            <a:r>
              <a:t>• Unsecured P2P has 12% default rates.</a:t>
            </a:r>
          </a:p>
          <a:p>
            <a:r>
              <a:t>• Mascot Loanzo leaps in: 'Meet Loanzo — 100% asset-backed P2P secured by physical gold vaulted in banks!'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II: SCENES 7 &amp; 8: STRATEGY &amp; REVERSE AUCTION</a:t>
            </a:r>
          </a:p>
          <a:p>
            <a:r>
              <a:t>• Aisha configures smart filters: Physical gold only (max 75% LTV), verified co-borrowers, direct wholesaler tranches.</a:t>
            </a:r>
          </a:p>
          <a:p>
            <a:r>
              <a:t>• Audits Rohan's profile: 18 vouches, Priya bound as co-borrower, CERSAI vault custody certificate.</a:t>
            </a:r>
          </a:p>
          <a:p>
            <a:r>
              <a:t>• Reverse Auction Bidding War: Axis bids 9.0%, Kotak bids 8.5%. Aisha bids winning 8.2%!</a:t>
            </a:r>
          </a:p>
          <a:p>
            <a:r>
              <a:t>• Outcome: Aisha earns ₹41,000 pure profit while beating all institutional rivals.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II: SCENES 9 &amp; 10: RATE LOCK &amp; COLLATERAL PLEDGE</a:t>
            </a:r>
          </a:p>
          <a:p>
            <a:r>
              <a:t>• Rohan accepts Aisha's 8.2% offer, saving ₹45,000 in interest vs 9.5% bank loans.</a:t>
            </a:r>
          </a:p>
          <a:p>
            <a:r>
              <a:t>• Uploads purchase bill and photos of 50g 22K ancestral family gold jewellery.</a:t>
            </a:r>
          </a:p>
          <a:p>
            <a:r>
              <a:t>• Loanzo engine dispatches Certified Valuer Agent Vikram Rao with 20-min ETA.</a:t>
            </a:r>
          </a:p>
          <a:p>
            <a:r>
              <a:t>• Aisha tracks Vikram's scooter route via live GPS.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III: SCENES 11 TO 14: DOORSTEP ASSAYING &amp; VAULTING</a:t>
            </a:r>
          </a:p>
          <a:p>
            <a:r>
              <a:t>• Vikram arrives on scooter; tests touchstone 22K purity.</a:t>
            </a:r>
          </a:p>
          <a:p>
            <a:r>
              <a:t>• Precision Scale: Gross 55.4g - 5.3g stone deduction = 50.1g net pure gold!</a:t>
            </a:r>
          </a:p>
          <a:p>
            <a:r>
              <a:t>• IBJA live API rate match: ₹3,50,700 valuation; 75% LTV strictly locked.</a:t>
            </a:r>
          </a:p>
          <a:p>
            <a:r>
              <a:t>• Gold sealed in tamper-evident barcode bag #G408459 with VOID tape.</a:t>
            </a:r>
          </a:p>
          <a:p>
            <a:r>
              <a:t>• Deposited in partner bank safe deposit vault (Locker 237, dual keys, transit insurance).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IV: SCENES 15 &amp; 16: MULTI-PARTY eSIGN &amp; DISBURSAL</a:t>
            </a:r>
          </a:p>
          <a:p>
            <a:r>
              <a:t>• Tripartite Multi-Party Agreement under Section 128 Indian Contract Act.</a:t>
            </a:r>
          </a:p>
          <a:p>
            <a:r>
              <a:t>• Rohan and Priya sign simultaneously on mobile via on-device fingerprint biometrics.</a:t>
            </a:r>
          </a:p>
          <a:p>
            <a:r>
              <a:t>• Aisha countersigns on her tablet; contract sealed with SHA-256 hash.</a:t>
            </a:r>
          </a:p>
          <a:p>
            <a:r>
              <a:t>• Instant UPI Disbursal: ₹2,00,000 transferred straight to wholesale distributor Raj Electronics with Bank UTR: 1234567890.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IV: SCENES 17 &amp; 18: DONUT AUDIT &amp; RETAIL BOOM</a:t>
            </a:r>
          </a:p>
          <a:p>
            <a:r>
              <a:t>• Aisha's Live Donut Audit Dashboard: 70% Inventory (Wholesaler Raj), 20% Fixtures, 10% Delivery. 0% cash diversion!</a:t>
            </a:r>
          </a:p>
          <a:p>
            <a:r>
              <a:t>• Delivery truck unloads 50 smart TVs at Rohan Electronics.</a:t>
            </a:r>
          </a:p>
          <a:p>
            <a:r>
              <a:t>• Record Diwali sales boom: ₹18,50,000 festive revenue!</a:t>
            </a:r>
          </a:p>
          <a:p>
            <a:r>
              <a:t>• Monthly automated EMIs paid on time via UPI auto-debit.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V: SCENES 19 TO 21: SAFEGUARDS &amp; THE SCAM-FREE SHIELD</a:t>
            </a:r>
          </a:p>
          <a:p>
            <a:r>
              <a:t>• Automated reminders from Telegram Bot (@Loanzo_bot) with dynamic 1-tap UPI QR codes.</a:t>
            </a:r>
          </a:p>
          <a:p>
            <a:r>
              <a:t>• Regulatory Default Engine: 3-day grace period (0% fee); penal fee capped at RBI 2% monthly ceiling.</a:t>
            </a:r>
          </a:p>
          <a:p>
            <a:r>
              <a:t>• Dual-Sided 100% Scam-Free Shield Matrix:</a:t>
            </a:r>
          </a:p>
          <a:p>
            <a:r>
              <a:t>  - Lender: Vaulted gold, verified co-borrower joint liability, direct wholesaler tranches.</a:t>
            </a:r>
          </a:p>
          <a:p>
            <a:r>
              <a:t>  - Borrower: Capped fees, reverse auction rates, zero loan shark extortion, guaranteed gold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V: SCENE 22: GRAND FINALE &amp; GOLD RETURN</a:t>
            </a:r>
          </a:p>
          <a:p>
            <a:r>
              <a:t>• Final EMI cleared: Balance ₹0.00! Automated de-hypothecation triggered.</a:t>
            </a:r>
          </a:p>
          <a:p>
            <a:r>
              <a:t>• Doorstep Restitution: Vikram returns barcode security bag #G408459 from Locker 237.</a:t>
            </a:r>
          </a:p>
          <a:p>
            <a:r>
              <a:t>• Priya verifies VOID tape: 'Untouched, pristine, and perfectly intact!'</a:t>
            </a:r>
          </a:p>
          <a:p>
            <a:r>
              <a:t>• Mascot Loanzo awards the golden Official No Objection Certificate (NOC).</a:t>
            </a:r>
          </a:p>
          <a:p>
            <a:r>
              <a:t>• Confetti explodes as Rohan, Priya, Aisha, and Vikram celebrate: 'ZERO DEFAULT, ZERO EXTORTION, 100% TRUST!'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EPILOGUE: SCENE 23: AISHA'S WEALTH TRIUMPH</a:t>
            </a:r>
          </a:p>
          <a:p>
            <a:r>
              <a:t>• Verified bank statement: ₹5,00,000 principal returned + ₹41,000 PURE PROFIT! Total received: ₹5,41,000.</a:t>
            </a:r>
          </a:p>
          <a:p>
            <a:r>
              <a:t>• Comparison chart: 8.2% secured yield beats bank FDs by 49% with zero defaults.</a:t>
            </a:r>
          </a:p>
          <a:p>
            <a:r>
              <a:t>• Total peace of mind: Morning coffee on sunny balcony.</a:t>
            </a:r>
          </a:p>
          <a:p>
            <a:r>
              <a:t>• 1-Tap Reinvestment: Aisha taps [Reinvest All] to compound her ₹5,41,000 into new gold-backed loans!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nga_cover_art_17884656562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51435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0" y="109728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9E0B"/>
                </a:solidFill>
                <a:latin typeface="Arial"/>
              </a:defRPr>
            </a:pPr>
            <a:r>
              <a:t>LOANZO</a:t>
            </a:r>
          </a:p>
          <a:p>
            <a:pPr>
              <a:spcAft>
                <a:spcPts val="2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23-SCENE TRUST LEDGER</a:t>
            </a:r>
          </a:p>
          <a:p>
            <a:pPr>
              <a:spcAft>
                <a:spcPts val="1400"/>
              </a:spcAft>
              <a:defRPr sz="1400">
                <a:solidFill>
                  <a:srgbClr val="38BDF8"/>
                </a:solidFill>
              </a:defRPr>
            </a:pPr>
            <a:r>
              <a:t>Complete Executive Presentation • 16:9 Widescreen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100% Asset-Backed Secured P2P Lending</a:t>
            </a:r>
            <a:br/>
            <a:r>
              <a:t>• Physical 22K Gold Collateral in Bank Locker 237</a:t>
            </a:r>
            <a:br/>
            <a:r>
              <a:t>• Section 128 ICA Verified Co-Borrowers</a:t>
            </a:r>
            <a:br/>
            <a:r>
              <a:t>• Reverse Auction Marketplace (8.2% Net Yield)</a:t>
            </a:r>
            <a:br/>
            <a:r>
              <a:t>• Direct Wholesaler Payee Tranches (Zero Diversion)</a:t>
            </a:r>
            <a:br/>
            <a:r>
              <a:t>• Automated ₹41,000 Profit Realization &amp; Compounding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ic_book_page_1_v2_17884585495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scot_loanzo_prologue_17884633803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sha_investor_deepdive_17884638604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ic_book_page_2_17884584382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scot_agent_vault_17884634048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ic_book_page_3_v2_17884586525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sha_comic_p3_17884619836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rrower_comic_ch4_1788462359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scot_finale_noc_17884634326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sha_wealth_profit_17884643472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
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98" r:id="rId3"/>
    <p:sldId id="290" r:id="rId4"/>
    <p:sldId id="293" r:id="rId5"/>
    <p:sldId id="294" r:id="rId6"/>
    <p:sldId id="296" r:id="rId7"/>
  </p:sldIdLst>
  <p:sldSz cx="12191695"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6" d="100"/>
          <a:sy n="66" d="100"/>
        </p:scale>
        <p:origin x="1301" y="590"/>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8/22/2026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[TIME: 05:30 - 08:00 | TARGET DURATION: 2.5 MINUTES]</a:t>
            </a:r>
          </a:p>
          <a:p>
            <a:r>
              <a:t>[SPEAKER CUES: DEEP TECHNICAL RIGOR, PERSISTENCE, HARDWARE CRYPTO]</a:t>
            </a:r>
          </a:p>
          <a:p/>
          <a:p>
            <a:r>
              <a:t>1. THE BHARAT CONNECTIVITY PARADOX &amp; OFFLINE-FIRST ROOM DB (05:30 - 06:30):</a:t>
            </a:r>
          </a:p>
          <a:p>
            <a:r>
              <a:t>"Now, let us dive into the engineering rigor that powers Loanzo on Slide 3. When building fintech for Bharat, two technical realities must be conquered: erratic rural network connectivity and device-level authentication security.</a:t>
            </a:r>
          </a:p>
          <a:p/>
          <a:p>
            <a:r>
              <a:t>First, look at our Database &amp; Persistence layer. Loanzo is built 100% Offline-First. Rural weavers in Varanasi or farmers in Vidarbha cannot rely on continuous 5G connections. Rather than depending on cloud microservices for every button tap, Loanzo operates on an embedded Room Database v12 with 19 normalized SQLite entities and 17 Data Access Objects (DAOs). </a:t>
            </a:r>
          </a:p>
          <a:p/>
          <a:p>
            <a:r>
              <a:t>Every ledger operation, EMI amortization calculation, and milestone status transition runs on-device in under 15 milliseconds. When the user enters an area with 2G or Wi-Fi, our proprietary SyncQueueEntity processes queued mutations in an atomic delta synchronization pipeline without race conditions."</a:t>
            </a:r>
          </a:p>
          <a:p/>
          <a:p>
            <a:r>
              <a:t>2. LIVE SCREEN: ROLE SWITCHER &amp; STRONGBOX KEYSTORE (06:30 - 07:30):</a:t>
            </a:r>
          </a:p>
          <a:p>
            <a:r>
              <a:t>"Second, examine the phone mockup on the right displaying our live Login and Role Authentication screen. Notice the account handle 'satyam0810' and the dynamic user role selector. Loanzo enforces strict Role-Based Access Control (RBAC) across four distinct personas: Borrowers, Lenders, Field Valuation Agents, and System Administrators.</a:t>
            </a:r>
          </a:p>
          <a:p/>
          <a:p>
            <a:r>
              <a:t>Crucially, we have eliminated vulnerable SMS OTPs, which are prone to SIM-swap fraud and delayed delivery in rural belts. Instead, Loanzo leverages Android StrongBox Keystore and AndroidX BiometricPrompt. Cryptographic keys are generated inside the phone’s dedicated secure hardware element (PURPOSE_SIGN and PURPOSE_ENCRYPT). When a user authorizes a tranche or signs an agreement, their biometric fingerprint generates a hardware-backed SHA-256 digital signature. Even if a hostile actor intercepts the network or roots the device operating system, the underlying private keys cannot be extracted."</a:t>
            </a:r>
          </a:p>
          <a:p/>
          <a:p>
            <a:r>
              <a:t>3. 8-STAGE ROADMAP (07:30 - 08:00):</a:t>
            </a:r>
          </a:p>
          <a:p>
            <a:r>
              <a:t>"In the bottom roadmap, you see our systematic 8-stage implementation methodology, taking the project from PS-92 requirements analysis through Compose UI, Room v12 DB, Keystore security, tranche rules, Telegram SOS webhook, stress testing, to pilot deployment."</a:t>
            </a:r>
          </a:p>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[TIME: 08:00 - 10:30 | TARGET DURATION: 2.5 MINUTES]</a:t>
            </a:r>
          </a:p>
          <a:p>
            <a:r>
              <a:t>[SPEAKER CUES: UNIT ECONOMICS, FIELD AGENT OPERATIONS, HAIRCUT MATHEMATICS]</a:t>
            </a:r>
          </a:p>
          <a:p/>
          <a:p>
            <a:r>
              <a:t>1. OPERATIONAL &amp; ECONOMIC FEASIBILITY (08:00 - 08:50):</a:t>
            </a:r>
          </a:p>
          <a:p>
            <a:r>
              <a:t>"Any innovation in microfinance must prove rigorous operational viability and financial sustainability. On Slide 4, we present our comprehensive feasibility analysis and risk-mitigation framework.</a:t>
            </a:r>
          </a:p>
          <a:p/>
          <a:p>
            <a:r>
              <a:t>In Column 1, consider our Operational and Economic Feasibility. How do we appraise physical assets like cattle, loom machinery, or stored grain in rural villages without expensive bank branches? </a:t>
            </a:r>
          </a:p>
          <a:p/>
          <a:p>
            <a:r>
              <a:t>Look at the device screen on the right: Loanzo incorporates a decentralized Field Agent Appraisal Network. Local verified field officers conduct on-site geofenced physical inspections logged via our AgentVisitEntity. For every valuation, the agent earns a transparent, standardized fee of ₹499. Economically, Loanzo sustains its infrastructure through a modest 1.5% loan origination fee and a 0.5% servicing fee, achieving full operational breakeven at just 2,500 active loans."</a:t>
            </a:r>
          </a:p>
          <a:p/>
          <a:p>
            <a:r>
              <a:t>2. DEMYSTIFYING THE HAIRCUT &amp; COLLATERAL VAULT (08:50 - 09:50):</a:t>
            </a:r>
          </a:p>
          <a:p>
            <a:r>
              <a:t>"Now examine Column 2 and Column 3: How do we protect lenders against market volatility? This brings us to a fundamental financial concept: The Haircut.</a:t>
            </a:r>
          </a:p>
          <a:p/>
          <a:p>
            <a:r>
              <a:t>In finance, a 'haircut' is the safety margin subtracted from an asset's market value to shield lenders against price depreciation. Because gold has stable market liquidity, we apply a low 25% haircut, enabling a 75% Loan-to-Value (LTV). But for industrial machinery, which depreciates over time, we apply a 50% haircut. For livestock, which carries mortality risks, we enforce a strict 60% haircut, lending only 40% of the animal's assessed value. Even if milk yields decline or livestock market values drop by 30%, the lender's principal remains 100% protected.</a:t>
            </a:r>
          </a:p>
          <a:p/>
          <a:p>
            <a:r>
              <a:t>On the screen on the right, you can see our 'Unlock Document Vault' modal: KYC documents, asset invoices, and appraisal geotags are encrypted under hardware StrongBox and accessible only upon biometric confirmation."</a:t>
            </a:r>
          </a:p>
          <a:p/>
          <a:p>
            <a:r>
              <a:t>3. OVERCOMING ROGUE RECOVERY &amp; SUMMARY (09:50 - 10:30):</a:t>
            </a:r>
          </a:p>
          <a:p>
            <a:r>
              <a:t>"To eliminate rogue recovery agent harassment, our PenaltyEngine enforces a mathematical cap on penal interest, strictly compliant with RBI guidelines, ensuring borrowers are treated with dignity while capital remains secure."</a:t>
            </a:r>
          </a:p>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[TIME: 10:30 - 13:00 | TARGET DURATION: 2.5 MINUTES]</a:t>
            </a:r>
          </a:p>
          <a:p>
            <a:r>
              <a:t>[SPEAKER CUES: LEGAL REVOLUTION, SECTION 4 NI ACT, ORDER 37 CPC, DIGNITY]</a:t>
            </a:r>
          </a:p>
          <a:p/>
          <a:p>
            <a:r>
              <a:t>1. THE LEGAL ENFORCEABILITY VOID IN INFORMAL CREDIT (10:30 - 11:20):</a:t>
            </a:r>
          </a:p>
          <a:p>
            <a:r>
              <a:t>"Slide 5 represents what makes Loanzo truly revolutionary: the fusion of digital technology with statutory legal enforceability.</a:t>
            </a:r>
          </a:p>
          <a:p/>
          <a:p>
            <a:r>
              <a:t>In the informal lending world, loans are agreed upon verbally or scribbled on informal paper. If a borrower defaults, lenders face an impossible reality: filing a regular civil recovery suit in an Indian district court takes between 7 to 10 years due to backlogs. This legal paralysis is precisely why informal lenders resort to thuggish, illegal recovery muscle."</a:t>
            </a:r>
          </a:p>
          <a:p/>
          <a:p>
            <a:r>
              <a:t>2. SECTION 4 NI ACT PROMISSORY NOTE &amp; 60-DAY ORDER 37 SUMMARY SUIT (11:20 - 12:15):</a:t>
            </a:r>
          </a:p>
          <a:p>
            <a:r>
              <a:t>"Direct your gaze to the center screen displaying our live Loan Agreement and Promissory Note sheet. Notice the terms: 'BUSINESS loan, 12% simple interest, 6 months tenure, Digital Loan Agreement Signed'.</a:t>
            </a:r>
          </a:p>
          <a:p/>
          <a:p>
            <a:r>
              <a:t>Loanzo transforms informal lending into statutory legality. Every sanctioned loan automatically synthesizes an unconditional Promissory Note under Section 4 of the Negotiable Instruments Act 1881, cryptographically stamped with the borrower's hardware biometric signature.</a:t>
            </a:r>
          </a:p>
          <a:p/>
          <a:p>
            <a:r>
              <a:t>What does this mean in a court of law? Under Order XXXVII (37) of the Code of Civil Procedure 1908, a Promissory Note qualifies for a Summary Suit. In a Summary Suit, the court presumes consideration and debt liability. The borrower cannot drag out the trial with frivolous excuses; they must deposit security with the court to defend themselves. As a result, the civil court grants an enforceable recovery decree in just 60 to 90 days instead of 10 years!"</a:t>
            </a:r>
          </a:p>
          <a:p/>
          <a:p>
            <a:r>
              <a:t>3. BORROWER DIGNITY &amp; RBI 2023-24/53 PENALTY CAP (12:15 - 13:00):</a:t>
            </a:r>
          </a:p>
          <a:p>
            <a:r>
              <a:t>"Simultaneously, we protect borrowers from predatory usury. Under RBI Circular RBI/2023-24/53, penal charges for late repayment cannot be compounded. If an EMI is missed, Loanzo's PenaltyEngine applies a transparent, simple daily charge capped at 2% per annum, with a mandatory 3-day grace period. No compounding penalty. No harassment. Total legal dignity."</a:t>
            </a:r>
          </a:p>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[TIME: 13:00 - 15:00 | TARGET DURATION: 2.0 MINUTES]</a:t>
            </a:r>
          </a:p>
          <a:p>
            <a:r>
              <a:t>[SPEAKER CUES: LIVE SOS ALERTS, DYNAMIC UPI QR, STATUTORY CLOSING]</a:t>
            </a:r>
          </a:p>
          <a:p/>
          <a:p>
            <a:r>
              <a:t>1. LIVE UTILITIES: DYNAMIC UPI QR &amp; TELEGRAM SOS (13:00 - 14:00):</a:t>
            </a:r>
          </a:p>
          <a:p>
            <a:r>
              <a:t>"Finally, on Slide 6, we demonstrate that Loanzo is not theoretical—it is firmly anchored in Indian jurisprudence and verified by live on-device utilities.</a:t>
            </a:r>
          </a:p>
          <a:p/>
          <a:p>
            <a:r>
              <a:t>Look at our dual phone mockups in the center. The top screen displays our Dynamic UPI QR engine, generating real-time merchant VPAs for instant penny-drop reconciliation. The bottom screen displays our Activity &amp; Alerts Feed, integrated directly with our automated Telegram SOS Webhook. </a:t>
            </a:r>
          </a:p>
          <a:p/>
          <a:p>
            <a:r>
              <a:t>If an unauthorized recovery agent visits a borrower's residence outside permissible hours or attempts coercion, the borrower taps one emergency button. Loanzo instantly dispatches a timestamped incident log to the lending syndicate and local authorities, accompanied by legal citations under IPC Sections 503 and 506 for criminal intimidation."</a:t>
            </a:r>
          </a:p>
          <a:p/>
          <a:p>
            <a:r>
              <a:t>2. STATUTORY CITATIONS &amp; WINNING CONCLUSION (14:00 - 15:00):</a:t>
            </a:r>
          </a:p>
          <a:p>
            <a:r>
              <a:t>"On the right, notice our exhaustive legal grounding: we comply with the RBI Digital Lending Guidelines (2022) mandating direct account transfers, Sections 65B and 10A of the Information Technology Act 2000 for digital electronic evidence admissibility, and WDRA electronic warehouse receipt regulations.</a:t>
            </a:r>
          </a:p>
          <a:p/>
          <a:p>
            <a:r>
              <a:t>To summarize: Problem Statement 92 demands loan utilization tracking via mobile. Loanzo delivers it by replacing cash with milestone tranches, securing capital with 5 collateral classes, and enforcing repayment with Section 4 Promissory Notes. We are Team CodeforBharat, and we are ready to build a financially sovereign, transparent Bharat. Thank you, and we welcome your questions!"</a:t>
            </a:r>
          </a:p>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00:00 - 02:30 | TARGET DURATION: 2.5 MINUTES]</a:t>
            </a:r>
          </a:p>
          <a:p>
            <a:r>
              <a:t>[SPEAKER CUES: CONFIDENT, VISIONARY, GROUNDED IN REALITY]</a:t>
            </a:r>
          </a:p>
          <a:p/>
          <a:p>
            <a:r>
              <a:t>1. OPENING SALUTATION &amp; INTRODUCTION (00:00 - 00:45):</a:t>
            </a:r>
          </a:p>
          <a:p>
            <a:r>
              <a:t>"Respected members of the jury, esteemed evaluators, and fellow innovators. We are Team CodeforBharat, and today we are proud to present our solution for Smart India Hackathon 2026, Problem Statement 92: 'Loan Utilization Tracking via Mobile'. We call our enterprise protocol LOANZO.</a:t>
            </a:r>
          </a:p>
          <a:p/>
          <a:p>
            <a:r>
              <a:t>'LOANZO' represents a next-generation milestone-gated lending and multi-asset escrow protocol engineered specifically for the ground realities of Bharat."</a:t>
            </a:r>
          </a:p>
          <a:p/>
          <a:p>
            <a:r>
              <a:t>2. THE MACRO PROBLEM &amp; THE 48% DIVERSION CRISIS (00:45 - 01:45):</a:t>
            </a:r>
          </a:p>
          <a:p>
            <a:r>
              <a:t>"To appreciate why Problem Statement 92 is so vital, let us examine the economic reality of India's micro-enterprises. India has over 63 million MSMEs contributing almost 30% of our GDP and employing 110 million citizens. Yet, more than 85% of them are denied formal bank loans because they lack audited balance sheets, CIBIL credit scores, or prime real estate collateral.</a:t>
            </a:r>
          </a:p>
          <a:p/>
          <a:p>
            <a:r>
              <a:t>When these artisans, weavers, and shopkeepers need working capital, they borrow from informal moneylenders who charge predatory interest rates between 60% and 120% APR. But why do lenders charge such high rates? Because of the Post-Disbursement Blindspot.</a:t>
            </a:r>
          </a:p>
          <a:p/>
          <a:p>
            <a:r>
              <a:t>When a bank or moneylender hands over a lump-sum cash disbursement, they have zero control over where the money is spent. Studies by NABARD and the RBI reveal that 48% of micro-business loans are diverted to non-productive uses—family weddings, medical emergencies, or older debts. Because the capital was not invested in raw materials or business machinery, the borrower's enterprise generates zero additional revenue. They default, and the vicious cycle of illegal recovery harassment begins."</a:t>
            </a:r>
          </a:p>
          <a:p/>
          <a:p>
            <a:r>
              <a:t>3. THE LOANZO CORE PHILOSOPHY &amp; BOTTOM BANNER METRICS (01:45 - 02:30):</a:t>
            </a:r>
          </a:p>
          <a:p>
            <a:r>
              <a:t>"Loanzo eliminates this crisis at its root with one simple rule:</a:t>
            </a:r>
          </a:p>
          <a:p>
            <a:r>
              <a:t>Zero cash in hand. Loan funds are disbursed in verified milestone tranches directly to supplier UPI VPAs, secured by a 5-class multi-asset collateral vault and statutory biometric promissory notes.</a:t>
            </a:r>
          </a:p>
          <a:p/>
          <a:p>
            <a:r>
              <a:t>Look at our bottom banner: This is not a concept or a prototype mock. Loanzo is fully implemented with 19 Room v12 entities, 17 DAOs, and complete statutory alignment with Section 4 of the Negotiable Instruments Act 1881 and RBI Circular RBI/2023-24/53.</a:t>
            </a:r>
          </a:p>
          <a:p/>
          <a:p>
            <a:r>
              <a:t>Bottom line: No cash in the borrower's pocket means 0% cash diversion, 100% productive loan utilization, and complete transparency."</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02:30 - 05:30 | TARGET DURATION: 3.0 MINUTES]</a:t>
            </a:r>
          </a:p>
          <a:p>
            <a:r>
              <a:t>[SPEAKER CUES: PASSIONATE, STORY-DRIVEN, POINTING TO STATS, TECH ENGINES &amp; COMPARISON BARS]</a:t>
            </a:r>
          </a:p>
          <a:p/>
          <a:p>
            <a:r>
              <a:t>1. THE REAL-WORLD MSME CRISIS &amp; POST-DISBURSEMENT BLINDSPOT (02:30 - 03:30):</a:t>
            </a:r>
          </a:p>
          <a:p>
            <a:r>
              <a:t>"Respected judges, welcome to the intellectual core of our presentation on Slide 2: IDEA EXPLANATION.</a:t>
            </a:r>
          </a:p>
          <a:p/>
          <a:p>
            <a:r>
              <a:t>Look at the top section of this slide. Let us connect Problem Statement 92 directly to the everyday reality of Bharat.</a:t>
            </a:r>
          </a:p>
          <a:p>
            <a:r>
              <a:t>Across India, over 63 million micro-enterprises—artisans, weavers, smallholder farmers, and village shopkeepers—require urgent working capital to buy raw materials, seeds, and machinery. Yet, more than 85% of them are denied formal bank loans because they lack audited balance sheets, CIBIL scores, or commercial property collateral. The formal banking doors remain shut.</a:t>
            </a:r>
          </a:p>
          <a:p>
            <a:r>
              <a:t>Driven by necessity, micro-borrowers turn to village moneylenders who charge usurious rates between 5% and 10% monthly—that is 60% to 120% APR!</a:t>
            </a:r>
          </a:p>
          <a:p/>
          <a:p>
            <a:r>
              <a:t>And here is where the ₹350 Billion tragedy happens: The Post-Disbursement Blindspot.</a:t>
            </a:r>
          </a:p>
          <a:p>
            <a:r>
              <a:t>When a borrower is handed lump-sum liquid cash, household emergencies inevitably strike. Studies by NABARD and the RBI prove that 48% of informal micro-loans are diverted to non-productive expenses like medical emergencies or weddings. Because the capital was never invested into raw materials or inventory, the borrower's enterprise generates zero additional revenue. The borrower defaults, and the moneylender's illegal recovery agents arrive at their doorstep."</a:t>
            </a:r>
          </a:p>
          <a:p/>
          <a:p>
            <a:r>
              <a:t>2. HOW LOANZO SOLVES THIS USING TECHNOLOGY (03:30 - 04:30):</a:t>
            </a:r>
          </a:p>
          <a:p>
            <a:r>
              <a:t>"Now, look at the middle section: How Loanzo Solves This Using Technology.</a:t>
            </a:r>
          </a:p>
          <a:p>
            <a:r>
              <a:t>Our first technological breakthrough: Purpose-Bound Milestone Tranches.</a:t>
            </a:r>
          </a:p>
          <a:p>
            <a:r>
              <a:t>Loanzo disburses zero cash to the borrower. The sanctioned loan amount is locked in digital escrow. When the borrower needs raw materials, they upload the supplier's verified invoice. Our engine verifies the invoice, performs a penny-drop check on the seller's VPA, and disburses the tranche directly to the supplier's UPI account! The raw material reaches the enterprise; production begins; revenue is generated; and fund diversion drops from 48% to exactly 0%!</a:t>
            </a:r>
          </a:p>
          <a:p/>
          <a:p>
            <a:r>
              <a:t>To solve the collateral crisis, our 5-Class Collateral Vault unlocks formal liquidity against productive non-gold assets: livestock, agricultural warehouse receipts, machinery, and silver, protected by dynamic algorithmic haircuts.</a:t>
            </a:r>
          </a:p>
          <a:p/>
          <a:p>
            <a:r>
              <a:t>Look at our live Android app in the center:</a:t>
            </a:r>
          </a:p>
          <a:p>
            <a:r>
              <a:t>Built natively with Jetpack Compose and an offline-first Room v12 database, it gives micro-borrowers and lenders real-time control over their loan portfolios, with live syndicated bidding and a transparent community loan wall."</a:t>
            </a:r>
          </a:p>
          <a:p/>
          <a:p>
            <a:r>
              <a:t>3. THE UNIQUENESS &amp; THE DIFFERENCE LOANZO MAKES (04:30 - 05:30):</a:t>
            </a:r>
          </a:p>
          <a:p>
            <a:r>
              <a:t>"Finally, look at the bottom right section: The Uniqueness and The Difference Loanzo Makes.</a:t>
            </a:r>
          </a:p>
          <a:p>
            <a:r>
              <a:t>Look at our comparative graphs:</a:t>
            </a:r>
          </a:p>
          <a:p>
            <a:r>
              <a:t>1. Fund Diversion: Traditional loans leak 48%; Loanzo achieves 0% diversion.</a:t>
            </a:r>
          </a:p>
          <a:p>
            <a:r>
              <a:t>2. Borrowing Cost: Village moneylenders extort 60% to 120%; Loanzo syndication charges 12% to 18% simple interest.</a:t>
            </a:r>
          </a:p>
          <a:p>
            <a:r>
              <a:t>3. Legal Recovery: Regular civil suits take 2,500 days—over 7 years. Because Loanzo generates biometrically signed Promissory Notes under Section 4 of the Negotiable Instruments Act 1881, lenders obtain fast-track summary recovery decrees under Order 37 CPC in just 60 days!</a:t>
            </a:r>
          </a:p>
          <a:p>
            <a:r>
              <a:t>4. Borrower Dignity: Our automated Telegram bot strictly enforces RBI Circular 2023-24/53, outlawing compound penalties and ending illegal recovery intimidation forever.</a:t>
            </a:r>
          </a:p>
          <a:p/>
          <a:p>
            <a:r>
              <a:t>This is not an incremental tweak; it is a fundamental transformation of micro-credit in India."</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8/22/2026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8/22/2026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8/22/2026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8/22/2026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8/22/2026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8/22/2026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8/22/2026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8/22/2026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8/22/2026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8/22/2026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8/22/2026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8/22/2026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7.png"/><Relationship Id="rId6" Type="http://schemas.openxmlformats.org/officeDocument/2006/relationships/notesSlide" Target="../notesSlides/notesSlide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8.png"/><Relationship Id="rId7" Type="http://schemas.openxmlformats.org/officeDocument/2006/relationships/notesSlide" Target="../notesSlides/notesSlide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22.png"/><Relationship Id="rId9"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3" name="Picture 22">
            <a:extLst>
              <a:ext uri="{FF2B5EF4-FFF2-40B4-BE49-F238E27FC236}">
                <a16:creationId xmlns:a16="http://schemas.microsoft.com/office/drawing/2014/main" id="{551ED8F7-1151-F898-A214-7969576D3F6F}"/>
              </a:ext>
            </a:extLst>
          </p:cNvPr>
          <p:cNvPicPr>
            <a:picLocks noChangeAspect="1"/>
          </p:cNvPicPr>
          <p:nvPr/>
        </p:nvPicPr>
        <p:blipFill>
          <a:blip r:embed="rId2"/>
          <a:stretch>
            <a:fillRect/>
          </a:stretch>
        </p:blipFill>
        <p:spPr>
          <a:xfrm>
            <a:off x="3239" y="0"/>
            <a:ext cx="12185522" cy="6858000"/>
          </a:xfrm>
          <a:prstGeom prst="rect">
            <a:avLst/>
          </a:prstGeom>
        </p:spPr>
      </p:pic>
      <p:pic>
        <p:nvPicPr>
          <p:cNvPr id="25" name="Picture 24">
            <a:extLst>
              <a:ext uri="{FF2B5EF4-FFF2-40B4-BE49-F238E27FC236}">
                <a16:creationId xmlns:a16="http://schemas.microsoft.com/office/drawing/2014/main" id="{E70F2955-B8EA-E7BB-CC7B-2299D5E40461}"/>
              </a:ext>
            </a:extLst>
          </p:cNvPr>
          <p:cNvPicPr>
            <a:picLocks noChangeAspect="1"/>
          </p:cNvPicPr>
          <p:nvPr/>
        </p:nvPicPr>
        <p:blipFill>
          <a:blip r:embed="rId3"/>
          <a:stretch>
            <a:fillRect/>
          </a:stretch>
        </p:blipFill>
        <p:spPr>
          <a:xfrm>
            <a:off x="574691" y="958302"/>
            <a:ext cx="2989876" cy="996625"/>
          </a:xfrm>
          <a:prstGeom prst="rect">
            <a:avLst/>
          </a:prstGeom>
        </p:spPr>
      </p:pic>
      <p:pic>
        <p:nvPicPr>
          <p:cNvPr id="27" name="Picture 26">
            <a:extLst>
              <a:ext uri="{FF2B5EF4-FFF2-40B4-BE49-F238E27FC236}">
                <a16:creationId xmlns:a16="http://schemas.microsoft.com/office/drawing/2014/main" id="{338EFDAB-88F2-7597-B4E6-7FFD1521FCA9}"/>
              </a:ext>
            </a:extLst>
          </p:cNvPr>
          <p:cNvPicPr>
            <a:picLocks noChangeAspect="1"/>
          </p:cNvPicPr>
          <p:nvPr/>
        </p:nvPicPr>
        <p:blipFill>
          <a:blip r:embed="rId4"/>
          <a:stretch>
            <a:fillRect/>
          </a:stretch>
        </p:blipFill>
        <p:spPr>
          <a:xfrm>
            <a:off x="3477942" y="851521"/>
            <a:ext cx="2989876" cy="1035934"/>
          </a:xfrm>
          <a:prstGeom prst="rect">
            <a:avLst/>
          </a:prstGeom>
        </p:spPr>
      </p:pic>
      <p:pic>
        <p:nvPicPr>
          <p:cNvPr id="38" name="Picture 37" descr="image.png"/>
          <p:cNvPicPr>
            <a:picLocks noChangeAspect="1"/>
          </p:cNvPicPr>
          <p:nvPr/>
        </p:nvPicPr>
        <p:blipFill>
          <a:blip r:embed="rId5"/>
          <a:stretch>
            <a:fillRect/>
          </a:stretch>
        </p:blipFill>
        <p:spPr>
          <a:xfrm>
            <a:off x="576072" y="868680"/>
            <a:ext cx="1051560" cy="1051560"/>
          </a:xfrm>
          <a:prstGeom prst="rect">
            <a:avLst/>
          </a:prstGeom>
        </p:spPr>
      </p:pic>
      <p:sp>
        <p:nvSpPr>
          <p:cNvPr id="39" name="Rounded Rectangle 38"/>
          <p:cNvSpPr/>
          <p:nvPr/>
        </p:nvSpPr>
        <p:spPr>
          <a:xfrm>
            <a:off x="612648" y="6236208"/>
            <a:ext cx="10972800" cy="347472"/>
          </a:xfrm>
          <a:prstGeom prst="roundRect">
            <a:avLst/>
          </a:prstGeom>
          <a:solidFill>
            <a:srgbClr val="FFFF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F226B"/>
                </a:solidFill>
                <a:latin typeface="Arial"/>
              </a:defRPr>
            </a:pPr>
            <a:r>
              <a:t>PRODUCTION ARCHITECTURE:   19 Room v12 Entities  |  17 DAOs  |  5 Collateral Classes  |  Sec 4 NI Act 1881  |  RBI 2023-24/53 Compliant  |  Telegram SOS Defense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E811D5D-C4F0-A056-99B7-4165C7485DEB}"/>
              </a:ext>
            </a:extLst>
          </p:cNvPr>
          <p:cNvSpPr>
            <a:spLocks noGrp="1"/>
          </p:cNvSpPr>
          <p:nvPr>
            <p:ph type="ftr" sz="quarter" idx="11"/>
          </p:nvPr>
        </p:nvSpPr>
        <p:spPr/>
        <p:txBody>
          <a:bodyPr/>
          <a:lstStyle/>
          <a:p>
            <a:pPr>
              <a:defRPr/>
            </a:pPr>
            <a:r>
              <a:rPr lang="en-US" dirty="0">
                <a:solidFill>
                  <a:schemeClr val="bg1"/>
                </a:solidFill>
              </a:rPr>
              <a:t>@SIH Idea submission- Template</a:t>
            </a:r>
          </a:p>
        </p:txBody>
      </p:sp>
      <p:sp>
        <p:nvSpPr>
          <p:cNvPr id="5" name="Slide Number Placeholder 4">
            <a:extLst>
              <a:ext uri="{FF2B5EF4-FFF2-40B4-BE49-F238E27FC236}">
                <a16:creationId xmlns:a16="http://schemas.microsoft.com/office/drawing/2014/main" id="{54794012-7608-0B6F-AD36-FBA008F9404E}"/>
              </a:ext>
            </a:extLst>
          </p:cNvPr>
          <p:cNvSpPr>
            <a:spLocks noGrp="1"/>
          </p:cNvSpPr>
          <p:nvPr>
            <p:ph type="sldNum" sz="quarter" idx="12"/>
          </p:nvPr>
        </p:nvSpPr>
        <p:spPr/>
        <p:txBody>
          <a:bodyPr/>
          <a:lstStyle/>
          <a:p>
            <a:fld id="{677C3CE7-23F7-4828-823C-E0205DF2CF97}" type="slidenum">
              <a:rPr lang="en-US" smtClean="0">
                <a:solidFill>
                  <a:schemeClr val="bg1"/>
                </a:solidFill>
              </a:rPr>
              <a:pPr/>
              <a:t>2</a:t>
            </a:fld>
            <a:endParaRPr lang="en-US" dirty="0">
              <a:solidFill>
                <a:schemeClr val="bg1"/>
              </a:solidFill>
            </a:endParaRPr>
          </a:p>
        </p:txBody>
      </p:sp>
      <p:sp>
        <p:nvSpPr>
          <p:cNvPr id="13" name="Content Placeholder 12">
            <a:extLst>
              <a:ext uri="{FF2B5EF4-FFF2-40B4-BE49-F238E27FC236}">
                <a16:creationId xmlns:a16="http://schemas.microsoft.com/office/drawing/2014/main" id="{BDB67502-21DD-6257-B548-146B4D8A07D2}"/>
              </a:ext>
            </a:extLst>
          </p:cNvPr>
          <p:cNvSpPr>
            <a:spLocks noGrp="1"/>
          </p:cNvSpPr>
          <p:nvPr>
            <p:ph idx="1"/>
          </p:nvPr>
        </p:nvSpPr>
        <p:spPr/>
        <p:txBody>
          <a:bodyPr/>
          <a:lstStyle/>
          <a:p>
            <a:endParaRPr lang="en-IN" dirty="0"/>
          </a:p>
        </p:txBody>
      </p:sp>
      <p:pic>
        <p:nvPicPr>
          <p:cNvPr id="25" name="Picture 24">
            <a:extLst>
              <a:ext uri="{FF2B5EF4-FFF2-40B4-BE49-F238E27FC236}">
                <a16:creationId xmlns:a16="http://schemas.microsoft.com/office/drawing/2014/main" id="{2982E845-B2CD-5E51-579F-B63FDA84A3CE}"/>
              </a:ext>
            </a:extLst>
          </p:cNvPr>
          <p:cNvPicPr>
            <a:picLocks noChangeAspect="1"/>
          </p:cNvPicPr>
          <p:nvPr/>
        </p:nvPicPr>
        <p:blipFill>
          <a:blip r:embed="rId2"/>
          <a:stretch>
            <a:fillRect/>
          </a:stretch>
        </p:blipFill>
        <p:spPr>
          <a:xfrm>
            <a:off x="0" y="0"/>
            <a:ext cx="12185522" cy="6858000"/>
          </a:xfrm>
          <a:prstGeom prst="rect">
            <a:avLst/>
          </a:prstGeom>
        </p:spPr>
      </p:pic>
      <p:pic>
        <p:nvPicPr>
          <p:cNvPr id="23" name="Picture 22">
            <a:extLst>
              <a:ext uri="{FF2B5EF4-FFF2-40B4-BE49-F238E27FC236}">
                <a16:creationId xmlns:a16="http://schemas.microsoft.com/office/drawing/2014/main" id="{2297F361-F103-691A-C45D-B4EC7E2E453E}"/>
              </a:ext>
            </a:extLst>
          </p:cNvPr>
          <p:cNvPicPr>
            <a:picLocks noChangeAspect="1"/>
          </p:cNvPicPr>
          <p:nvPr/>
        </p:nvPicPr>
        <p:blipFill>
          <a:blip r:embed="rId3"/>
          <a:stretch>
            <a:fillRect/>
          </a:stretch>
        </p:blipFill>
        <p:spPr>
          <a:xfrm>
            <a:off x="9932363" y="52747"/>
            <a:ext cx="1983131" cy="812438"/>
          </a:xfrm>
          <a:prstGeom prst="rect">
            <a:avLst/>
          </a:prstGeom>
        </p:spPr>
      </p:pic>
      <p:pic>
        <p:nvPicPr>
          <p:cNvPr id="21" name="Picture 20">
            <a:extLst>
              <a:ext uri="{FF2B5EF4-FFF2-40B4-BE49-F238E27FC236}">
                <a16:creationId xmlns:a16="http://schemas.microsoft.com/office/drawing/2014/main" id="{FE8E3E42-D1D4-704D-DDFE-5C79A4A51D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9901" y="12447"/>
            <a:ext cx="1720607" cy="812438"/>
          </a:xfrm>
          <a:prstGeom prst="rect">
            <a:avLst/>
          </a:prstGeom>
        </p:spPr>
      </p:pic>
      <p:pic>
        <p:nvPicPr>
          <p:cNvPr id="29" name="Picture 28">
            <a:extLst>
              <a:ext uri="{FF2B5EF4-FFF2-40B4-BE49-F238E27FC236}">
                <a16:creationId xmlns:a16="http://schemas.microsoft.com/office/drawing/2014/main" id="{167C998E-628B-F50C-A070-3F591F95E48E}"/>
              </a:ext>
            </a:extLst>
          </p:cNvPr>
          <p:cNvPicPr>
            <a:picLocks noChangeAspect="1"/>
          </p:cNvPicPr>
          <p:nvPr/>
        </p:nvPicPr>
        <p:blipFill>
          <a:blip r:embed="rId5"/>
          <a:stretch>
            <a:fillRect/>
          </a:stretch>
        </p:blipFill>
        <p:spPr>
          <a:xfrm>
            <a:off x="6479" y="-9461"/>
            <a:ext cx="1509806" cy="993309"/>
          </a:xfrm>
          <a:prstGeom prst="rect">
            <a:avLst/>
          </a:prstGeom>
        </p:spPr>
      </p:pic>
      <p:sp>
        <p:nvSpPr>
          <p:cNvPr id="30" name="Rectangle 29"/>
          <p:cNvSpPr/>
          <p:nvPr/>
        </p:nvSpPr>
        <p:spPr>
          <a:xfrm>
            <a:off x="0" y="987552"/>
            <a:ext cx="12191695" cy="587044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12648" y="1051560"/>
            <a:ext cx="5394960" cy="1124712"/>
          </a:xfrm>
          <a:prstGeom prst="roundRect">
            <a:avLst/>
          </a:prstGeom>
          <a:solidFill>
            <a:srgbClr val="FEF2F2"/>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31520" y="1115568"/>
            <a:ext cx="3931920" cy="219456"/>
          </a:xfrm>
          <a:prstGeom prst="roundRect">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PROBLEM STATEMENT 92: THE REAL-WORLD MSME CRISIS</a:t>
            </a:r>
          </a:p>
        </p:txBody>
      </p:sp>
      <p:sp>
        <p:nvSpPr>
          <p:cNvPr id="33" name="TextBox 32"/>
          <p:cNvSpPr txBox="1"/>
          <p:nvPr/>
        </p:nvSpPr>
        <p:spPr>
          <a:xfrm>
            <a:off x="731520" y="1353312"/>
            <a:ext cx="5166360" cy="438912"/>
          </a:xfrm>
          <a:prstGeom prst="rect">
            <a:avLst/>
          </a:prstGeom>
          <a:noFill/>
        </p:spPr>
        <p:txBody>
          <a:bodyPr wrap="square" lIns="0" tIns="0" rIns="0" bIns="0">
            <a:spAutoFit/>
          </a:bodyPr>
          <a:lstStyle/>
          <a:p>
            <a:pPr>
              <a:defRPr sz="780">
                <a:solidFill>
                  <a:srgbClr val="0F172A"/>
                </a:solidFill>
                <a:latin typeface="Calibri"/>
              </a:defRPr>
            </a:pPr>
            <a:r>
              <a:t>Across Bharat, 63M micro-enterprises are denied bank credit (85%+ unbanked) and forced into 60%-120% moneylenders. When liquid cash is disbursed, 48% leaks into household emergencies, leaving zero capital for working inventory.</a:t>
            </a:r>
          </a:p>
        </p:txBody>
      </p:sp>
      <p:sp>
        <p:nvSpPr>
          <p:cNvPr id="34" name="Rounded Rectangle 33"/>
          <p:cNvSpPr/>
          <p:nvPr/>
        </p:nvSpPr>
        <p:spPr>
          <a:xfrm>
            <a:off x="731520" y="1810512"/>
            <a:ext cx="1188720" cy="201168"/>
          </a:xfrm>
          <a:prstGeom prst="roundRect">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48% DIVERSION</a:t>
            </a:r>
          </a:p>
        </p:txBody>
      </p:sp>
      <p:sp>
        <p:nvSpPr>
          <p:cNvPr id="35" name="Rounded Rectangle 34"/>
          <p:cNvSpPr/>
          <p:nvPr/>
        </p:nvSpPr>
        <p:spPr>
          <a:xfrm>
            <a:off x="1993391" y="1810512"/>
            <a:ext cx="1188720" cy="201168"/>
          </a:xfrm>
          <a:prstGeom prst="round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₹350B BLINDSPOT</a:t>
            </a:r>
          </a:p>
        </p:txBody>
      </p:sp>
      <p:sp>
        <p:nvSpPr>
          <p:cNvPr id="36" name="Rounded Rectangle 35"/>
          <p:cNvSpPr/>
          <p:nvPr/>
        </p:nvSpPr>
        <p:spPr>
          <a:xfrm>
            <a:off x="3255263" y="1810512"/>
            <a:ext cx="1188720" cy="201168"/>
          </a:xfrm>
          <a:prstGeom prst="roundRect">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85% UNBANKED</a:t>
            </a:r>
          </a:p>
        </p:txBody>
      </p:sp>
      <p:sp>
        <p:nvSpPr>
          <p:cNvPr id="37" name="Rounded Rectangle 36"/>
          <p:cNvSpPr/>
          <p:nvPr/>
        </p:nvSpPr>
        <p:spPr>
          <a:xfrm>
            <a:off x="4517136" y="1810512"/>
            <a:ext cx="1188720" cy="201168"/>
          </a:xfrm>
          <a:prstGeom prst="round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60%-120% APR</a:t>
            </a:r>
          </a:p>
        </p:txBody>
      </p:sp>
      <p:sp>
        <p:nvSpPr>
          <p:cNvPr id="38" name="Rounded Rectangle 37"/>
          <p:cNvSpPr/>
          <p:nvPr/>
        </p:nvSpPr>
        <p:spPr>
          <a:xfrm>
            <a:off x="6190488" y="1051560"/>
            <a:ext cx="5394960" cy="1124712"/>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309360" y="1115568"/>
            <a:ext cx="3931920" cy="219456"/>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THE LOANZO PROTOCOL: 100% PURPOSE-BOUND ESCROW</a:t>
            </a:r>
          </a:p>
        </p:txBody>
      </p:sp>
      <p:sp>
        <p:nvSpPr>
          <p:cNvPr id="40" name="TextBox 39"/>
          <p:cNvSpPr txBox="1"/>
          <p:nvPr/>
        </p:nvSpPr>
        <p:spPr>
          <a:xfrm>
            <a:off x="6309360" y="1353312"/>
            <a:ext cx="5166360" cy="438912"/>
          </a:xfrm>
          <a:prstGeom prst="rect">
            <a:avLst/>
          </a:prstGeom>
          <a:noFill/>
        </p:spPr>
        <p:txBody>
          <a:bodyPr wrap="square" lIns="0" tIns="0" rIns="0" bIns="0">
            <a:spAutoFit/>
          </a:bodyPr>
          <a:lstStyle/>
          <a:p>
            <a:pPr>
              <a:defRPr sz="780">
                <a:solidFill>
                  <a:srgbClr val="0F172A"/>
                </a:solidFill>
                <a:latin typeface="Calibri"/>
              </a:defRPr>
            </a:pPr>
            <a:r>
              <a:t>Loanzo replaces liquid cash with purpose-bound milestone tranches disbursed directly to verified supplier UPI VPAs upon invoice upload. Secured by a 5-class collateral vault and biometrically signed statutory promissory notes.</a:t>
            </a:r>
          </a:p>
        </p:txBody>
      </p:sp>
      <p:sp>
        <p:nvSpPr>
          <p:cNvPr id="41" name="Rounded Rectangle 40"/>
          <p:cNvSpPr/>
          <p:nvPr/>
        </p:nvSpPr>
        <p:spPr>
          <a:xfrm>
            <a:off x="6309360" y="1810512"/>
            <a:ext cx="1188720" cy="201168"/>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0% CASH LEAKAGE</a:t>
            </a:r>
          </a:p>
        </p:txBody>
      </p:sp>
      <p:sp>
        <p:nvSpPr>
          <p:cNvPr id="42" name="Rounded Rectangle 41"/>
          <p:cNvSpPr/>
          <p:nvPr/>
        </p:nvSpPr>
        <p:spPr>
          <a:xfrm>
            <a:off x="7571232" y="1810512"/>
            <a:ext cx="1188720" cy="201168"/>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12%-18% SIMPLE APR</a:t>
            </a:r>
          </a:p>
        </p:txBody>
      </p:sp>
      <p:sp>
        <p:nvSpPr>
          <p:cNvPr id="43" name="Rounded Rectangle 42"/>
          <p:cNvSpPr/>
          <p:nvPr/>
        </p:nvSpPr>
        <p:spPr>
          <a:xfrm>
            <a:off x="8833104" y="1810512"/>
            <a:ext cx="1188720" cy="201168"/>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5-CLASS VAULT</a:t>
            </a:r>
          </a:p>
        </p:txBody>
      </p:sp>
      <p:sp>
        <p:nvSpPr>
          <p:cNvPr id="44" name="Rounded Rectangle 43"/>
          <p:cNvSpPr/>
          <p:nvPr/>
        </p:nvSpPr>
        <p:spPr>
          <a:xfrm>
            <a:off x="10094976" y="1810512"/>
            <a:ext cx="1188720" cy="201168"/>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60-DAY COURT DECREE</a:t>
            </a:r>
          </a:p>
        </p:txBody>
      </p:sp>
      <p:sp>
        <p:nvSpPr>
          <p:cNvPr id="45" name="Rounded Rectangle 44"/>
          <p:cNvSpPr/>
          <p:nvPr/>
        </p:nvSpPr>
        <p:spPr>
          <a:xfrm>
            <a:off x="612648" y="2240280"/>
            <a:ext cx="3337560" cy="42793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731520" y="2313432"/>
            <a:ext cx="3099816" cy="237744"/>
          </a:xfrm>
          <a:prstGeom prst="roundRect">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HOW OUR APP SOLVES IT (TECH ENGINES)</a:t>
            </a:r>
          </a:p>
        </p:txBody>
      </p:sp>
      <p:sp>
        <p:nvSpPr>
          <p:cNvPr id="47" name="Rounded Rectangle 46"/>
          <p:cNvSpPr/>
          <p:nvPr/>
        </p:nvSpPr>
        <p:spPr>
          <a:xfrm>
            <a:off x="713232" y="2633472"/>
            <a:ext cx="3136392" cy="84124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defRPr sz="850" b="1">
                <a:solidFill>
                  <a:srgbClr val="0284C7"/>
                </a:solidFill>
                <a:latin typeface="Arial"/>
              </a:defRPr>
            </a:pPr>
            <a:r>
              <a:t>Milestone Tranche Gating</a:t>
            </a:r>
          </a:p>
          <a:p>
            <a:pPr>
              <a:defRPr sz="750">
                <a:solidFill>
                  <a:srgbClr val="0F172A"/>
                </a:solidFill>
                <a:latin typeface="Calibri"/>
              </a:defRPr>
            </a:pPr>
            <a:r>
              <a:t>MilestoneEscrowEngine.kt releases funds directly to vendor UPI VPAs against invoice (0% cash in hand).</a:t>
            </a:r>
          </a:p>
        </p:txBody>
      </p:sp>
      <p:sp>
        <p:nvSpPr>
          <p:cNvPr id="48" name="Rounded Rectangle 47"/>
          <p:cNvSpPr/>
          <p:nvPr/>
        </p:nvSpPr>
        <p:spPr>
          <a:xfrm>
            <a:off x="713232" y="3575304"/>
            <a:ext cx="3136392" cy="841248"/>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defRPr sz="850" b="1">
                <a:solidFill>
                  <a:srgbClr val="0F766E"/>
                </a:solidFill>
                <a:latin typeface="Arial"/>
              </a:defRPr>
            </a:pPr>
            <a:r>
              <a:t>5-Class Collateral Vault</a:t>
            </a:r>
          </a:p>
          <a:p>
            <a:pPr>
              <a:defRPr sz="750">
                <a:solidFill>
                  <a:srgbClr val="0F172A"/>
                </a:solidFill>
                <a:latin typeface="Calibri"/>
              </a:defRPr>
            </a:pPr>
            <a:r>
              <a:t>VaultRepository.kt applies dynamic haircuts: Gold 75%, Silver 65%, IT 50%, Crops 60%, Cattle 40%.</a:t>
            </a:r>
          </a:p>
        </p:txBody>
      </p:sp>
      <p:sp>
        <p:nvSpPr>
          <p:cNvPr id="49" name="Rounded Rectangle 48"/>
          <p:cNvSpPr/>
          <p:nvPr/>
        </p:nvSpPr>
        <p:spPr>
          <a:xfrm>
            <a:off x="713232" y="4517136"/>
            <a:ext cx="3136392" cy="841248"/>
          </a:xfrm>
          <a:prstGeom prst="roundRect">
            <a:avLst/>
          </a:prstGeom>
          <a:solidFill>
            <a:srgbClr val="FFFBEB"/>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defRPr sz="850" b="1">
                <a:solidFill>
                  <a:srgbClr val="D97706"/>
                </a:solidFill>
                <a:latin typeface="Arial"/>
              </a:defRPr>
            </a:pPr>
            <a:r>
              <a:t>Statutory Promissory Note</a:t>
            </a:r>
          </a:p>
          <a:p>
            <a:pPr>
              <a:defRPr sz="750">
                <a:solidFill>
                  <a:srgbClr val="0F172A"/>
                </a:solidFill>
                <a:latin typeface="Calibri"/>
              </a:defRPr>
            </a:pPr>
            <a:r>
              <a:t>AgreementGenerator.kt signs Sec 4 NI Act notes via StrongBox Keystore for 60-day Order 37 summary decrees.</a:t>
            </a:r>
          </a:p>
        </p:txBody>
      </p:sp>
      <p:sp>
        <p:nvSpPr>
          <p:cNvPr id="50" name="Rounded Rectangle 49"/>
          <p:cNvSpPr/>
          <p:nvPr/>
        </p:nvSpPr>
        <p:spPr>
          <a:xfrm>
            <a:off x="713232" y="5458968"/>
            <a:ext cx="3136392" cy="84124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defRPr sz="850" b="1">
                <a:solidFill>
                  <a:srgbClr val="991B1B"/>
                </a:solidFill>
                <a:latin typeface="Arial"/>
              </a:defRPr>
            </a:pPr>
            <a:r>
              <a:t>Anti-Harassment SOS Bot</a:t>
            </a:r>
          </a:p>
          <a:p>
            <a:pPr>
              <a:defRPr sz="750">
                <a:solidFill>
                  <a:srgbClr val="0F172A"/>
                </a:solidFill>
                <a:latin typeface="Calibri"/>
              </a:defRPr>
            </a:pPr>
            <a:r>
              <a:t>PenaltyEngine.kt enforces RBI 2023-24/53 non-compounding cap (2% p.a.); Telegram bot logs rogue visits.</a:t>
            </a:r>
          </a:p>
        </p:txBody>
      </p:sp>
      <p:sp>
        <p:nvSpPr>
          <p:cNvPr id="51" name="Rounded Rectangle 50"/>
          <p:cNvSpPr/>
          <p:nvPr/>
        </p:nvSpPr>
        <p:spPr>
          <a:xfrm>
            <a:off x="4041648" y="2240280"/>
            <a:ext cx="3977639" cy="4279392"/>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4160520" y="2313432"/>
            <a:ext cx="3739896" cy="237744"/>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LIVE ANDROID APP &amp; 4-STAGE ESCROW WORKFLOW</a:t>
            </a:r>
          </a:p>
        </p:txBody>
      </p:sp>
      <p:sp>
        <p:nvSpPr>
          <p:cNvPr id="53" name="Rounded Rectangle 52"/>
          <p:cNvSpPr/>
          <p:nvPr/>
        </p:nvSpPr>
        <p:spPr>
          <a:xfrm>
            <a:off x="4133087" y="2615184"/>
            <a:ext cx="896112" cy="237744"/>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80" b="1">
                <a:solidFill>
                  <a:srgbClr val="0F226B"/>
                </a:solidFill>
                <a:latin typeface="Arial"/>
              </a:defRPr>
            </a:pPr>
            <a:r>
              <a:t>1. Pledge Asset</a:t>
            </a:r>
          </a:p>
        </p:txBody>
      </p:sp>
      <p:sp>
        <p:nvSpPr>
          <p:cNvPr id="54" name="Rounded Rectangle 53"/>
          <p:cNvSpPr/>
          <p:nvPr/>
        </p:nvSpPr>
        <p:spPr>
          <a:xfrm>
            <a:off x="5074920" y="2615184"/>
            <a:ext cx="896112" cy="237744"/>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80" b="1">
                <a:solidFill>
                  <a:srgbClr val="0F226B"/>
                </a:solidFill>
                <a:latin typeface="Arial"/>
              </a:defRPr>
            </a:pPr>
            <a:r>
              <a:t>2. Syndicate Bids</a:t>
            </a:r>
          </a:p>
        </p:txBody>
      </p:sp>
      <p:sp>
        <p:nvSpPr>
          <p:cNvPr id="55" name="Rounded Rectangle 54"/>
          <p:cNvSpPr/>
          <p:nvPr/>
        </p:nvSpPr>
        <p:spPr>
          <a:xfrm>
            <a:off x="6016752" y="2615184"/>
            <a:ext cx="896112" cy="237744"/>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80" b="1">
                <a:solidFill>
                  <a:srgbClr val="0F226B"/>
                </a:solidFill>
                <a:latin typeface="Arial"/>
              </a:defRPr>
            </a:pPr>
            <a:r>
              <a:t>3. Milestone Gate</a:t>
            </a:r>
          </a:p>
        </p:txBody>
      </p:sp>
      <p:sp>
        <p:nvSpPr>
          <p:cNvPr id="56" name="Rounded Rectangle 55"/>
          <p:cNvSpPr/>
          <p:nvPr/>
        </p:nvSpPr>
        <p:spPr>
          <a:xfrm>
            <a:off x="6958583" y="2615184"/>
            <a:ext cx="896112" cy="237744"/>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80" b="1">
                <a:solidFill>
                  <a:srgbClr val="0F226B"/>
                </a:solidFill>
                <a:latin typeface="Arial"/>
              </a:defRPr>
            </a:pPr>
            <a:r>
              <a:t>4. Direct Supplier UPI</a:t>
            </a:r>
          </a:p>
        </p:txBody>
      </p:sp>
      <p:sp>
        <p:nvSpPr>
          <p:cNvPr id="57" name="Rounded Rectangle 56"/>
          <p:cNvSpPr/>
          <p:nvPr/>
        </p:nvSpPr>
        <p:spPr>
          <a:xfrm>
            <a:off x="4105656" y="2926080"/>
            <a:ext cx="1078992" cy="3127248"/>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56032"/>
          <a:lstStyle/>
          <a:p>
            <a:pPr algn="ctr"/>
          </a:p>
          <a:p>
            <a:pPr>
              <a:defRPr sz="680">
                <a:solidFill>
                  <a:srgbClr val="0F172A"/>
                </a:solidFill>
                <a:latin typeface="Calibri"/>
              </a:defRPr>
            </a:pPr>
            <a:r>
              <a:t>• Pledges multi-asset vault</a:t>
            </a:r>
          </a:p>
          <a:p>
            <a:pPr>
              <a:defRPr sz="680">
                <a:solidFill>
                  <a:srgbClr val="0F172A"/>
                </a:solidFill>
                <a:latin typeface="Calibri"/>
              </a:defRPr>
            </a:pPr>
            <a:r>
              <a:t>• Selects verified vendor VPA</a:t>
            </a:r>
          </a:p>
          <a:p>
            <a:pPr>
              <a:defRPr sz="680">
                <a:solidFill>
                  <a:srgbClr val="0F172A"/>
                </a:solidFill>
                <a:latin typeface="Calibri"/>
              </a:defRPr>
            </a:pPr>
            <a:r>
              <a:t>• Uploads invoice for tranche</a:t>
            </a:r>
          </a:p>
          <a:p>
            <a:pPr>
              <a:defRPr sz="680">
                <a:solidFill>
                  <a:srgbClr val="0F172A"/>
                </a:solidFill>
                <a:latin typeface="Calibri"/>
              </a:defRPr>
            </a:pPr>
            <a:r>
              <a:t>• Repays via dynamic UPI QR</a:t>
            </a:r>
          </a:p>
          <a:p>
            <a:pPr>
              <a:defRPr sz="680">
                <a:solidFill>
                  <a:srgbClr val="0F172A"/>
                </a:solidFill>
                <a:latin typeface="Calibri"/>
              </a:defRPr>
            </a:pPr>
            <a:r>
              <a:t>• Instant Golden NOC</a:t>
            </a:r>
          </a:p>
        </p:txBody>
      </p:sp>
      <p:sp>
        <p:nvSpPr>
          <p:cNvPr id="58" name="Rounded Rectangle 57"/>
          <p:cNvSpPr/>
          <p:nvPr/>
        </p:nvSpPr>
        <p:spPr>
          <a:xfrm>
            <a:off x="4142232" y="2980944"/>
            <a:ext cx="1005840" cy="201168"/>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20" b="1">
                <a:solidFill>
                  <a:srgbClr val="FFFFFF"/>
                </a:solidFill>
                <a:latin typeface="Arial"/>
              </a:defRPr>
            </a:pPr>
            <a:r>
              <a:t>BENEFICIARY</a:t>
            </a:r>
          </a:p>
        </p:txBody>
      </p:sp>
      <p:sp>
        <p:nvSpPr>
          <p:cNvPr id="59" name="Rounded Rectangle 58"/>
          <p:cNvSpPr/>
          <p:nvPr/>
        </p:nvSpPr>
        <p:spPr>
          <a:xfrm>
            <a:off x="6876288" y="2926080"/>
            <a:ext cx="1078992" cy="312724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56032"/>
          <a:lstStyle/>
          <a:p>
            <a:pPr algn="ctr"/>
          </a:p>
          <a:p>
            <a:pPr>
              <a:defRPr sz="680">
                <a:solidFill>
                  <a:srgbClr val="0F172A"/>
                </a:solidFill>
                <a:latin typeface="Calibri"/>
              </a:defRPr>
            </a:pPr>
            <a:r>
              <a:t>• Reviews asset valuation</a:t>
            </a:r>
          </a:p>
          <a:p>
            <a:pPr>
              <a:defRPr sz="680">
                <a:solidFill>
                  <a:srgbClr val="0F172A"/>
                </a:solidFill>
                <a:latin typeface="Calibri"/>
              </a:defRPr>
            </a:pPr>
            <a:r>
              <a:t>• Submits syndicated bids</a:t>
            </a:r>
          </a:p>
          <a:p>
            <a:pPr>
              <a:defRPr sz="680">
                <a:solidFill>
                  <a:srgbClr val="0F172A"/>
                </a:solidFill>
                <a:latin typeface="Calibri"/>
              </a:defRPr>
            </a:pPr>
            <a:r>
              <a:t>• Tracks purpose-bound use</a:t>
            </a:r>
          </a:p>
          <a:p>
            <a:pPr>
              <a:defRPr sz="680">
                <a:solidFill>
                  <a:srgbClr val="0F172A"/>
                </a:solidFill>
                <a:latin typeface="Calibri"/>
              </a:defRPr>
            </a:pPr>
            <a:r>
              <a:t>• Real-time repayment logs</a:t>
            </a:r>
          </a:p>
          <a:p>
            <a:pPr>
              <a:defRPr sz="680">
                <a:solidFill>
                  <a:srgbClr val="0F172A"/>
                </a:solidFill>
                <a:latin typeface="Calibri"/>
              </a:defRPr>
            </a:pPr>
            <a:r>
              <a:t>• Automated Order 37 packet</a:t>
            </a:r>
          </a:p>
        </p:txBody>
      </p:sp>
      <p:sp>
        <p:nvSpPr>
          <p:cNvPr id="60" name="Rounded Rectangle 59"/>
          <p:cNvSpPr/>
          <p:nvPr/>
        </p:nvSpPr>
        <p:spPr>
          <a:xfrm>
            <a:off x="6912864" y="2980944"/>
            <a:ext cx="1005840" cy="201168"/>
          </a:xfrm>
          <a:prstGeom prst="roundRect">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20" b="1">
                <a:solidFill>
                  <a:srgbClr val="FFFFFF"/>
                </a:solidFill>
                <a:latin typeface="Arial"/>
              </a:defRPr>
            </a:pPr>
            <a:r>
              <a:t>LENDING AGENCY</a:t>
            </a:r>
          </a:p>
        </p:txBody>
      </p:sp>
      <p:sp>
        <p:nvSpPr>
          <p:cNvPr id="61" name="Rounded Rectangle 60"/>
          <p:cNvSpPr/>
          <p:nvPr/>
        </p:nvSpPr>
        <p:spPr>
          <a:xfrm>
            <a:off x="5217440" y="2926080"/>
            <a:ext cx="1626054" cy="3127248"/>
          </a:xfrm>
          <a:prstGeom prst="roundRect">
            <a:avLst/>
          </a:prstGeom>
          <a:solidFill>
            <a:srgbClr val="0F172A"/>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5870448" y="2939796"/>
            <a:ext cx="320040" cy="32004"/>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mage.png"/>
          <p:cNvPicPr>
            <a:picLocks noChangeAspect="1"/>
          </p:cNvPicPr>
          <p:nvPr/>
        </p:nvPicPr>
        <p:blipFill>
          <a:blip r:embed="rId6"/>
          <a:stretch>
            <a:fillRect/>
          </a:stretch>
        </p:blipFill>
        <p:spPr>
          <a:xfrm>
            <a:off x="5254016" y="2971800"/>
            <a:ext cx="1552902" cy="3035808"/>
          </a:xfrm>
          <a:prstGeom prst="rect">
            <a:avLst/>
          </a:prstGeom>
        </p:spPr>
      </p:pic>
      <p:sp>
        <p:nvSpPr>
          <p:cNvPr id="64" name="Rounded Rectangle 63"/>
          <p:cNvSpPr/>
          <p:nvPr/>
        </p:nvSpPr>
        <p:spPr>
          <a:xfrm>
            <a:off x="4133087" y="6126480"/>
            <a:ext cx="3794760" cy="274320"/>
          </a:xfrm>
          <a:prstGeom prst="roundRect">
            <a:avLst/>
          </a:prstGeom>
          <a:solidFill>
            <a:srgbClr val="0F172A"/>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80" b="1">
                <a:solidFill>
                  <a:srgbClr val="38BDF8"/>
                </a:solidFill>
                <a:latin typeface="Arial"/>
              </a:defRPr>
            </a:pPr>
            <a:r>
              <a:t>OFFLINE-FIRST ROOM v12 DATABASE  |  19 ENTITIES  |  17 DAOs</a:t>
            </a:r>
          </a:p>
        </p:txBody>
      </p:sp>
      <p:sp>
        <p:nvSpPr>
          <p:cNvPr id="65" name="Rounded Rectangle 64"/>
          <p:cNvSpPr/>
          <p:nvPr/>
        </p:nvSpPr>
        <p:spPr>
          <a:xfrm>
            <a:off x="8110727" y="2240280"/>
            <a:ext cx="3474720" cy="42793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8229600" y="2313432"/>
            <a:ext cx="3236976" cy="237744"/>
          </a:xfrm>
          <a:prstGeom prst="roundRect">
            <a:avLst/>
          </a:prstGeom>
          <a:solidFill>
            <a:srgbClr val="581C87"/>
          </a:solidFill>
          <a:ln>
            <a:solidFill>
              <a:srgbClr val="581C87"/>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UNIQUENESS: WHAT DIFFERENCE IT MAKES</a:t>
            </a:r>
          </a:p>
        </p:txBody>
      </p:sp>
      <p:sp>
        <p:nvSpPr>
          <p:cNvPr id="67" name="Rounded Rectangle 66"/>
          <p:cNvSpPr/>
          <p:nvPr/>
        </p:nvSpPr>
        <p:spPr>
          <a:xfrm>
            <a:off x="8211312" y="2633472"/>
            <a:ext cx="3273552" cy="768096"/>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266175" y="2660904"/>
            <a:ext cx="3200400" cy="164592"/>
          </a:xfrm>
          <a:prstGeom prst="rect">
            <a:avLst/>
          </a:prstGeom>
          <a:noFill/>
        </p:spPr>
        <p:txBody>
          <a:bodyPr wrap="none" lIns="0" tIns="0" rIns="0" bIns="0">
            <a:spAutoFit/>
          </a:bodyPr>
          <a:lstStyle/>
          <a:p>
            <a:pPr>
              <a:defRPr sz="750" b="1">
                <a:solidFill>
                  <a:srgbClr val="0F226B"/>
                </a:solidFill>
                <a:latin typeface="Calibri"/>
              </a:defRPr>
            </a:pPr>
            <a:r>
              <a:t>1. FUND DIVERSION RATE</a:t>
            </a:r>
          </a:p>
        </p:txBody>
      </p:sp>
      <p:sp>
        <p:nvSpPr>
          <p:cNvPr id="69" name="Rounded Rectangle 68"/>
          <p:cNvSpPr/>
          <p:nvPr/>
        </p:nvSpPr>
        <p:spPr>
          <a:xfrm>
            <a:off x="8266175" y="2852928"/>
            <a:ext cx="3163824" cy="228600"/>
          </a:xfrm>
          <a:prstGeom prst="roundRect">
            <a:avLst/>
          </a:prstGeom>
          <a:solidFill>
            <a:srgbClr val="FEF2F2"/>
          </a:solidFill>
          <a:ln w="9525">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700" b="1">
                <a:solidFill>
                  <a:srgbClr val="991B1B"/>
                </a:solidFill>
                <a:latin typeface="Arial"/>
              </a:defRPr>
            </a:pPr>
            <a:r>
              <a:t>🔴 Traditional Cash Loan: 48% Diversion (Leakage)</a:t>
            </a:r>
          </a:p>
        </p:txBody>
      </p:sp>
      <p:sp>
        <p:nvSpPr>
          <p:cNvPr id="70" name="Rounded Rectangle 69"/>
          <p:cNvSpPr/>
          <p:nvPr/>
        </p:nvSpPr>
        <p:spPr>
          <a:xfrm>
            <a:off x="8266175" y="3118104"/>
            <a:ext cx="3163824" cy="228600"/>
          </a:xfrm>
          <a:prstGeom prst="roundRect">
            <a:avLst/>
          </a:prstGeom>
          <a:solidFill>
            <a:srgbClr val="F0FDF4"/>
          </a:solidFill>
          <a:ln w="9525">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700" b="1">
                <a:solidFill>
                  <a:srgbClr val="0F766E"/>
                </a:solidFill>
                <a:latin typeface="Arial"/>
              </a:defRPr>
            </a:pPr>
            <a:r>
              <a:t>🟢 Loanzo Milestone Escrow: 0% Diversion (100% Gated)</a:t>
            </a:r>
          </a:p>
        </p:txBody>
      </p:sp>
      <p:sp>
        <p:nvSpPr>
          <p:cNvPr id="71" name="Rounded Rectangle 70"/>
          <p:cNvSpPr/>
          <p:nvPr/>
        </p:nvSpPr>
        <p:spPr>
          <a:xfrm>
            <a:off x="8211312" y="3483864"/>
            <a:ext cx="3273552" cy="768096"/>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266175" y="3511296"/>
            <a:ext cx="3200400" cy="164592"/>
          </a:xfrm>
          <a:prstGeom prst="rect">
            <a:avLst/>
          </a:prstGeom>
          <a:noFill/>
        </p:spPr>
        <p:txBody>
          <a:bodyPr wrap="none" lIns="0" tIns="0" rIns="0" bIns="0">
            <a:spAutoFit/>
          </a:bodyPr>
          <a:lstStyle/>
          <a:p>
            <a:pPr>
              <a:defRPr sz="750" b="1">
                <a:solidFill>
                  <a:srgbClr val="0F226B"/>
                </a:solidFill>
                <a:latin typeface="Calibri"/>
              </a:defRPr>
            </a:pPr>
            <a:r>
              <a:t>2. ANNUAL BORROWING COST (APR)</a:t>
            </a:r>
          </a:p>
        </p:txBody>
      </p:sp>
      <p:sp>
        <p:nvSpPr>
          <p:cNvPr id="73" name="Rounded Rectangle 72"/>
          <p:cNvSpPr/>
          <p:nvPr/>
        </p:nvSpPr>
        <p:spPr>
          <a:xfrm>
            <a:off x="8266175" y="3703320"/>
            <a:ext cx="3163824" cy="228600"/>
          </a:xfrm>
          <a:prstGeom prst="roundRect">
            <a:avLst/>
          </a:prstGeom>
          <a:solidFill>
            <a:srgbClr val="FEF2F2"/>
          </a:solidFill>
          <a:ln w="9525">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700" b="1">
                <a:solidFill>
                  <a:srgbClr val="991B1B"/>
                </a:solidFill>
                <a:latin typeface="Arial"/>
              </a:defRPr>
            </a:pPr>
            <a:r>
              <a:t>🔴 Informal Moneylenders: 60%-120% APR (Compound)</a:t>
            </a:r>
          </a:p>
        </p:txBody>
      </p:sp>
      <p:sp>
        <p:nvSpPr>
          <p:cNvPr id="74" name="Rounded Rectangle 73"/>
          <p:cNvSpPr/>
          <p:nvPr/>
        </p:nvSpPr>
        <p:spPr>
          <a:xfrm>
            <a:off x="8266175" y="3968496"/>
            <a:ext cx="3163824" cy="228600"/>
          </a:xfrm>
          <a:prstGeom prst="roundRect">
            <a:avLst/>
          </a:prstGeom>
          <a:solidFill>
            <a:srgbClr val="F0FDF4"/>
          </a:solidFill>
          <a:ln w="9525">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700" b="1">
                <a:solidFill>
                  <a:srgbClr val="0F766E"/>
                </a:solidFill>
                <a:latin typeface="Arial"/>
              </a:defRPr>
            </a:pPr>
            <a:r>
              <a:t>🟢 Loanzo Syndicated Pool: 12%-18% Simple APR</a:t>
            </a:r>
          </a:p>
        </p:txBody>
      </p:sp>
      <p:sp>
        <p:nvSpPr>
          <p:cNvPr id="75" name="Rounded Rectangle 74"/>
          <p:cNvSpPr/>
          <p:nvPr/>
        </p:nvSpPr>
        <p:spPr>
          <a:xfrm>
            <a:off x="8211312" y="4334256"/>
            <a:ext cx="3273552" cy="768096"/>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266175" y="4361688"/>
            <a:ext cx="3200400" cy="164592"/>
          </a:xfrm>
          <a:prstGeom prst="rect">
            <a:avLst/>
          </a:prstGeom>
          <a:noFill/>
        </p:spPr>
        <p:txBody>
          <a:bodyPr wrap="none" lIns="0" tIns="0" rIns="0" bIns="0">
            <a:spAutoFit/>
          </a:bodyPr>
          <a:lstStyle/>
          <a:p>
            <a:pPr>
              <a:defRPr sz="750" b="1">
                <a:solidFill>
                  <a:srgbClr val="0F226B"/>
                </a:solidFill>
                <a:latin typeface="Calibri"/>
              </a:defRPr>
            </a:pPr>
            <a:r>
              <a:t>3. COURT RECOVERY TIMELINE</a:t>
            </a:r>
          </a:p>
        </p:txBody>
      </p:sp>
      <p:sp>
        <p:nvSpPr>
          <p:cNvPr id="77" name="Rounded Rectangle 76"/>
          <p:cNvSpPr/>
          <p:nvPr/>
        </p:nvSpPr>
        <p:spPr>
          <a:xfrm>
            <a:off x="8266175" y="4553712"/>
            <a:ext cx="3163824" cy="228600"/>
          </a:xfrm>
          <a:prstGeom prst="roundRect">
            <a:avLst/>
          </a:prstGeom>
          <a:solidFill>
            <a:srgbClr val="FEF2F2"/>
          </a:solidFill>
          <a:ln w="9525">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700" b="1">
                <a:solidFill>
                  <a:srgbClr val="991B1B"/>
                </a:solidFill>
                <a:latin typeface="Arial"/>
              </a:defRPr>
            </a:pPr>
            <a:r>
              <a:t>🔴 Civil Court Lawsuit: 2,500+ Days (7-10 Yrs)</a:t>
            </a:r>
          </a:p>
        </p:txBody>
      </p:sp>
      <p:sp>
        <p:nvSpPr>
          <p:cNvPr id="78" name="Rounded Rectangle 77"/>
          <p:cNvSpPr/>
          <p:nvPr/>
        </p:nvSpPr>
        <p:spPr>
          <a:xfrm>
            <a:off x="8266175" y="4818888"/>
            <a:ext cx="3163824" cy="228600"/>
          </a:xfrm>
          <a:prstGeom prst="roundRect">
            <a:avLst/>
          </a:prstGeom>
          <a:solidFill>
            <a:srgbClr val="F0FDF4"/>
          </a:solidFill>
          <a:ln w="9525">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700" b="1">
                <a:solidFill>
                  <a:srgbClr val="0F766E"/>
                </a:solidFill>
                <a:latin typeface="Arial"/>
              </a:defRPr>
            </a:pPr>
            <a:r>
              <a:t>🟢 Loanzo Order 37 CPC: 60 Days (Summary Decree)</a:t>
            </a:r>
          </a:p>
        </p:txBody>
      </p:sp>
      <p:sp>
        <p:nvSpPr>
          <p:cNvPr id="79" name="Rounded Rectangle 78"/>
          <p:cNvSpPr/>
          <p:nvPr/>
        </p:nvSpPr>
        <p:spPr>
          <a:xfrm>
            <a:off x="8211312" y="5184648"/>
            <a:ext cx="3273552" cy="768096"/>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266175" y="5212080"/>
            <a:ext cx="3200400" cy="164592"/>
          </a:xfrm>
          <a:prstGeom prst="rect">
            <a:avLst/>
          </a:prstGeom>
          <a:noFill/>
        </p:spPr>
        <p:txBody>
          <a:bodyPr wrap="none" lIns="0" tIns="0" rIns="0" bIns="0">
            <a:spAutoFit/>
          </a:bodyPr>
          <a:lstStyle/>
          <a:p>
            <a:pPr>
              <a:defRPr sz="750" b="1">
                <a:solidFill>
                  <a:srgbClr val="0F226B"/>
                </a:solidFill>
                <a:latin typeface="Calibri"/>
              </a:defRPr>
            </a:pPr>
            <a:r>
              <a:t>4. MSME ASSET MONETIZATION</a:t>
            </a:r>
          </a:p>
        </p:txBody>
      </p:sp>
      <p:sp>
        <p:nvSpPr>
          <p:cNvPr id="81" name="Rounded Rectangle 80"/>
          <p:cNvSpPr/>
          <p:nvPr/>
        </p:nvSpPr>
        <p:spPr>
          <a:xfrm>
            <a:off x="8266175" y="5404104"/>
            <a:ext cx="3163824" cy="228600"/>
          </a:xfrm>
          <a:prstGeom prst="roundRect">
            <a:avLst/>
          </a:prstGeom>
          <a:solidFill>
            <a:srgbClr val="FEF2F2"/>
          </a:solidFill>
          <a:ln w="9525">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700" b="1">
                <a:solidFill>
                  <a:srgbClr val="991B1B"/>
                </a:solidFill>
                <a:latin typeface="Arial"/>
              </a:defRPr>
            </a:pPr>
            <a:r>
              <a:t>🔴 Commercial Banks: 15% MSMEs (Land/Gold only)</a:t>
            </a:r>
          </a:p>
        </p:txBody>
      </p:sp>
      <p:sp>
        <p:nvSpPr>
          <p:cNvPr id="82" name="Rounded Rectangle 81"/>
          <p:cNvSpPr/>
          <p:nvPr/>
        </p:nvSpPr>
        <p:spPr>
          <a:xfrm>
            <a:off x="8266175" y="5669280"/>
            <a:ext cx="3163824" cy="228600"/>
          </a:xfrm>
          <a:prstGeom prst="roundRect">
            <a:avLst/>
          </a:prstGeom>
          <a:solidFill>
            <a:srgbClr val="F0FDF4"/>
          </a:solidFill>
          <a:ln w="9525">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700" b="1">
                <a:solidFill>
                  <a:srgbClr val="0F766E"/>
                </a:solidFill>
                <a:latin typeface="Arial"/>
              </a:defRPr>
            </a:pPr>
            <a:r>
              <a:t>🟢 Loanzo 5-Class Vault: 85%+ MSMEs (Multi-Asset)</a:t>
            </a:r>
          </a:p>
        </p:txBody>
      </p:sp>
      <p:sp>
        <p:nvSpPr>
          <p:cNvPr id="83" name="Rounded Rectangle 82"/>
          <p:cNvSpPr/>
          <p:nvPr/>
        </p:nvSpPr>
        <p:spPr>
          <a:xfrm>
            <a:off x="8211312" y="6126480"/>
            <a:ext cx="3273552" cy="274320"/>
          </a:xfrm>
          <a:prstGeom prst="roundRect">
            <a:avLst/>
          </a:prstGeom>
          <a:solidFill>
            <a:srgbClr val="F0FDF4"/>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720" b="1">
                <a:solidFill>
                  <a:srgbClr val="0F766E"/>
                </a:solidFill>
                <a:latin typeface="Arial"/>
              </a:defRPr>
            </a:pPr>
            <a:r>
              <a:t>RBI CIRCULAR 2023-24/53 COMPLIANT (2% PENAL CAP)</a:t>
            </a:r>
          </a:p>
        </p:txBody>
      </p:sp>
    </p:spTree>
    <p:extLst>
      <p:ext uri="{BB962C8B-B14F-4D97-AF65-F5344CB8AC3E}">
        <p14:creationId xmlns:p14="http://schemas.microsoft.com/office/powerpoint/2010/main" val="4039601138"/>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sp>
        <p:nvSpPr>
          <p:cNvPr id="4" name="Title 3">
            <a:extLst>
              <a:ext uri="{FF2B5EF4-FFF2-40B4-BE49-F238E27FC236}">
                <a16:creationId xmlns:a16="http://schemas.microsoft.com/office/drawing/2014/main" id="{8483D3BA-FB3C-3D59-7A2F-FCC5346EB485}"/>
              </a:ext>
            </a:extLst>
          </p:cNvPr>
          <p:cNvSpPr>
            <a:spLocks noGrp="1"/>
          </p:cNvSpPr>
          <p:nvPr>
            <p:ph type="title"/>
          </p:nvPr>
        </p:nvSpPr>
        <p:spPr>
          <a:xfrm>
            <a:off x="763800" y="1533606"/>
            <a:ext cx="10972800" cy="1143000"/>
          </a:xfrm>
        </p:spPr>
        <p:txBody>
          <a:bodyPr/>
          <a:lstStyle/>
          <a:p>
            <a:endParaRPr lang="en-IN"/>
          </a:p>
        </p:txBody>
      </p:sp>
      <p:pic>
        <p:nvPicPr>
          <p:cNvPr id="8" name="Picture 7">
            <a:extLst>
              <a:ext uri="{FF2B5EF4-FFF2-40B4-BE49-F238E27FC236}">
                <a16:creationId xmlns:a16="http://schemas.microsoft.com/office/drawing/2014/main" id="{593F99D2-C8D0-8D87-258E-37DD2860F360}"/>
              </a:ext>
            </a:extLst>
          </p:cNvPr>
          <p:cNvPicPr>
            <a:picLocks noChangeAspect="1"/>
          </p:cNvPicPr>
          <p:nvPr/>
        </p:nvPicPr>
        <p:blipFill>
          <a:blip r:embed="rId3"/>
          <a:stretch>
            <a:fillRect/>
          </a:stretch>
        </p:blipFill>
        <p:spPr>
          <a:xfrm>
            <a:off x="0" y="-1"/>
            <a:ext cx="12191998" cy="6858000"/>
          </a:xfrm>
          <a:prstGeom prst="rect">
            <a:avLst/>
          </a:prstGeom>
        </p:spPr>
      </p:pic>
      <p:pic>
        <p:nvPicPr>
          <p:cNvPr id="13" name="Picture 12">
            <a:extLst>
              <a:ext uri="{FF2B5EF4-FFF2-40B4-BE49-F238E27FC236}">
                <a16:creationId xmlns:a16="http://schemas.microsoft.com/office/drawing/2014/main" id="{FEB88154-1A41-C682-21C2-FEE683F34113}"/>
              </a:ext>
            </a:extLst>
          </p:cNvPr>
          <p:cNvPicPr>
            <a:picLocks noChangeAspect="1"/>
          </p:cNvPicPr>
          <p:nvPr/>
        </p:nvPicPr>
        <p:blipFill>
          <a:blip r:embed="rId4"/>
          <a:stretch>
            <a:fillRect/>
          </a:stretch>
        </p:blipFill>
        <p:spPr>
          <a:xfrm>
            <a:off x="2" y="1"/>
            <a:ext cx="1458407" cy="906547"/>
          </a:xfrm>
          <a:prstGeom prst="rect">
            <a:avLst/>
          </a:prstGeom>
        </p:spPr>
      </p:pic>
      <p:sp>
        <p:nvSpPr>
          <p:cNvPr id="14" name="Rectangle 13"/>
          <p:cNvSpPr/>
          <p:nvPr/>
        </p:nvSpPr>
        <p:spPr>
          <a:xfrm>
            <a:off x="0" y="877824"/>
            <a:ext cx="12191695" cy="598017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2648" y="1097280"/>
            <a:ext cx="2926080" cy="256032"/>
          </a:xfrm>
          <a:prstGeom prst="roundRect">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FFFFFF"/>
                </a:solidFill>
                <a:latin typeface="Arial"/>
              </a:defRPr>
            </a:pPr>
            <a:r>
              <a:t>1. TECHNOLOGIES TO BE USED</a:t>
            </a:r>
          </a:p>
        </p:txBody>
      </p:sp>
      <p:sp>
        <p:nvSpPr>
          <p:cNvPr id="16" name="Rounded Rectangle 15"/>
          <p:cNvSpPr/>
          <p:nvPr/>
        </p:nvSpPr>
        <p:spPr>
          <a:xfrm>
            <a:off x="612648" y="1426464"/>
            <a:ext cx="4069080" cy="969264"/>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73152" tIns="54864"/>
          <a:lstStyle/>
          <a:p>
            <a:pPr algn="l">
              <a:defRPr sz="800" b="1">
                <a:solidFill>
                  <a:srgbClr val="0F226B"/>
                </a:solidFill>
                <a:latin typeface="Arial"/>
              </a:defRPr>
            </a:pPr>
            <a:r>
              <a:t>FRONTEND (MOBILE APP)</a:t>
            </a:r>
          </a:p>
          <a:p>
            <a:pPr algn="l">
              <a:defRPr sz="750">
                <a:solidFill>
                  <a:srgbClr val="0F172A"/>
                </a:solidFill>
                <a:latin typeface="Calibri"/>
              </a:defRPr>
            </a:pPr>
            <a:r>
              <a:t>• Modern Android with Kotlin 1.9+</a:t>
            </a:r>
          </a:p>
          <a:p>
            <a:pPr algn="l">
              <a:defRPr sz="750">
                <a:solidFill>
                  <a:srgbClr val="0F172A"/>
                </a:solidFill>
                <a:latin typeface="Calibri"/>
              </a:defRPr>
            </a:pPr>
            <a:r>
              <a:t>• Jetpack Compose (Material3 Design System)</a:t>
            </a:r>
          </a:p>
          <a:p>
            <a:pPr algn="l">
              <a:defRPr sz="750">
                <a:solidFill>
                  <a:srgbClr val="0F172A"/>
                </a:solidFill>
                <a:latin typeface="Calibri"/>
              </a:defRPr>
            </a:pPr>
            <a:r>
              <a:t>• Kotlin Coroutines &amp; StateFlow (UDF)</a:t>
            </a:r>
          </a:p>
          <a:p>
            <a:pPr algn="l">
              <a:defRPr sz="750">
                <a:solidFill>
                  <a:srgbClr val="0F172A"/>
                </a:solidFill>
                <a:latin typeface="Calibri"/>
              </a:defRPr>
            </a:pPr>
            <a:r>
              <a:t>• Navigation Component &amp; Clean Architecture</a:t>
            </a:r>
          </a:p>
        </p:txBody>
      </p:sp>
      <p:sp>
        <p:nvSpPr>
          <p:cNvPr id="17" name="Rounded Rectangle 16"/>
          <p:cNvSpPr/>
          <p:nvPr/>
        </p:nvSpPr>
        <p:spPr>
          <a:xfrm>
            <a:off x="4818888" y="1426464"/>
            <a:ext cx="4069080" cy="969264"/>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73152" tIns="54864"/>
          <a:lstStyle/>
          <a:p>
            <a:pPr algn="l">
              <a:defRPr sz="800" b="1">
                <a:solidFill>
                  <a:srgbClr val="581C87"/>
                </a:solidFill>
                <a:latin typeface="Arial"/>
              </a:defRPr>
            </a:pPr>
            <a:r>
              <a:t>DATABASE &amp; PERSISTENCE</a:t>
            </a:r>
          </a:p>
          <a:p>
            <a:pPr algn="l">
              <a:defRPr sz="750">
                <a:solidFill>
                  <a:srgbClr val="0F172A"/>
                </a:solidFill>
                <a:latin typeface="Calibri"/>
              </a:defRPr>
            </a:pPr>
            <a:r>
              <a:t>• Offline-First Room Database v12</a:t>
            </a:r>
          </a:p>
          <a:p>
            <a:pPr algn="l">
              <a:defRPr sz="750">
                <a:solidFill>
                  <a:srgbClr val="0F172A"/>
                </a:solidFill>
                <a:latin typeface="Calibri"/>
              </a:defRPr>
            </a:pPr>
            <a:r>
              <a:t>• 19 Normalized SQLite Entities &amp; 17 DAOs</a:t>
            </a:r>
          </a:p>
          <a:p>
            <a:pPr algn="l">
              <a:defRPr sz="750">
                <a:solidFill>
                  <a:srgbClr val="0F172A"/>
                </a:solidFill>
                <a:latin typeface="Calibri"/>
              </a:defRPr>
            </a:pPr>
            <a:r>
              <a:t>• Full SQLite Transaction Isolation</a:t>
            </a:r>
          </a:p>
          <a:p>
            <a:pPr algn="l">
              <a:defRPr sz="750">
                <a:solidFill>
                  <a:srgbClr val="0F172A"/>
                </a:solidFill>
                <a:latin typeface="Calibri"/>
              </a:defRPr>
            </a:pPr>
            <a:r>
              <a:t>• SyncQueueEntity for delta sync on reconnect</a:t>
            </a:r>
          </a:p>
        </p:txBody>
      </p:sp>
      <p:sp>
        <p:nvSpPr>
          <p:cNvPr id="18" name="Rounded Rectangle 17"/>
          <p:cNvSpPr/>
          <p:nvPr/>
        </p:nvSpPr>
        <p:spPr>
          <a:xfrm>
            <a:off x="612648" y="2468880"/>
            <a:ext cx="4069080" cy="969264"/>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73152" tIns="54864"/>
          <a:lstStyle/>
          <a:p>
            <a:pPr algn="l">
              <a:defRPr sz="800" b="1">
                <a:solidFill>
                  <a:srgbClr val="991B1B"/>
                </a:solidFill>
                <a:latin typeface="Arial"/>
              </a:defRPr>
            </a:pPr>
            <a:r>
              <a:t>SECURITY &amp; CRYPTOGRAPHY</a:t>
            </a:r>
          </a:p>
          <a:p>
            <a:pPr algn="l">
              <a:defRPr sz="750">
                <a:solidFill>
                  <a:srgbClr val="0F172A"/>
                </a:solidFill>
                <a:latin typeface="Calibri"/>
              </a:defRPr>
            </a:pPr>
            <a:r>
              <a:t>• Android Keystore StrongBox Hardware Security</a:t>
            </a:r>
          </a:p>
          <a:p>
            <a:pPr algn="l">
              <a:defRPr sz="750">
                <a:solidFill>
                  <a:srgbClr val="0F172A"/>
                </a:solidFill>
                <a:latin typeface="Calibri"/>
              </a:defRPr>
            </a:pPr>
            <a:r>
              <a:t>• AndroidX BiometricPrompt (Fingerprint/Face)</a:t>
            </a:r>
          </a:p>
          <a:p>
            <a:pPr algn="l">
              <a:defRPr sz="750">
                <a:solidFill>
                  <a:srgbClr val="0F172A"/>
                </a:solidFill>
                <a:latin typeface="Calibri"/>
              </a:defRPr>
            </a:pPr>
            <a:r>
              <a:t>• SHA-256 Digital Document Hash Stamp</a:t>
            </a:r>
          </a:p>
          <a:p>
            <a:pPr algn="l">
              <a:defRPr sz="750">
                <a:solidFill>
                  <a:srgbClr val="0F172A"/>
                </a:solidFill>
                <a:latin typeface="Calibri"/>
              </a:defRPr>
            </a:pPr>
            <a:r>
              <a:t>• Role-Based Access Control (4 User Personas)</a:t>
            </a:r>
          </a:p>
        </p:txBody>
      </p:sp>
      <p:sp>
        <p:nvSpPr>
          <p:cNvPr id="19" name="Rounded Rectangle 18"/>
          <p:cNvSpPr/>
          <p:nvPr/>
        </p:nvSpPr>
        <p:spPr>
          <a:xfrm>
            <a:off x="4818888" y="2468880"/>
            <a:ext cx="4069080" cy="969264"/>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73152" tIns="54864"/>
          <a:lstStyle/>
          <a:p>
            <a:pPr algn="l">
              <a:defRPr sz="800" b="1">
                <a:solidFill>
                  <a:srgbClr val="0F766E"/>
                </a:solidFill>
                <a:latin typeface="Arial"/>
              </a:defRPr>
            </a:pPr>
            <a:r>
              <a:t>DOMAIN ENGINES &amp; RULES</a:t>
            </a:r>
          </a:p>
          <a:p>
            <a:pPr algn="l">
              <a:defRPr sz="750">
                <a:solidFill>
                  <a:srgbClr val="0F172A"/>
                </a:solidFill>
                <a:latin typeface="Calibri"/>
              </a:defRPr>
            </a:pPr>
            <a:r>
              <a:t>• RuleEngine.kt (Dynamic 5-class LTV haircuts)</a:t>
            </a:r>
          </a:p>
          <a:p>
            <a:pPr algn="l">
              <a:defRPr sz="750">
                <a:solidFill>
                  <a:srgbClr val="0F172A"/>
                </a:solidFill>
                <a:latin typeface="Calibri"/>
              </a:defRPr>
            </a:pPr>
            <a:r>
              <a:t>• PenaltyEngine.kt (RBI non-compounding cap)</a:t>
            </a:r>
          </a:p>
          <a:p>
            <a:pPr algn="l">
              <a:defRPr sz="750">
                <a:solidFill>
                  <a:srgbClr val="0F172A"/>
                </a:solidFill>
                <a:latin typeface="Calibri"/>
              </a:defRPr>
            </a:pPr>
            <a:r>
              <a:t>• AgreementGenerator.kt (Sec 4 NI Act note)</a:t>
            </a:r>
          </a:p>
          <a:p>
            <a:pPr algn="l">
              <a:defRPr sz="750">
                <a:solidFill>
                  <a:srgbClr val="0F172A"/>
                </a:solidFill>
                <a:latin typeface="Calibri"/>
              </a:defRPr>
            </a:pPr>
            <a:r>
              <a:t>• UpiHelper.kt &amp; TelegramManager.kt Webhook</a:t>
            </a:r>
          </a:p>
        </p:txBody>
      </p:sp>
      <p:sp>
        <p:nvSpPr>
          <p:cNvPr id="20" name="Rounded Rectangle 19"/>
          <p:cNvSpPr/>
          <p:nvPr/>
        </p:nvSpPr>
        <p:spPr>
          <a:xfrm>
            <a:off x="9336812" y="1097280"/>
            <a:ext cx="2083255" cy="3977640"/>
          </a:xfrm>
          <a:prstGeom prst="roundRect">
            <a:avLst/>
          </a:prstGeom>
          <a:solidFill>
            <a:srgbClr val="0F172A"/>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218420" y="1110996"/>
            <a:ext cx="320040" cy="32004"/>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5"/>
          <a:stretch>
            <a:fillRect/>
          </a:stretch>
        </p:blipFill>
        <p:spPr>
          <a:xfrm>
            <a:off x="9373388" y="1143000"/>
            <a:ext cx="2010103" cy="3886200"/>
          </a:xfrm>
          <a:prstGeom prst="rect">
            <a:avLst/>
          </a:prstGeom>
        </p:spPr>
      </p:pic>
      <p:sp>
        <p:nvSpPr>
          <p:cNvPr id="23" name="Rounded Rectangle 22"/>
          <p:cNvSpPr/>
          <p:nvPr/>
        </p:nvSpPr>
        <p:spPr>
          <a:xfrm>
            <a:off x="9336812" y="5102352"/>
            <a:ext cx="2083255" cy="173736"/>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50" b="1">
                <a:solidFill>
                  <a:srgbClr val="38BDF8"/>
                </a:solidFill>
                <a:latin typeface="Arial"/>
              </a:defRPr>
            </a:pPr>
            <a:r>
              <a:t>AUTH &amp; BIOMETRIC LOGIN</a:t>
            </a:r>
          </a:p>
        </p:txBody>
      </p:sp>
      <p:sp>
        <p:nvSpPr>
          <p:cNvPr id="24" name="Rounded Rectangle 23"/>
          <p:cNvSpPr/>
          <p:nvPr/>
        </p:nvSpPr>
        <p:spPr>
          <a:xfrm>
            <a:off x="612648" y="3584448"/>
            <a:ext cx="4434840" cy="256032"/>
          </a:xfrm>
          <a:prstGeom prst="roundRect">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2. METHODOLOGY AND PROCESS FOR IMPLEMENTATION</a:t>
            </a:r>
          </a:p>
        </p:txBody>
      </p:sp>
      <p:sp>
        <p:nvSpPr>
          <p:cNvPr id="25" name="Rounded Rectangle 24"/>
          <p:cNvSpPr/>
          <p:nvPr/>
        </p:nvSpPr>
        <p:spPr>
          <a:xfrm>
            <a:off x="612648" y="3895344"/>
            <a:ext cx="8412480"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defRPr sz="850" b="1">
                <a:solidFill>
                  <a:srgbClr val="0F226B"/>
                </a:solidFill>
                <a:latin typeface="Arial"/>
              </a:defRPr>
            </a:pPr>
            <a:r>
              <a:t>SYSTEM FLOW PIPELINE:</a:t>
            </a:r>
          </a:p>
        </p:txBody>
      </p:sp>
      <p:sp>
        <p:nvSpPr>
          <p:cNvPr id="26" name="Rounded Rectangle 25"/>
          <p:cNvSpPr/>
          <p:nvPr/>
        </p:nvSpPr>
        <p:spPr>
          <a:xfrm>
            <a:off x="731520" y="4206240"/>
            <a:ext cx="1536192" cy="64008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0F226B"/>
                </a:solidFill>
                <a:latin typeface="Arial"/>
              </a:defRPr>
            </a:pPr>
            <a:r>
              <a:t>1. User Login</a:t>
            </a:r>
          </a:p>
          <a:p>
            <a:pPr algn="ctr">
              <a:defRPr sz="700">
                <a:solidFill>
                  <a:srgbClr val="64748B"/>
                </a:solidFill>
                <a:latin typeface="Calibri"/>
              </a:defRPr>
            </a:pPr>
            <a:r>
              <a:t>Biometric / OTP</a:t>
            </a:r>
          </a:p>
        </p:txBody>
      </p:sp>
      <p:sp>
        <p:nvSpPr>
          <p:cNvPr id="27" name="Rounded Rectangle 26"/>
          <p:cNvSpPr/>
          <p:nvPr/>
        </p:nvSpPr>
        <p:spPr>
          <a:xfrm>
            <a:off x="2377440" y="4206240"/>
            <a:ext cx="1536192" cy="64008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0F766E"/>
                </a:solidFill>
                <a:latin typeface="Arial"/>
              </a:defRPr>
            </a:pPr>
            <a:r>
              <a:t>2. Vault Escrow</a:t>
            </a:r>
          </a:p>
          <a:p>
            <a:pPr algn="ctr">
              <a:defRPr sz="700">
                <a:solidFill>
                  <a:srgbClr val="64748B"/>
                </a:solidFill>
                <a:latin typeface="Calibri"/>
              </a:defRPr>
            </a:pPr>
            <a:r>
              <a:t>5-Class LTV</a:t>
            </a:r>
          </a:p>
        </p:txBody>
      </p:sp>
      <p:sp>
        <p:nvSpPr>
          <p:cNvPr id="28" name="Rounded Rectangle 27"/>
          <p:cNvSpPr/>
          <p:nvPr/>
        </p:nvSpPr>
        <p:spPr>
          <a:xfrm>
            <a:off x="4023360" y="4206240"/>
            <a:ext cx="1536192" cy="64008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0284C7"/>
                </a:solidFill>
                <a:latin typeface="Arial"/>
              </a:defRPr>
            </a:pPr>
            <a:r>
              <a:t>3. Marketplace</a:t>
            </a:r>
          </a:p>
          <a:p>
            <a:pPr algn="ctr">
              <a:defRPr sz="700">
                <a:solidFill>
                  <a:srgbClr val="64748B"/>
                </a:solidFill>
                <a:latin typeface="Calibri"/>
              </a:defRPr>
            </a:pPr>
            <a:r>
              <a:t>Syndicated Bids</a:t>
            </a:r>
          </a:p>
        </p:txBody>
      </p:sp>
      <p:sp>
        <p:nvSpPr>
          <p:cNvPr id="29" name="Rounded Rectangle 28"/>
          <p:cNvSpPr/>
          <p:nvPr/>
        </p:nvSpPr>
        <p:spPr>
          <a:xfrm>
            <a:off x="5669280" y="4206240"/>
            <a:ext cx="1536192" cy="64008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D97706"/>
                </a:solidFill>
                <a:latin typeface="Arial"/>
              </a:defRPr>
            </a:pPr>
            <a:r>
              <a:t>4. Tranches</a:t>
            </a:r>
          </a:p>
          <a:p>
            <a:pPr algn="ctr">
              <a:defRPr sz="700">
                <a:solidFill>
                  <a:srgbClr val="64748B"/>
                </a:solidFill>
                <a:latin typeface="Calibri"/>
              </a:defRPr>
            </a:pPr>
            <a:r>
              <a:t>Direct Vendor VPA</a:t>
            </a:r>
          </a:p>
        </p:txBody>
      </p:sp>
      <p:sp>
        <p:nvSpPr>
          <p:cNvPr id="30" name="Rounded Rectangle 29"/>
          <p:cNvSpPr/>
          <p:nvPr/>
        </p:nvSpPr>
        <p:spPr>
          <a:xfrm>
            <a:off x="7315200" y="4206240"/>
            <a:ext cx="1536192" cy="64008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0F226B"/>
                </a:solidFill>
                <a:latin typeface="Arial"/>
              </a:defRPr>
            </a:pPr>
            <a:r>
              <a:t>5. Dynamic UPI</a:t>
            </a:r>
          </a:p>
          <a:p>
            <a:pPr algn="ctr">
              <a:defRPr sz="700">
                <a:solidFill>
                  <a:srgbClr val="64748B"/>
                </a:solidFill>
                <a:latin typeface="Calibri"/>
              </a:defRPr>
            </a:pPr>
            <a:r>
              <a:t>Auto Reconciliation</a:t>
            </a:r>
          </a:p>
        </p:txBody>
      </p:sp>
      <p:sp>
        <p:nvSpPr>
          <p:cNvPr id="31" name="Rounded Rectangle 30"/>
          <p:cNvSpPr/>
          <p:nvPr/>
        </p:nvSpPr>
        <p:spPr>
          <a:xfrm>
            <a:off x="612648" y="5065776"/>
            <a:ext cx="10972800" cy="118872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77240" y="5120640"/>
            <a:ext cx="4114800" cy="219456"/>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IMPLEMENTATION METHODOLOGY (8-STAGE ROADMAP)</a:t>
            </a:r>
          </a:p>
        </p:txBody>
      </p:sp>
      <p:sp>
        <p:nvSpPr>
          <p:cNvPr id="33" name="Oval 32"/>
          <p:cNvSpPr/>
          <p:nvPr/>
        </p:nvSpPr>
        <p:spPr>
          <a:xfrm>
            <a:off x="1143000"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01</a:t>
            </a:r>
          </a:p>
        </p:txBody>
      </p:sp>
      <p:sp>
        <p:nvSpPr>
          <p:cNvPr id="34" name="TextBox 33"/>
          <p:cNvSpPr txBox="1"/>
          <p:nvPr/>
        </p:nvSpPr>
        <p:spPr>
          <a:xfrm>
            <a:off x="777240"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PS-92 Analysis</a:t>
            </a:r>
          </a:p>
        </p:txBody>
      </p:sp>
      <p:sp>
        <p:nvSpPr>
          <p:cNvPr id="35" name="Oval 34"/>
          <p:cNvSpPr/>
          <p:nvPr/>
        </p:nvSpPr>
        <p:spPr>
          <a:xfrm>
            <a:off x="2478024"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02</a:t>
            </a:r>
          </a:p>
        </p:txBody>
      </p:sp>
      <p:sp>
        <p:nvSpPr>
          <p:cNvPr id="36" name="TextBox 35"/>
          <p:cNvSpPr txBox="1"/>
          <p:nvPr/>
        </p:nvSpPr>
        <p:spPr>
          <a:xfrm>
            <a:off x="2112264"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Compose UI/UX</a:t>
            </a:r>
          </a:p>
        </p:txBody>
      </p:sp>
      <p:sp>
        <p:nvSpPr>
          <p:cNvPr id="37" name="Oval 36"/>
          <p:cNvSpPr/>
          <p:nvPr/>
        </p:nvSpPr>
        <p:spPr>
          <a:xfrm>
            <a:off x="3813048"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03</a:t>
            </a:r>
          </a:p>
        </p:txBody>
      </p:sp>
      <p:sp>
        <p:nvSpPr>
          <p:cNvPr id="38" name="TextBox 37"/>
          <p:cNvSpPr txBox="1"/>
          <p:nvPr/>
        </p:nvSpPr>
        <p:spPr>
          <a:xfrm>
            <a:off x="3447288"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Room v12 DB</a:t>
            </a:r>
          </a:p>
        </p:txBody>
      </p:sp>
      <p:sp>
        <p:nvSpPr>
          <p:cNvPr id="39" name="Oval 38"/>
          <p:cNvSpPr/>
          <p:nvPr/>
        </p:nvSpPr>
        <p:spPr>
          <a:xfrm>
            <a:off x="5148072"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04</a:t>
            </a:r>
          </a:p>
        </p:txBody>
      </p:sp>
      <p:sp>
        <p:nvSpPr>
          <p:cNvPr id="40" name="TextBox 39"/>
          <p:cNvSpPr txBox="1"/>
          <p:nvPr/>
        </p:nvSpPr>
        <p:spPr>
          <a:xfrm>
            <a:off x="4782312"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Keystore &amp; Auth</a:t>
            </a:r>
          </a:p>
        </p:txBody>
      </p:sp>
      <p:sp>
        <p:nvSpPr>
          <p:cNvPr id="41" name="Oval 40"/>
          <p:cNvSpPr/>
          <p:nvPr/>
        </p:nvSpPr>
        <p:spPr>
          <a:xfrm>
            <a:off x="6483096"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05</a:t>
            </a:r>
          </a:p>
        </p:txBody>
      </p:sp>
      <p:sp>
        <p:nvSpPr>
          <p:cNvPr id="42" name="TextBox 41"/>
          <p:cNvSpPr txBox="1"/>
          <p:nvPr/>
        </p:nvSpPr>
        <p:spPr>
          <a:xfrm>
            <a:off x="6117336"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Tranche Rules</a:t>
            </a:r>
          </a:p>
        </p:txBody>
      </p:sp>
      <p:sp>
        <p:nvSpPr>
          <p:cNvPr id="43" name="Oval 42"/>
          <p:cNvSpPr/>
          <p:nvPr/>
        </p:nvSpPr>
        <p:spPr>
          <a:xfrm>
            <a:off x="7818120"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06</a:t>
            </a:r>
          </a:p>
        </p:txBody>
      </p:sp>
      <p:sp>
        <p:nvSpPr>
          <p:cNvPr id="44" name="TextBox 43"/>
          <p:cNvSpPr txBox="1"/>
          <p:nvPr/>
        </p:nvSpPr>
        <p:spPr>
          <a:xfrm>
            <a:off x="7452360"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Telegram SOS</a:t>
            </a:r>
          </a:p>
        </p:txBody>
      </p:sp>
      <p:sp>
        <p:nvSpPr>
          <p:cNvPr id="45" name="Oval 44"/>
          <p:cNvSpPr/>
          <p:nvPr/>
        </p:nvSpPr>
        <p:spPr>
          <a:xfrm>
            <a:off x="9153144"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07</a:t>
            </a:r>
          </a:p>
        </p:txBody>
      </p:sp>
      <p:sp>
        <p:nvSpPr>
          <p:cNvPr id="46" name="TextBox 45"/>
          <p:cNvSpPr txBox="1"/>
          <p:nvPr/>
        </p:nvSpPr>
        <p:spPr>
          <a:xfrm>
            <a:off x="8787384"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Stress Testing</a:t>
            </a:r>
          </a:p>
        </p:txBody>
      </p:sp>
      <p:sp>
        <p:nvSpPr>
          <p:cNvPr id="47" name="Oval 46"/>
          <p:cNvSpPr/>
          <p:nvPr/>
        </p:nvSpPr>
        <p:spPr>
          <a:xfrm>
            <a:off x="10488167"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08</a:t>
            </a:r>
          </a:p>
        </p:txBody>
      </p:sp>
      <p:sp>
        <p:nvSpPr>
          <p:cNvPr id="48" name="TextBox 47"/>
          <p:cNvSpPr txBox="1"/>
          <p:nvPr/>
        </p:nvSpPr>
        <p:spPr>
          <a:xfrm>
            <a:off x="10122407"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Pilot Launch</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609600" y="2533653"/>
            <a:ext cx="9385300" cy="1384995"/>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Analysis of the feasibility of the idea</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Potential challenges and risks</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Strategies</a:t>
            </a:r>
            <a:r>
              <a:rPr kumimoji="0" lang="en-US" sz="2800" b="0" i="0" u="none" strike="noStrike" kern="1200" cap="none" spc="0" normalizeH="0" noProof="0" dirty="0">
                <a:ln>
                  <a:noFill/>
                </a:ln>
                <a:solidFill>
                  <a:prstClr val="black"/>
                </a:solidFill>
                <a:effectLst/>
                <a:uLnTx/>
                <a:uFillTx/>
                <a:latin typeface="Arial" pitchFamily="34" charset="0"/>
                <a:ea typeface="ＭＳ Ｐゴシック" pitchFamily="1" charset="-128"/>
                <a:cs typeface="Arial" pitchFamily="34" charset="0"/>
              </a:rPr>
              <a:t> for overcoming these challenges</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4160F897-03DA-46B3-4F9B-83EEAFF38552}"/>
              </a:ext>
            </a:extLst>
          </p:cNvPr>
          <p:cNvPicPr>
            <a:picLocks noChangeAspect="1"/>
          </p:cNvPicPr>
          <p:nvPr/>
        </p:nvPicPr>
        <p:blipFill>
          <a:blip r:embed="rId4"/>
          <a:stretch>
            <a:fillRect/>
          </a:stretch>
        </p:blipFill>
        <p:spPr>
          <a:xfrm>
            <a:off x="-1" y="0"/>
            <a:ext cx="1980773" cy="1488634"/>
          </a:xfrm>
          <a:prstGeom prst="rect">
            <a:avLst/>
          </a:prstGeom>
        </p:spPr>
      </p:pic>
      <p:pic>
        <p:nvPicPr>
          <p:cNvPr id="8" name="Picture 7">
            <a:extLst>
              <a:ext uri="{FF2B5EF4-FFF2-40B4-BE49-F238E27FC236}">
                <a16:creationId xmlns:a16="http://schemas.microsoft.com/office/drawing/2014/main" id="{055BA8B1-06C9-7BBA-CA64-1F039BF50AAF}"/>
              </a:ext>
            </a:extLst>
          </p:cNvPr>
          <p:cNvPicPr>
            <a:picLocks noChangeAspect="1"/>
          </p:cNvPicPr>
          <p:nvPr/>
        </p:nvPicPr>
        <p:blipFill>
          <a:blip r:embed="rId5"/>
          <a:stretch>
            <a:fillRect/>
          </a:stretch>
        </p:blipFill>
        <p:spPr>
          <a:xfrm>
            <a:off x="-53773" y="-47625"/>
            <a:ext cx="12245773" cy="6858000"/>
          </a:xfrm>
          <a:prstGeom prst="rect">
            <a:avLst/>
          </a:prstGeom>
        </p:spPr>
      </p:pic>
      <p:pic>
        <p:nvPicPr>
          <p:cNvPr id="17" name="Picture 16">
            <a:extLst>
              <a:ext uri="{FF2B5EF4-FFF2-40B4-BE49-F238E27FC236}">
                <a16:creationId xmlns:a16="http://schemas.microsoft.com/office/drawing/2014/main" id="{94F227AF-DCF8-2EA4-EC9A-D5A9445A0B7B}"/>
              </a:ext>
            </a:extLst>
          </p:cNvPr>
          <p:cNvPicPr>
            <a:picLocks noChangeAspect="1"/>
          </p:cNvPicPr>
          <p:nvPr/>
        </p:nvPicPr>
        <p:blipFill>
          <a:blip r:embed="rId6"/>
          <a:stretch>
            <a:fillRect/>
          </a:stretch>
        </p:blipFill>
        <p:spPr>
          <a:xfrm>
            <a:off x="10093125" y="34201"/>
            <a:ext cx="2098876" cy="913836"/>
          </a:xfrm>
          <a:prstGeom prst="rect">
            <a:avLst/>
          </a:prstGeom>
        </p:spPr>
      </p:pic>
      <p:pic>
        <p:nvPicPr>
          <p:cNvPr id="15" name="Picture 14">
            <a:extLst>
              <a:ext uri="{FF2B5EF4-FFF2-40B4-BE49-F238E27FC236}">
                <a16:creationId xmlns:a16="http://schemas.microsoft.com/office/drawing/2014/main" id="{2C19B037-24A1-FE7A-6DCE-94BE31FCBB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36214" y="-54257"/>
            <a:ext cx="1720607" cy="812438"/>
          </a:xfrm>
          <a:prstGeom prst="rect">
            <a:avLst/>
          </a:prstGeom>
        </p:spPr>
      </p:pic>
      <p:pic>
        <p:nvPicPr>
          <p:cNvPr id="19" name="Picture 18">
            <a:extLst>
              <a:ext uri="{FF2B5EF4-FFF2-40B4-BE49-F238E27FC236}">
                <a16:creationId xmlns:a16="http://schemas.microsoft.com/office/drawing/2014/main" id="{83D9AA90-A8F6-29B6-4606-FC64E708AAEB}"/>
              </a:ext>
            </a:extLst>
          </p:cNvPr>
          <p:cNvPicPr>
            <a:picLocks noChangeAspect="1"/>
          </p:cNvPicPr>
          <p:nvPr/>
        </p:nvPicPr>
        <p:blipFill>
          <a:blip r:embed="rId7"/>
          <a:stretch>
            <a:fillRect/>
          </a:stretch>
        </p:blipFill>
        <p:spPr>
          <a:xfrm>
            <a:off x="2" y="1"/>
            <a:ext cx="1446833" cy="980476"/>
          </a:xfrm>
          <a:prstGeom prst="rect">
            <a:avLst/>
          </a:prstGeom>
        </p:spPr>
      </p:pic>
      <p:sp>
        <p:nvSpPr>
          <p:cNvPr id="17411" name="Rectangle 17410"/>
          <p:cNvSpPr/>
          <p:nvPr/>
        </p:nvSpPr>
        <p:spPr>
          <a:xfrm>
            <a:off x="0" y="987552"/>
            <a:ext cx="12191695" cy="587044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612648" y="1115568"/>
            <a:ext cx="2880360" cy="4526280"/>
          </a:xfrm>
          <a:prstGeom prst="roundRect">
            <a:avLst/>
          </a:prstGeom>
          <a:solidFill>
            <a:srgbClr val="FFFFFF"/>
          </a:solidFill>
          <a:ln w="1905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3" name="Rounded Rectangle 17412"/>
          <p:cNvSpPr/>
          <p:nvPr/>
        </p:nvSpPr>
        <p:spPr>
          <a:xfrm>
            <a:off x="713232" y="1207008"/>
            <a:ext cx="2679192" cy="274320"/>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1. ANALYSIS OF FEASIBILITY</a:t>
            </a:r>
          </a:p>
        </p:txBody>
      </p:sp>
      <p:sp>
        <p:nvSpPr>
          <p:cNvPr id="17414" name="Oval 17413"/>
          <p:cNvSpPr/>
          <p:nvPr/>
        </p:nvSpPr>
        <p:spPr>
          <a:xfrm>
            <a:off x="713232" y="1636776"/>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TextBox 17414"/>
          <p:cNvSpPr txBox="1"/>
          <p:nvPr/>
        </p:nvSpPr>
        <p:spPr>
          <a:xfrm>
            <a:off x="932688" y="1600200"/>
            <a:ext cx="2514600" cy="896112"/>
          </a:xfrm>
          <a:prstGeom prst="rect">
            <a:avLst/>
          </a:prstGeom>
          <a:noFill/>
        </p:spPr>
        <p:txBody>
          <a:bodyPr wrap="square" lIns="0" tIns="0" rIns="0" bIns="0">
            <a:spAutoFit/>
          </a:bodyPr>
          <a:lstStyle/>
          <a:p>
            <a:pPr>
              <a:defRPr sz="850" b="1">
                <a:solidFill>
                  <a:srgbClr val="0F766E"/>
                </a:solidFill>
                <a:latin typeface="Arial"/>
              </a:defRPr>
            </a:pPr>
            <a:r>
              <a:t>Technical Feasibility</a:t>
            </a:r>
          </a:p>
          <a:p>
            <a:pPr>
              <a:defRPr sz="750">
                <a:solidFill>
                  <a:srgbClr val="0F172A"/>
                </a:solidFill>
                <a:latin typeface="Calibri"/>
              </a:defRPr>
            </a:pPr>
            <a:r>
              <a:t>100% on-device local Room execution. Operates without cloud lag; runs on Android 8.0+ covering 98% of Bharat.</a:t>
            </a:r>
          </a:p>
        </p:txBody>
      </p:sp>
      <p:sp>
        <p:nvSpPr>
          <p:cNvPr id="17416" name="Oval 17415"/>
          <p:cNvSpPr/>
          <p:nvPr/>
        </p:nvSpPr>
        <p:spPr>
          <a:xfrm>
            <a:off x="713232" y="2606040"/>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TextBox 17416"/>
          <p:cNvSpPr txBox="1"/>
          <p:nvPr/>
        </p:nvSpPr>
        <p:spPr>
          <a:xfrm>
            <a:off x="932688" y="2569464"/>
            <a:ext cx="2514600" cy="896112"/>
          </a:xfrm>
          <a:prstGeom prst="rect">
            <a:avLst/>
          </a:prstGeom>
          <a:noFill/>
        </p:spPr>
        <p:txBody>
          <a:bodyPr wrap="square" lIns="0" tIns="0" rIns="0" bIns="0">
            <a:spAutoFit/>
          </a:bodyPr>
          <a:lstStyle/>
          <a:p>
            <a:pPr>
              <a:defRPr sz="850" b="1">
                <a:solidFill>
                  <a:srgbClr val="0F766E"/>
                </a:solidFill>
                <a:latin typeface="Arial"/>
              </a:defRPr>
            </a:pPr>
            <a:r>
              <a:t>Operational Feasibility</a:t>
            </a:r>
          </a:p>
          <a:p>
            <a:pPr>
              <a:defRPr sz="750">
                <a:solidFill>
                  <a:srgbClr val="0F172A"/>
                </a:solidFill>
                <a:latin typeface="Calibri"/>
              </a:defRPr>
            </a:pPr>
            <a:r>
              <a:t>Geofenced agent inspection (AgentVisitEntity) enables physical appraisal of cattle/machinery without bank branches.</a:t>
            </a:r>
          </a:p>
        </p:txBody>
      </p:sp>
      <p:sp>
        <p:nvSpPr>
          <p:cNvPr id="17418" name="Oval 17417"/>
          <p:cNvSpPr/>
          <p:nvPr/>
        </p:nvSpPr>
        <p:spPr>
          <a:xfrm>
            <a:off x="713232" y="3575304"/>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TextBox 17418"/>
          <p:cNvSpPr txBox="1"/>
          <p:nvPr/>
        </p:nvSpPr>
        <p:spPr>
          <a:xfrm>
            <a:off x="932688" y="3538728"/>
            <a:ext cx="2514600" cy="896112"/>
          </a:xfrm>
          <a:prstGeom prst="rect">
            <a:avLst/>
          </a:prstGeom>
          <a:noFill/>
        </p:spPr>
        <p:txBody>
          <a:bodyPr wrap="square" lIns="0" tIns="0" rIns="0" bIns="0">
            <a:spAutoFit/>
          </a:bodyPr>
          <a:lstStyle/>
          <a:p>
            <a:pPr>
              <a:defRPr sz="850" b="1">
                <a:solidFill>
                  <a:srgbClr val="0F766E"/>
                </a:solidFill>
                <a:latin typeface="Arial"/>
              </a:defRPr>
            </a:pPr>
            <a:r>
              <a:t>Economic Feasibility</a:t>
            </a:r>
          </a:p>
          <a:p>
            <a:pPr>
              <a:defRPr sz="750">
                <a:solidFill>
                  <a:srgbClr val="0F172A"/>
                </a:solidFill>
                <a:latin typeface="Calibri"/>
              </a:defRPr>
            </a:pPr>
            <a:r>
              <a:t>Profitable unit economics: 1.5% origination fee, 0.5% servicing, ₹499 agent fee. Breakeven at 2,500 active loans.</a:t>
            </a:r>
          </a:p>
        </p:txBody>
      </p:sp>
      <p:sp>
        <p:nvSpPr>
          <p:cNvPr id="17420" name="Oval 17419"/>
          <p:cNvSpPr/>
          <p:nvPr/>
        </p:nvSpPr>
        <p:spPr>
          <a:xfrm>
            <a:off x="713232" y="4544568"/>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TextBox 17420"/>
          <p:cNvSpPr txBox="1"/>
          <p:nvPr/>
        </p:nvSpPr>
        <p:spPr>
          <a:xfrm>
            <a:off x="932688" y="4507992"/>
            <a:ext cx="2514600" cy="896112"/>
          </a:xfrm>
          <a:prstGeom prst="rect">
            <a:avLst/>
          </a:prstGeom>
          <a:noFill/>
        </p:spPr>
        <p:txBody>
          <a:bodyPr wrap="square" lIns="0" tIns="0" rIns="0" bIns="0">
            <a:spAutoFit/>
          </a:bodyPr>
          <a:lstStyle/>
          <a:p>
            <a:pPr>
              <a:defRPr sz="850" b="1">
                <a:solidFill>
                  <a:srgbClr val="0F766E"/>
                </a:solidFill>
                <a:latin typeface="Arial"/>
              </a:defRPr>
            </a:pPr>
            <a:r>
              <a:t>Schedule Feasibility</a:t>
            </a:r>
          </a:p>
          <a:p>
            <a:pPr>
              <a:defRPr sz="750">
                <a:solidFill>
                  <a:srgbClr val="0F172A"/>
                </a:solidFill>
                <a:latin typeface="Calibri"/>
              </a:defRPr>
            </a:pPr>
            <a:r>
              <a:t>Core architecture fully built with 19 Room entities, 17 DAOs, 7 ViewModels, and 36 functional screens.</a:t>
            </a:r>
          </a:p>
        </p:txBody>
      </p:sp>
      <p:sp>
        <p:nvSpPr>
          <p:cNvPr id="17422" name="Rounded Rectangle 17421"/>
          <p:cNvSpPr/>
          <p:nvPr/>
        </p:nvSpPr>
        <p:spPr>
          <a:xfrm>
            <a:off x="3630168" y="1115568"/>
            <a:ext cx="2880360" cy="4526280"/>
          </a:xfrm>
          <a:prstGeom prst="roundRect">
            <a:avLst/>
          </a:prstGeom>
          <a:solidFill>
            <a:srgbClr val="FFFFFF"/>
          </a:solidFill>
          <a:ln w="1905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Rounded Rectangle 17422"/>
          <p:cNvSpPr/>
          <p:nvPr/>
        </p:nvSpPr>
        <p:spPr>
          <a:xfrm>
            <a:off x="3730752" y="1207008"/>
            <a:ext cx="2679192" cy="274320"/>
          </a:xfrm>
          <a:prstGeom prst="roundRect">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2. CHALLENGES &amp; RISKS</a:t>
            </a:r>
          </a:p>
        </p:txBody>
      </p:sp>
      <p:sp>
        <p:nvSpPr>
          <p:cNvPr id="17424" name="Oval 17423"/>
          <p:cNvSpPr/>
          <p:nvPr/>
        </p:nvSpPr>
        <p:spPr>
          <a:xfrm>
            <a:off x="3730752" y="1636776"/>
            <a:ext cx="164592" cy="164592"/>
          </a:xfrm>
          <a:prstGeom prst="ellipse">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5" name="TextBox 17424"/>
          <p:cNvSpPr txBox="1"/>
          <p:nvPr/>
        </p:nvSpPr>
        <p:spPr>
          <a:xfrm>
            <a:off x="3950208" y="1600200"/>
            <a:ext cx="2514600" cy="713232"/>
          </a:xfrm>
          <a:prstGeom prst="rect">
            <a:avLst/>
          </a:prstGeom>
          <a:noFill/>
        </p:spPr>
        <p:txBody>
          <a:bodyPr wrap="square" lIns="0" tIns="0" rIns="0" bIns="0">
            <a:spAutoFit/>
          </a:bodyPr>
          <a:lstStyle/>
          <a:p>
            <a:pPr>
              <a:defRPr sz="850" b="1">
                <a:solidFill>
                  <a:srgbClr val="991B1B"/>
                </a:solidFill>
                <a:latin typeface="Arial"/>
              </a:defRPr>
            </a:pPr>
            <a:r>
              <a:t>Data Privacy &amp; Fraud</a:t>
            </a:r>
          </a:p>
          <a:p>
            <a:pPr>
              <a:defRPr sz="750">
                <a:solidFill>
                  <a:srgbClr val="0F172A"/>
                </a:solidFill>
                <a:latin typeface="Calibri"/>
              </a:defRPr>
            </a:pPr>
            <a:r>
              <a:t>Synthetic KYC, identity spoofing, and borrower-lender collusion.</a:t>
            </a:r>
          </a:p>
        </p:txBody>
      </p:sp>
      <p:sp>
        <p:nvSpPr>
          <p:cNvPr id="17426" name="Oval 17425"/>
          <p:cNvSpPr/>
          <p:nvPr/>
        </p:nvSpPr>
        <p:spPr>
          <a:xfrm>
            <a:off x="3730752" y="2414016"/>
            <a:ext cx="164592" cy="164592"/>
          </a:xfrm>
          <a:prstGeom prst="ellipse">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TextBox 17426"/>
          <p:cNvSpPr txBox="1"/>
          <p:nvPr/>
        </p:nvSpPr>
        <p:spPr>
          <a:xfrm>
            <a:off x="3950208" y="2377440"/>
            <a:ext cx="2514600" cy="713232"/>
          </a:xfrm>
          <a:prstGeom prst="rect">
            <a:avLst/>
          </a:prstGeom>
          <a:noFill/>
        </p:spPr>
        <p:txBody>
          <a:bodyPr wrap="square" lIns="0" tIns="0" rIns="0" bIns="0">
            <a:spAutoFit/>
          </a:bodyPr>
          <a:lstStyle/>
          <a:p>
            <a:pPr>
              <a:defRPr sz="850" b="1">
                <a:solidFill>
                  <a:srgbClr val="991B1B"/>
                </a:solidFill>
                <a:latin typeface="Arial"/>
              </a:defRPr>
            </a:pPr>
            <a:r>
              <a:t>Capital Diversion</a:t>
            </a:r>
          </a:p>
          <a:p>
            <a:pPr>
              <a:defRPr sz="750">
                <a:solidFill>
                  <a:srgbClr val="0F172A"/>
                </a:solidFill>
                <a:latin typeface="Calibri"/>
              </a:defRPr>
            </a:pPr>
            <a:r>
              <a:t>Borrowers attempting to divert lump-sum cash to non-productive uses.</a:t>
            </a:r>
          </a:p>
        </p:txBody>
      </p:sp>
      <p:sp>
        <p:nvSpPr>
          <p:cNvPr id="17428" name="Oval 17427"/>
          <p:cNvSpPr/>
          <p:nvPr/>
        </p:nvSpPr>
        <p:spPr>
          <a:xfrm>
            <a:off x="3730752" y="3191256"/>
            <a:ext cx="164592" cy="164592"/>
          </a:xfrm>
          <a:prstGeom prst="ellipse">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TextBox 17428"/>
          <p:cNvSpPr txBox="1"/>
          <p:nvPr/>
        </p:nvSpPr>
        <p:spPr>
          <a:xfrm>
            <a:off x="3950208" y="3154680"/>
            <a:ext cx="2514600" cy="713232"/>
          </a:xfrm>
          <a:prstGeom prst="rect">
            <a:avLst/>
          </a:prstGeom>
          <a:noFill/>
        </p:spPr>
        <p:txBody>
          <a:bodyPr wrap="square" lIns="0" tIns="0" rIns="0" bIns="0">
            <a:spAutoFit/>
          </a:bodyPr>
          <a:lstStyle/>
          <a:p>
            <a:pPr>
              <a:defRPr sz="850" b="1">
                <a:solidFill>
                  <a:srgbClr val="991B1B"/>
                </a:solidFill>
                <a:latin typeface="Arial"/>
              </a:defRPr>
            </a:pPr>
            <a:r>
              <a:t>Collateral Volatility</a:t>
            </a:r>
          </a:p>
          <a:p>
            <a:pPr>
              <a:defRPr sz="750">
                <a:solidFill>
                  <a:srgbClr val="0F172A"/>
                </a:solidFill>
                <a:latin typeface="Calibri"/>
              </a:defRPr>
            </a:pPr>
            <a:r>
              <a:t>Depreciation in agro commodities, silver swings, or cattle mortality.</a:t>
            </a:r>
          </a:p>
        </p:txBody>
      </p:sp>
      <p:sp>
        <p:nvSpPr>
          <p:cNvPr id="17430" name="Oval 17429"/>
          <p:cNvSpPr/>
          <p:nvPr/>
        </p:nvSpPr>
        <p:spPr>
          <a:xfrm>
            <a:off x="3730752" y="3968496"/>
            <a:ext cx="164592" cy="164592"/>
          </a:xfrm>
          <a:prstGeom prst="ellipse">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1" name="TextBox 17430"/>
          <p:cNvSpPr txBox="1"/>
          <p:nvPr/>
        </p:nvSpPr>
        <p:spPr>
          <a:xfrm>
            <a:off x="3950208" y="3931920"/>
            <a:ext cx="2514600" cy="713232"/>
          </a:xfrm>
          <a:prstGeom prst="rect">
            <a:avLst/>
          </a:prstGeom>
          <a:noFill/>
        </p:spPr>
        <p:txBody>
          <a:bodyPr wrap="square" lIns="0" tIns="0" rIns="0" bIns="0">
            <a:spAutoFit/>
          </a:bodyPr>
          <a:lstStyle/>
          <a:p>
            <a:pPr>
              <a:defRPr sz="850" b="1">
                <a:solidFill>
                  <a:srgbClr val="991B1B"/>
                </a:solidFill>
                <a:latin typeface="Arial"/>
              </a:defRPr>
            </a:pPr>
            <a:r>
              <a:t>Rogue Collection Harassment</a:t>
            </a:r>
          </a:p>
          <a:p>
            <a:pPr>
              <a:defRPr sz="750">
                <a:solidFill>
                  <a:srgbClr val="0F172A"/>
                </a:solidFill>
                <a:latin typeface="Calibri"/>
              </a:defRPr>
            </a:pPr>
            <a:r>
              <a:t>Unlawful intimidation, threats, or illegal shaming by rogue lenders.</a:t>
            </a:r>
          </a:p>
        </p:txBody>
      </p:sp>
      <p:sp>
        <p:nvSpPr>
          <p:cNvPr id="17432" name="Oval 17431"/>
          <p:cNvSpPr/>
          <p:nvPr/>
        </p:nvSpPr>
        <p:spPr>
          <a:xfrm>
            <a:off x="3730752" y="4745736"/>
            <a:ext cx="164592" cy="164592"/>
          </a:xfrm>
          <a:prstGeom prst="ellipse">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3" name="TextBox 17432"/>
          <p:cNvSpPr txBox="1"/>
          <p:nvPr/>
        </p:nvSpPr>
        <p:spPr>
          <a:xfrm>
            <a:off x="3950208" y="4709160"/>
            <a:ext cx="2514600" cy="713232"/>
          </a:xfrm>
          <a:prstGeom prst="rect">
            <a:avLst/>
          </a:prstGeom>
          <a:noFill/>
        </p:spPr>
        <p:txBody>
          <a:bodyPr wrap="square" lIns="0" tIns="0" rIns="0" bIns="0">
            <a:spAutoFit/>
          </a:bodyPr>
          <a:lstStyle/>
          <a:p>
            <a:pPr>
              <a:defRPr sz="850" b="1">
                <a:solidFill>
                  <a:srgbClr val="991B1B"/>
                </a:solidFill>
                <a:latin typeface="Arial"/>
              </a:defRPr>
            </a:pPr>
            <a:r>
              <a:t>Rural Connectivity</a:t>
            </a:r>
          </a:p>
          <a:p>
            <a:pPr>
              <a:defRPr sz="750">
                <a:solidFill>
                  <a:srgbClr val="0F172A"/>
                </a:solidFill>
                <a:latin typeface="Calibri"/>
              </a:defRPr>
            </a:pPr>
            <a:r>
              <a:t>Erratic 2G/3G connectivity in remote rural agricultural belts.</a:t>
            </a:r>
          </a:p>
        </p:txBody>
      </p:sp>
      <p:sp>
        <p:nvSpPr>
          <p:cNvPr id="17434" name="Rounded Rectangle 17433"/>
          <p:cNvSpPr/>
          <p:nvPr/>
        </p:nvSpPr>
        <p:spPr>
          <a:xfrm>
            <a:off x="6647688" y="1115568"/>
            <a:ext cx="2880360" cy="45262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5" name="Rounded Rectangle 17434"/>
          <p:cNvSpPr/>
          <p:nvPr/>
        </p:nvSpPr>
        <p:spPr>
          <a:xfrm>
            <a:off x="6748272" y="1207008"/>
            <a:ext cx="2679192" cy="274320"/>
          </a:xfrm>
          <a:prstGeom prst="roundRect">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3. OVERCOMING STRATEGIES</a:t>
            </a:r>
          </a:p>
        </p:txBody>
      </p:sp>
      <p:sp>
        <p:nvSpPr>
          <p:cNvPr id="17436" name="Oval 17435"/>
          <p:cNvSpPr/>
          <p:nvPr/>
        </p:nvSpPr>
        <p:spPr>
          <a:xfrm>
            <a:off x="6748272" y="1636776"/>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7" name="TextBox 17436"/>
          <p:cNvSpPr txBox="1"/>
          <p:nvPr/>
        </p:nvSpPr>
        <p:spPr>
          <a:xfrm>
            <a:off x="6967728" y="1600200"/>
            <a:ext cx="2514600" cy="713232"/>
          </a:xfrm>
          <a:prstGeom prst="rect">
            <a:avLst/>
          </a:prstGeom>
          <a:noFill/>
        </p:spPr>
        <p:txBody>
          <a:bodyPr wrap="square" lIns="0" tIns="0" rIns="0" bIns="0">
            <a:spAutoFit/>
          </a:bodyPr>
          <a:lstStyle/>
          <a:p>
            <a:pPr>
              <a:defRPr sz="850" b="1">
                <a:solidFill>
                  <a:srgbClr val="0F226B"/>
                </a:solidFill>
                <a:latin typeface="Arial"/>
              </a:defRPr>
            </a:pPr>
            <a:r>
              <a:t>Keystore &amp; Biometrics</a:t>
            </a:r>
          </a:p>
          <a:p>
            <a:pPr>
              <a:defRPr sz="750">
                <a:solidFill>
                  <a:srgbClr val="0F172A"/>
                </a:solidFill>
                <a:latin typeface="Calibri"/>
              </a:defRPr>
            </a:pPr>
            <a:r>
              <a:t>Hardware StrongBox encryption (PURPOSE_ENCRYPT) + BiometricPrompt.</a:t>
            </a:r>
          </a:p>
        </p:txBody>
      </p:sp>
      <p:sp>
        <p:nvSpPr>
          <p:cNvPr id="17438" name="Oval 17437"/>
          <p:cNvSpPr/>
          <p:nvPr/>
        </p:nvSpPr>
        <p:spPr>
          <a:xfrm>
            <a:off x="6748272" y="2414016"/>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9" name="TextBox 17438"/>
          <p:cNvSpPr txBox="1"/>
          <p:nvPr/>
        </p:nvSpPr>
        <p:spPr>
          <a:xfrm>
            <a:off x="6967728" y="2377440"/>
            <a:ext cx="2514600" cy="713232"/>
          </a:xfrm>
          <a:prstGeom prst="rect">
            <a:avLst/>
          </a:prstGeom>
          <a:noFill/>
        </p:spPr>
        <p:txBody>
          <a:bodyPr wrap="square" lIns="0" tIns="0" rIns="0" bIns="0">
            <a:spAutoFit/>
          </a:bodyPr>
          <a:lstStyle/>
          <a:p>
            <a:pPr>
              <a:defRPr sz="850" b="1">
                <a:solidFill>
                  <a:srgbClr val="0F226B"/>
                </a:solidFill>
                <a:latin typeface="Arial"/>
              </a:defRPr>
            </a:pPr>
            <a:r>
              <a:t>Direct Vendor VPA Pay</a:t>
            </a:r>
          </a:p>
          <a:p>
            <a:pPr>
              <a:defRPr sz="750">
                <a:solidFill>
                  <a:srgbClr val="0F172A"/>
                </a:solidFill>
                <a:latin typeface="Calibri"/>
              </a:defRPr>
            </a:pPr>
            <a:r>
              <a:t>Zero cash-in-hand disbursements; funds flow directly to supplier VPAs.</a:t>
            </a:r>
          </a:p>
        </p:txBody>
      </p:sp>
      <p:sp>
        <p:nvSpPr>
          <p:cNvPr id="17440" name="Oval 17439"/>
          <p:cNvSpPr/>
          <p:nvPr/>
        </p:nvSpPr>
        <p:spPr>
          <a:xfrm>
            <a:off x="6748272" y="3191256"/>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1" name="TextBox 17440"/>
          <p:cNvSpPr txBox="1"/>
          <p:nvPr/>
        </p:nvSpPr>
        <p:spPr>
          <a:xfrm>
            <a:off x="6967728" y="3154680"/>
            <a:ext cx="2514600" cy="713232"/>
          </a:xfrm>
          <a:prstGeom prst="rect">
            <a:avLst/>
          </a:prstGeom>
          <a:noFill/>
        </p:spPr>
        <p:txBody>
          <a:bodyPr wrap="square" lIns="0" tIns="0" rIns="0" bIns="0">
            <a:spAutoFit/>
          </a:bodyPr>
          <a:lstStyle/>
          <a:p>
            <a:pPr>
              <a:defRPr sz="850" b="1">
                <a:solidFill>
                  <a:srgbClr val="0F226B"/>
                </a:solidFill>
                <a:latin typeface="Arial"/>
              </a:defRPr>
            </a:pPr>
            <a:r>
              <a:t>Dynamic LTV Haircuts</a:t>
            </a:r>
          </a:p>
          <a:p>
            <a:pPr>
              <a:defRPr sz="750">
                <a:solidFill>
                  <a:srgbClr val="0F172A"/>
                </a:solidFill>
                <a:latin typeface="Calibri"/>
              </a:defRPr>
            </a:pPr>
            <a:r>
              <a:t>Algorithmic safety buffers: Gold 25%, Silver 35%, IT 50%, Agro 40%, Cattle 60%.</a:t>
            </a:r>
          </a:p>
        </p:txBody>
      </p:sp>
      <p:sp>
        <p:nvSpPr>
          <p:cNvPr id="17442" name="Oval 17441"/>
          <p:cNvSpPr/>
          <p:nvPr/>
        </p:nvSpPr>
        <p:spPr>
          <a:xfrm>
            <a:off x="6748272" y="3968496"/>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3" name="TextBox 17442"/>
          <p:cNvSpPr txBox="1"/>
          <p:nvPr/>
        </p:nvSpPr>
        <p:spPr>
          <a:xfrm>
            <a:off x="6967728" y="3931920"/>
            <a:ext cx="2514600" cy="713232"/>
          </a:xfrm>
          <a:prstGeom prst="rect">
            <a:avLst/>
          </a:prstGeom>
          <a:noFill/>
        </p:spPr>
        <p:txBody>
          <a:bodyPr wrap="square" lIns="0" tIns="0" rIns="0" bIns="0">
            <a:spAutoFit/>
          </a:bodyPr>
          <a:lstStyle/>
          <a:p>
            <a:pPr>
              <a:defRPr sz="850" b="1">
                <a:solidFill>
                  <a:srgbClr val="0F226B"/>
                </a:solidFill>
                <a:latin typeface="Arial"/>
              </a:defRPr>
            </a:pPr>
            <a:r>
              <a:t>Telegram SOS Bot</a:t>
            </a:r>
          </a:p>
          <a:p>
            <a:pPr>
              <a:defRPr sz="750">
                <a:solidFill>
                  <a:srgbClr val="0F172A"/>
                </a:solidFill>
                <a:latin typeface="Calibri"/>
              </a:defRPr>
            </a:pPr>
            <a:r>
              <a:t>Instant compliance alerts under IPC 503/506 + RBI non-compounding cap.</a:t>
            </a:r>
          </a:p>
        </p:txBody>
      </p:sp>
      <p:sp>
        <p:nvSpPr>
          <p:cNvPr id="17444" name="Oval 17443"/>
          <p:cNvSpPr/>
          <p:nvPr/>
        </p:nvSpPr>
        <p:spPr>
          <a:xfrm>
            <a:off x="6748272" y="4745736"/>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5" name="TextBox 17444"/>
          <p:cNvSpPr txBox="1"/>
          <p:nvPr/>
        </p:nvSpPr>
        <p:spPr>
          <a:xfrm>
            <a:off x="6967728" y="4709160"/>
            <a:ext cx="2514600" cy="713232"/>
          </a:xfrm>
          <a:prstGeom prst="rect">
            <a:avLst/>
          </a:prstGeom>
          <a:noFill/>
        </p:spPr>
        <p:txBody>
          <a:bodyPr wrap="square" lIns="0" tIns="0" rIns="0" bIns="0">
            <a:spAutoFit/>
          </a:bodyPr>
          <a:lstStyle/>
          <a:p>
            <a:pPr>
              <a:defRPr sz="850" b="1">
                <a:solidFill>
                  <a:srgbClr val="0F226B"/>
                </a:solidFill>
                <a:latin typeface="Arial"/>
              </a:defRPr>
            </a:pPr>
            <a:r>
              <a:t>Offline-First Room Sync</a:t>
            </a:r>
          </a:p>
          <a:p>
            <a:pPr>
              <a:defRPr sz="750">
                <a:solidFill>
                  <a:srgbClr val="0F172A"/>
                </a:solidFill>
                <a:latin typeface="Calibri"/>
              </a:defRPr>
            </a:pPr>
            <a:r>
              <a:t>Local SQLite database with automated background sync queue.</a:t>
            </a:r>
          </a:p>
        </p:txBody>
      </p:sp>
      <p:sp>
        <p:nvSpPr>
          <p:cNvPr id="17446" name="Rounded Rectangle 17445"/>
          <p:cNvSpPr/>
          <p:nvPr/>
        </p:nvSpPr>
        <p:spPr>
          <a:xfrm>
            <a:off x="9430641" y="1115568"/>
            <a:ext cx="2389372" cy="4617720"/>
          </a:xfrm>
          <a:prstGeom prst="roundRect">
            <a:avLst/>
          </a:prstGeom>
          <a:solidFill>
            <a:srgbClr val="0F172A"/>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7" name="Rounded Rectangle 17446"/>
          <p:cNvSpPr/>
          <p:nvPr/>
        </p:nvSpPr>
        <p:spPr>
          <a:xfrm>
            <a:off x="10465308" y="1129284"/>
            <a:ext cx="320040" cy="32004"/>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48" name="Picture 17447" descr="image.png"/>
          <p:cNvPicPr>
            <a:picLocks noChangeAspect="1"/>
          </p:cNvPicPr>
          <p:nvPr/>
        </p:nvPicPr>
        <p:blipFill>
          <a:blip r:embed="rId8"/>
          <a:stretch>
            <a:fillRect/>
          </a:stretch>
        </p:blipFill>
        <p:spPr>
          <a:xfrm>
            <a:off x="9467217" y="1161288"/>
            <a:ext cx="2316220" cy="4526280"/>
          </a:xfrm>
          <a:prstGeom prst="rect">
            <a:avLst/>
          </a:prstGeom>
        </p:spPr>
      </p:pic>
      <p:sp>
        <p:nvSpPr>
          <p:cNvPr id="17449" name="Rounded Rectangle 17448"/>
          <p:cNvSpPr/>
          <p:nvPr/>
        </p:nvSpPr>
        <p:spPr>
          <a:xfrm>
            <a:off x="9430641" y="5760720"/>
            <a:ext cx="2389372" cy="173736"/>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50" b="1">
                <a:solidFill>
                  <a:srgbClr val="38BDF8"/>
                </a:solidFill>
                <a:latin typeface="Arial"/>
              </a:defRPr>
            </a:pPr>
            <a:r>
              <a:t>COLLATERAL VAULT</a:t>
            </a:r>
          </a:p>
        </p:txBody>
      </p:sp>
      <p:sp>
        <p:nvSpPr>
          <p:cNvPr id="17450" name="Rounded Rectangle 17449"/>
          <p:cNvSpPr/>
          <p:nvPr/>
        </p:nvSpPr>
        <p:spPr>
          <a:xfrm>
            <a:off x="612648" y="5760720"/>
            <a:ext cx="10972800" cy="530352"/>
          </a:xfrm>
          <a:prstGeom prst="roundRect">
            <a:avLst/>
          </a:prstGeom>
          <a:solidFill>
            <a:srgbClr val="0F226B"/>
          </a:solidFill>
          <a:ln w="12700">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850" b="1">
                <a:solidFill>
                  <a:srgbClr val="FFFFFF"/>
                </a:solidFill>
                <a:latin typeface="Calibri"/>
              </a:defRPr>
            </a:pPr>
            <a:r>
              <a:t>OVERALL VIABILITY: Loanzo is technically, operationally, economically, and legally viable. Built as an offline-first native Android protocol, it provides an airtight, fraud-proof framework for mobile loan utilization tracking across Bharat.</a:t>
            </a:r>
          </a:p>
        </p:txBody>
      </p:sp>
    </p:spTree>
    <p:extLst>
      <p:ext uri="{BB962C8B-B14F-4D97-AF65-F5344CB8AC3E}">
        <p14:creationId xmlns:p14="http://schemas.microsoft.com/office/powerpoint/2010/main" val="375338791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250065" y="1862198"/>
            <a:ext cx="9626279" cy="1143000"/>
          </a:xfrm>
        </p:spPr>
        <p:txBody>
          <a:bodyPr/>
          <a:lstStyle/>
          <a:p>
            <a:pPr eaLnBrk="1" hangingPunct="1"/>
            <a:endParaRPr lang="en-US" sz="3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5" name="Picture 4">
            <a:extLst>
              <a:ext uri="{FF2B5EF4-FFF2-40B4-BE49-F238E27FC236}">
                <a16:creationId xmlns:a16="http://schemas.microsoft.com/office/drawing/2014/main" id="{CC200EBA-8E1B-20EE-DCF9-B4D48EE258FD}"/>
              </a:ext>
            </a:extLst>
          </p:cNvPr>
          <p:cNvPicPr>
            <a:picLocks noChangeAspect="1"/>
          </p:cNvPicPr>
          <p:nvPr/>
        </p:nvPicPr>
        <p:blipFill>
          <a:blip r:embed="rId3"/>
          <a:stretch>
            <a:fillRect/>
          </a:stretch>
        </p:blipFill>
        <p:spPr>
          <a:xfrm>
            <a:off x="0" y="-34496"/>
            <a:ext cx="12250703" cy="6979306"/>
          </a:xfrm>
          <a:prstGeom prst="rect">
            <a:avLst/>
          </a:prstGeom>
        </p:spPr>
      </p:pic>
      <p:pic>
        <p:nvPicPr>
          <p:cNvPr id="3" name="Picture 2">
            <a:extLst>
              <a:ext uri="{FF2B5EF4-FFF2-40B4-BE49-F238E27FC236}">
                <a16:creationId xmlns:a16="http://schemas.microsoft.com/office/drawing/2014/main" id="{EF0B0230-A94A-0040-92FC-FC18C70DE746}"/>
              </a:ext>
            </a:extLst>
          </p:cNvPr>
          <p:cNvPicPr>
            <a:picLocks noChangeAspect="1"/>
          </p:cNvPicPr>
          <p:nvPr/>
        </p:nvPicPr>
        <p:blipFill>
          <a:blip r:embed="rId4"/>
          <a:stretch>
            <a:fillRect/>
          </a:stretch>
        </p:blipFill>
        <p:spPr>
          <a:xfrm>
            <a:off x="2" y="-34496"/>
            <a:ext cx="1581628" cy="1051621"/>
          </a:xfrm>
          <a:prstGeom prst="rect">
            <a:avLst/>
          </a:prstGeom>
        </p:spPr>
      </p:pic>
      <p:pic>
        <p:nvPicPr>
          <p:cNvPr id="9" name="Picture 8">
            <a:extLst>
              <a:ext uri="{FF2B5EF4-FFF2-40B4-BE49-F238E27FC236}">
                <a16:creationId xmlns:a16="http://schemas.microsoft.com/office/drawing/2014/main" id="{FEFE4731-21AA-BAC6-0C2A-C9A47B9FE79A}"/>
              </a:ext>
            </a:extLst>
          </p:cNvPr>
          <p:cNvPicPr>
            <a:picLocks noChangeAspect="1"/>
          </p:cNvPicPr>
          <p:nvPr/>
        </p:nvPicPr>
        <p:blipFill>
          <a:blip r:embed="rId5"/>
          <a:stretch>
            <a:fillRect/>
          </a:stretch>
        </p:blipFill>
        <p:spPr>
          <a:xfrm>
            <a:off x="10081550" y="-1"/>
            <a:ext cx="1942892" cy="868101"/>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60000" y="-34496"/>
            <a:ext cx="1922895" cy="907955"/>
          </a:xfrm>
          <a:prstGeom prst="rect">
            <a:avLst/>
          </a:prstGeom>
        </p:spPr>
      </p:pic>
      <p:pic>
        <p:nvPicPr>
          <p:cNvPr id="14" name="Picture 13">
            <a:extLst>
              <a:ext uri="{FF2B5EF4-FFF2-40B4-BE49-F238E27FC236}">
                <a16:creationId xmlns:a16="http://schemas.microsoft.com/office/drawing/2014/main" id="{2C4CC1CE-9325-B9DC-D331-4516F47DF4D4}"/>
              </a:ext>
            </a:extLst>
          </p:cNvPr>
          <p:cNvPicPr>
            <a:picLocks noChangeAspect="1"/>
          </p:cNvPicPr>
          <p:nvPr/>
        </p:nvPicPr>
        <p:blipFill>
          <a:blip r:embed="rId7"/>
          <a:stretch>
            <a:fillRect/>
          </a:stretch>
        </p:blipFill>
        <p:spPr>
          <a:xfrm>
            <a:off x="2" y="0"/>
            <a:ext cx="1446833" cy="1017125"/>
          </a:xfrm>
          <a:prstGeom prst="rect">
            <a:avLst/>
          </a:prstGeom>
        </p:spPr>
      </p:pic>
      <p:sp>
        <p:nvSpPr>
          <p:cNvPr id="17410" name="Rectangle 17409"/>
          <p:cNvSpPr/>
          <p:nvPr/>
        </p:nvSpPr>
        <p:spPr>
          <a:xfrm>
            <a:off x="0" y="987552"/>
            <a:ext cx="12191695" cy="587044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1" name="Rounded Rectangle 17410"/>
          <p:cNvSpPr/>
          <p:nvPr/>
        </p:nvSpPr>
        <p:spPr>
          <a:xfrm>
            <a:off x="612648" y="1115568"/>
            <a:ext cx="4160520" cy="45262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731520" y="1207008"/>
            <a:ext cx="3922776" cy="274320"/>
          </a:xfrm>
          <a:prstGeom prst="roundRect">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1. POTENTIAL IMPACT ON AUDIENCE</a:t>
            </a:r>
          </a:p>
        </p:txBody>
      </p:sp>
      <p:sp>
        <p:nvSpPr>
          <p:cNvPr id="17413" name="Oval 17412"/>
          <p:cNvSpPr/>
          <p:nvPr/>
        </p:nvSpPr>
        <p:spPr>
          <a:xfrm>
            <a:off x="731520" y="1700784"/>
            <a:ext cx="182880" cy="182880"/>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TextBox 17413"/>
          <p:cNvSpPr txBox="1"/>
          <p:nvPr/>
        </p:nvSpPr>
        <p:spPr>
          <a:xfrm>
            <a:off x="969264" y="1664208"/>
            <a:ext cx="3794760" cy="896112"/>
          </a:xfrm>
          <a:prstGeom prst="rect">
            <a:avLst/>
          </a:prstGeom>
          <a:noFill/>
        </p:spPr>
        <p:txBody>
          <a:bodyPr wrap="square" lIns="0" tIns="0" rIns="0" bIns="0">
            <a:spAutoFit/>
          </a:bodyPr>
          <a:lstStyle/>
          <a:p>
            <a:pPr>
              <a:defRPr sz="850" b="1">
                <a:solidFill>
                  <a:srgbClr val="0F226B"/>
                </a:solidFill>
                <a:latin typeface="Arial"/>
              </a:defRPr>
            </a:pPr>
            <a:r>
              <a:t>Empowers Rural &amp; MSME Borrowers</a:t>
            </a:r>
          </a:p>
          <a:p>
            <a:pPr>
              <a:defRPr sz="750">
                <a:solidFill>
                  <a:srgbClr val="0F172A"/>
                </a:solidFill>
                <a:latin typeface="Calibri"/>
              </a:defRPr>
            </a:pPr>
            <a:r>
              <a:t>Unlocks institutional-rate liquidity for credit-invisible artisans, weavers, and farmers by collateralizing productive non-gold assets (machinery, crops, cattle).</a:t>
            </a:r>
          </a:p>
        </p:txBody>
      </p:sp>
      <p:sp>
        <p:nvSpPr>
          <p:cNvPr id="17415" name="Oval 17414"/>
          <p:cNvSpPr/>
          <p:nvPr/>
        </p:nvSpPr>
        <p:spPr>
          <a:xfrm>
            <a:off x="731520" y="2670048"/>
            <a:ext cx="182880" cy="182880"/>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TextBox 17415"/>
          <p:cNvSpPr txBox="1"/>
          <p:nvPr/>
        </p:nvSpPr>
        <p:spPr>
          <a:xfrm>
            <a:off x="969264" y="2633472"/>
            <a:ext cx="3794760" cy="896112"/>
          </a:xfrm>
          <a:prstGeom prst="rect">
            <a:avLst/>
          </a:prstGeom>
          <a:noFill/>
        </p:spPr>
        <p:txBody>
          <a:bodyPr wrap="square" lIns="0" tIns="0" rIns="0" bIns="0">
            <a:spAutoFit/>
          </a:bodyPr>
          <a:lstStyle/>
          <a:p>
            <a:pPr>
              <a:defRPr sz="850" b="1">
                <a:solidFill>
                  <a:srgbClr val="0F226B"/>
                </a:solidFill>
                <a:latin typeface="Arial"/>
              </a:defRPr>
            </a:pPr>
            <a:r>
              <a:t>Eliminates 100% of Fund Diversion</a:t>
            </a:r>
          </a:p>
          <a:p>
            <a:pPr>
              <a:defRPr sz="750">
                <a:solidFill>
                  <a:srgbClr val="0F172A"/>
                </a:solidFill>
                <a:latin typeface="Calibri"/>
              </a:defRPr>
            </a:pPr>
            <a:r>
              <a:t>Guarantees that borrowed funds are deployed exclusively into sanctioned business inventory and equipment via direct supplier UPI disbursements.</a:t>
            </a:r>
          </a:p>
        </p:txBody>
      </p:sp>
      <p:sp>
        <p:nvSpPr>
          <p:cNvPr id="17417" name="Oval 17416"/>
          <p:cNvSpPr/>
          <p:nvPr/>
        </p:nvSpPr>
        <p:spPr>
          <a:xfrm>
            <a:off x="731520" y="3639312"/>
            <a:ext cx="182880" cy="182880"/>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TextBox 17417"/>
          <p:cNvSpPr txBox="1"/>
          <p:nvPr/>
        </p:nvSpPr>
        <p:spPr>
          <a:xfrm>
            <a:off x="969264" y="3602736"/>
            <a:ext cx="3794760" cy="896112"/>
          </a:xfrm>
          <a:prstGeom prst="rect">
            <a:avLst/>
          </a:prstGeom>
          <a:noFill/>
        </p:spPr>
        <p:txBody>
          <a:bodyPr wrap="square" lIns="0" tIns="0" rIns="0" bIns="0">
            <a:spAutoFit/>
          </a:bodyPr>
          <a:lstStyle/>
          <a:p>
            <a:pPr>
              <a:defRPr sz="850" b="1">
                <a:solidFill>
                  <a:srgbClr val="0F226B"/>
                </a:solidFill>
                <a:latin typeface="Arial"/>
              </a:defRPr>
            </a:pPr>
            <a:r>
              <a:t>Eradicates Predatory Debt Traps</a:t>
            </a:r>
          </a:p>
          <a:p>
            <a:pPr>
              <a:defRPr sz="750">
                <a:solidFill>
                  <a:srgbClr val="0F172A"/>
                </a:solidFill>
                <a:latin typeface="Calibri"/>
              </a:defRPr>
            </a:pPr>
            <a:r>
              <a:t>Replaces usurious moneylenders charging 60% to 120% APR with competitive 12% to 18% market syndication and strict non-compounding penalty caps.</a:t>
            </a:r>
          </a:p>
        </p:txBody>
      </p:sp>
      <p:sp>
        <p:nvSpPr>
          <p:cNvPr id="17419" name="Oval 17418"/>
          <p:cNvSpPr/>
          <p:nvPr/>
        </p:nvSpPr>
        <p:spPr>
          <a:xfrm>
            <a:off x="731520" y="4608576"/>
            <a:ext cx="182880" cy="182880"/>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969264" y="4572000"/>
            <a:ext cx="3794760" cy="896112"/>
          </a:xfrm>
          <a:prstGeom prst="rect">
            <a:avLst/>
          </a:prstGeom>
          <a:noFill/>
        </p:spPr>
        <p:txBody>
          <a:bodyPr wrap="square" lIns="0" tIns="0" rIns="0" bIns="0">
            <a:spAutoFit/>
          </a:bodyPr>
          <a:lstStyle/>
          <a:p>
            <a:pPr>
              <a:defRPr sz="850" b="1">
                <a:solidFill>
                  <a:srgbClr val="0F226B"/>
                </a:solidFill>
                <a:latin typeface="Arial"/>
              </a:defRPr>
            </a:pPr>
            <a:r>
              <a:t>Builds Formal Credit Profiles</a:t>
            </a:r>
          </a:p>
          <a:p>
            <a:pPr>
              <a:defRPr sz="750">
                <a:solidFill>
                  <a:srgbClr val="0F172A"/>
                </a:solidFill>
                <a:latin typeface="Calibri"/>
              </a:defRPr>
            </a:pPr>
            <a:r>
              <a:t>Transparent UPI repayment logs and tamper-proof Golden NOCs create verified digital credit footprints for unbanked borrowers to enter formal banking.</a:t>
            </a:r>
          </a:p>
        </p:txBody>
      </p:sp>
      <p:sp>
        <p:nvSpPr>
          <p:cNvPr id="17421" name="Rounded Rectangle 17420"/>
          <p:cNvSpPr/>
          <p:nvPr/>
        </p:nvSpPr>
        <p:spPr>
          <a:xfrm>
            <a:off x="4881501" y="1115568"/>
            <a:ext cx="2389372" cy="4617720"/>
          </a:xfrm>
          <a:prstGeom prst="roundRect">
            <a:avLst/>
          </a:prstGeom>
          <a:solidFill>
            <a:srgbClr val="0F172A"/>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Rounded Rectangle 17421"/>
          <p:cNvSpPr/>
          <p:nvPr/>
        </p:nvSpPr>
        <p:spPr>
          <a:xfrm>
            <a:off x="5916168" y="1129284"/>
            <a:ext cx="320040" cy="32004"/>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3" name="Picture 17422" descr="image.png"/>
          <p:cNvPicPr>
            <a:picLocks noChangeAspect="1"/>
          </p:cNvPicPr>
          <p:nvPr/>
        </p:nvPicPr>
        <p:blipFill>
          <a:blip r:embed="rId8"/>
          <a:stretch>
            <a:fillRect/>
          </a:stretch>
        </p:blipFill>
        <p:spPr>
          <a:xfrm>
            <a:off x="4918077" y="1161288"/>
            <a:ext cx="2316220" cy="4526280"/>
          </a:xfrm>
          <a:prstGeom prst="rect">
            <a:avLst/>
          </a:prstGeom>
        </p:spPr>
      </p:pic>
      <p:sp>
        <p:nvSpPr>
          <p:cNvPr id="17424" name="Rounded Rectangle 17423"/>
          <p:cNvSpPr/>
          <p:nvPr/>
        </p:nvSpPr>
        <p:spPr>
          <a:xfrm>
            <a:off x="4881501" y="5760720"/>
            <a:ext cx="2389372" cy="173736"/>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50" b="1">
                <a:solidFill>
                  <a:srgbClr val="38BDF8"/>
                </a:solidFill>
                <a:latin typeface="Arial"/>
              </a:defRPr>
            </a:pPr>
            <a:r>
              <a:t>STATUTORY PROMISSORY NOTE</a:t>
            </a:r>
          </a:p>
        </p:txBody>
      </p:sp>
      <p:sp>
        <p:nvSpPr>
          <p:cNvPr id="17425" name="Rounded Rectangle 17424"/>
          <p:cNvSpPr/>
          <p:nvPr/>
        </p:nvSpPr>
        <p:spPr>
          <a:xfrm>
            <a:off x="7379208" y="1115568"/>
            <a:ext cx="4160520" cy="4526280"/>
          </a:xfrm>
          <a:prstGeom prst="roundRect">
            <a:avLst/>
          </a:prstGeom>
          <a:solidFill>
            <a:srgbClr val="FFFFFF"/>
          </a:solidFill>
          <a:ln w="1905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6" name="Rounded Rectangle 17425"/>
          <p:cNvSpPr/>
          <p:nvPr/>
        </p:nvSpPr>
        <p:spPr>
          <a:xfrm>
            <a:off x="7498079" y="1207008"/>
            <a:ext cx="3922776" cy="274320"/>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2. MULTI-DIMENSIONAL BENEFITS</a:t>
            </a:r>
          </a:p>
        </p:txBody>
      </p:sp>
      <p:sp>
        <p:nvSpPr>
          <p:cNvPr id="17427" name="Oval 17426"/>
          <p:cNvSpPr/>
          <p:nvPr/>
        </p:nvSpPr>
        <p:spPr>
          <a:xfrm>
            <a:off x="7498079" y="1700784"/>
            <a:ext cx="182880" cy="182880"/>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TextBox 17427"/>
          <p:cNvSpPr txBox="1"/>
          <p:nvPr/>
        </p:nvSpPr>
        <p:spPr>
          <a:xfrm>
            <a:off x="7735824" y="1664208"/>
            <a:ext cx="3794760" cy="896112"/>
          </a:xfrm>
          <a:prstGeom prst="rect">
            <a:avLst/>
          </a:prstGeom>
          <a:noFill/>
        </p:spPr>
        <p:txBody>
          <a:bodyPr wrap="square" lIns="0" tIns="0" rIns="0" bIns="0">
            <a:spAutoFit/>
          </a:bodyPr>
          <a:lstStyle/>
          <a:p>
            <a:pPr>
              <a:defRPr sz="850" b="1">
                <a:solidFill>
                  <a:srgbClr val="0F766E"/>
                </a:solidFill>
                <a:latin typeface="Arial"/>
              </a:defRPr>
            </a:pPr>
            <a:r>
              <a:t>Social Benefits &amp; Dignity</a:t>
            </a:r>
          </a:p>
          <a:p>
            <a:pPr>
              <a:defRPr sz="750">
                <a:solidFill>
                  <a:srgbClr val="0F172A"/>
                </a:solidFill>
                <a:latin typeface="Calibri"/>
              </a:defRPr>
            </a:pPr>
            <a:r>
              <a:t>Fosters financial inclusion across Tier-2/3 India. Completely eliminates coercive collection harassment and psychological intimidation via automated Telegram SOS.</a:t>
            </a:r>
          </a:p>
        </p:txBody>
      </p:sp>
      <p:sp>
        <p:nvSpPr>
          <p:cNvPr id="17429" name="Oval 17428"/>
          <p:cNvSpPr/>
          <p:nvPr/>
        </p:nvSpPr>
        <p:spPr>
          <a:xfrm>
            <a:off x="7498079" y="2670048"/>
            <a:ext cx="182880" cy="182880"/>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0" name="TextBox 17429"/>
          <p:cNvSpPr txBox="1"/>
          <p:nvPr/>
        </p:nvSpPr>
        <p:spPr>
          <a:xfrm>
            <a:off x="7735824" y="2633472"/>
            <a:ext cx="3794760" cy="896112"/>
          </a:xfrm>
          <a:prstGeom prst="rect">
            <a:avLst/>
          </a:prstGeom>
          <a:noFill/>
        </p:spPr>
        <p:txBody>
          <a:bodyPr wrap="square" lIns="0" tIns="0" rIns="0" bIns="0">
            <a:spAutoFit/>
          </a:bodyPr>
          <a:lstStyle/>
          <a:p>
            <a:pPr>
              <a:defRPr sz="850" b="1">
                <a:solidFill>
                  <a:srgbClr val="0F766E"/>
                </a:solidFill>
                <a:latin typeface="Arial"/>
              </a:defRPr>
            </a:pPr>
            <a:r>
              <a:t>Economic Benefits &amp; MSME Growth</a:t>
            </a:r>
          </a:p>
          <a:p>
            <a:pPr>
              <a:defRPr sz="750">
                <a:solidFill>
                  <a:srgbClr val="0F172A"/>
                </a:solidFill>
                <a:latin typeface="Calibri"/>
              </a:defRPr>
            </a:pPr>
            <a:r>
              <a:t>Accelerates rural MSME gross value add (GVA) by ensuring working capital is directly deployed into raw materials, loom repairs, and crop cultivation.</a:t>
            </a:r>
          </a:p>
        </p:txBody>
      </p:sp>
      <p:sp>
        <p:nvSpPr>
          <p:cNvPr id="17431" name="Oval 17430"/>
          <p:cNvSpPr/>
          <p:nvPr/>
        </p:nvSpPr>
        <p:spPr>
          <a:xfrm>
            <a:off x="7498079" y="3639312"/>
            <a:ext cx="182880" cy="182880"/>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2" name="TextBox 17431"/>
          <p:cNvSpPr txBox="1"/>
          <p:nvPr/>
        </p:nvSpPr>
        <p:spPr>
          <a:xfrm>
            <a:off x="7735824" y="3602736"/>
            <a:ext cx="3794760" cy="896112"/>
          </a:xfrm>
          <a:prstGeom prst="rect">
            <a:avLst/>
          </a:prstGeom>
          <a:noFill/>
        </p:spPr>
        <p:txBody>
          <a:bodyPr wrap="square" lIns="0" tIns="0" rIns="0" bIns="0">
            <a:spAutoFit/>
          </a:bodyPr>
          <a:lstStyle/>
          <a:p>
            <a:pPr>
              <a:defRPr sz="850" b="1">
                <a:solidFill>
                  <a:srgbClr val="0F766E"/>
                </a:solidFill>
                <a:latin typeface="Arial"/>
              </a:defRPr>
            </a:pPr>
            <a:r>
              <a:t>Legal Enforceability Benefits</a:t>
            </a:r>
          </a:p>
          <a:p>
            <a:pPr>
              <a:defRPr sz="750">
                <a:solidFill>
                  <a:srgbClr val="0F172A"/>
                </a:solidFill>
                <a:latin typeface="Calibri"/>
              </a:defRPr>
            </a:pPr>
            <a:r>
              <a:t>Transforms informal verbal loans into legally binding Negotiable Promissory Notes under Sec 4 NI Act 1881, eligible for Order 37 CPC summary recovery.</a:t>
            </a:r>
          </a:p>
        </p:txBody>
      </p:sp>
      <p:sp>
        <p:nvSpPr>
          <p:cNvPr id="17433" name="Oval 17432"/>
          <p:cNvSpPr/>
          <p:nvPr/>
        </p:nvSpPr>
        <p:spPr>
          <a:xfrm>
            <a:off x="7498079" y="4608576"/>
            <a:ext cx="182880" cy="182880"/>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4" name="TextBox 17433"/>
          <p:cNvSpPr txBox="1"/>
          <p:nvPr/>
        </p:nvSpPr>
        <p:spPr>
          <a:xfrm>
            <a:off x="7735824" y="4572000"/>
            <a:ext cx="3794760" cy="896112"/>
          </a:xfrm>
          <a:prstGeom prst="rect">
            <a:avLst/>
          </a:prstGeom>
          <a:noFill/>
        </p:spPr>
        <p:txBody>
          <a:bodyPr wrap="square" lIns="0" tIns="0" rIns="0" bIns="0">
            <a:spAutoFit/>
          </a:bodyPr>
          <a:lstStyle/>
          <a:p>
            <a:pPr>
              <a:defRPr sz="850" b="1">
                <a:solidFill>
                  <a:srgbClr val="0F766E"/>
                </a:solidFill>
                <a:latin typeface="Arial"/>
              </a:defRPr>
            </a:pPr>
            <a:r>
              <a:t>Technological Benefits (India Stack)</a:t>
            </a:r>
          </a:p>
          <a:p>
            <a:pPr>
              <a:defRPr sz="750">
                <a:solidFill>
                  <a:srgbClr val="0F172A"/>
                </a:solidFill>
                <a:latin typeface="Calibri"/>
              </a:defRPr>
            </a:pPr>
            <a:r>
              <a:t>Provides an open, modular Android architecture designed for seamless national integration with Account Aggregator (AA) and ONDC Financial Services rails.</a:t>
            </a:r>
          </a:p>
        </p:txBody>
      </p:sp>
      <p:sp>
        <p:nvSpPr>
          <p:cNvPr id="17435" name="Rounded Rectangle 17434"/>
          <p:cNvSpPr/>
          <p:nvPr/>
        </p:nvSpPr>
        <p:spPr>
          <a:xfrm>
            <a:off x="612648" y="5760720"/>
            <a:ext cx="10972800" cy="530352"/>
          </a:xfrm>
          <a:prstGeom prst="roundRect">
            <a:avLst/>
          </a:prstGeom>
          <a:solidFill>
            <a:srgbClr val="0F226B"/>
          </a:solidFill>
          <a:ln w="12700">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900" b="1">
                <a:solidFill>
                  <a:srgbClr val="FFFFFF"/>
                </a:solidFill>
                <a:latin typeface="Calibri"/>
              </a:defRPr>
            </a:pPr>
            <a:r>
              <a:t>OVERALL IMPACT: Loanzo directly advances national financial inclusion and digital governance, delivering measurable transparency, 0% fund misuse, and dignified economic empowerment to Bharat's micro-entrepreneurs.</a:t>
            </a:r>
          </a:p>
        </p:txBody>
      </p:sp>
    </p:spTree>
    <p:extLst>
      <p:ext uri="{BB962C8B-B14F-4D97-AF65-F5344CB8AC3E}">
        <p14:creationId xmlns:p14="http://schemas.microsoft.com/office/powerpoint/2010/main" val="299714414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609600" y="254371"/>
            <a:ext cx="10972800" cy="1143000"/>
          </a:xfrm>
        </p:spPr>
        <p:txBody>
          <a:bodyPr/>
          <a:lstStyle/>
          <a:p>
            <a:pPr eaLnBrk="1" hangingPunct="1"/>
            <a:endParaRPr lang="en-US" sz="3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3" name="Picture 12">
            <a:extLst>
              <a:ext uri="{FF2B5EF4-FFF2-40B4-BE49-F238E27FC236}">
                <a16:creationId xmlns:a16="http://schemas.microsoft.com/office/drawing/2014/main" id="{872E6438-B8DB-A5FC-9FB4-357507849773}"/>
              </a:ext>
            </a:extLst>
          </p:cNvPr>
          <p:cNvPicPr>
            <a:picLocks noChangeAspect="1"/>
          </p:cNvPicPr>
          <p:nvPr/>
        </p:nvPicPr>
        <p:blipFill>
          <a:blip r:embed="rId3"/>
          <a:stretch>
            <a:fillRect/>
          </a:stretch>
        </p:blipFill>
        <p:spPr>
          <a:xfrm>
            <a:off x="10328412" y="117850"/>
            <a:ext cx="1863588" cy="1143000"/>
          </a:xfrm>
          <a:prstGeom prst="rect">
            <a:avLst/>
          </a:prstGeom>
        </p:spPr>
      </p:pic>
      <p:pic>
        <p:nvPicPr>
          <p:cNvPr id="8" name="Picture 7">
            <a:extLst>
              <a:ext uri="{FF2B5EF4-FFF2-40B4-BE49-F238E27FC236}">
                <a16:creationId xmlns:a16="http://schemas.microsoft.com/office/drawing/2014/main" id="{439E0F5D-82ED-2FE4-43BE-4850CCDFDA36}"/>
              </a:ext>
            </a:extLst>
          </p:cNvPr>
          <p:cNvPicPr>
            <a:picLocks noChangeAspect="1"/>
          </p:cNvPicPr>
          <p:nvPr/>
        </p:nvPicPr>
        <p:blipFill>
          <a:blip r:embed="rId4"/>
          <a:stretch>
            <a:fillRect/>
          </a:stretch>
        </p:blipFill>
        <p:spPr>
          <a:xfrm>
            <a:off x="-4102" y="0"/>
            <a:ext cx="12185522" cy="6858000"/>
          </a:xfrm>
          <a:prstGeom prst="rect">
            <a:avLst/>
          </a:prstGeom>
        </p:spPr>
      </p:pic>
      <p:pic>
        <p:nvPicPr>
          <p:cNvPr id="4" name="Picture 3">
            <a:extLst>
              <a:ext uri="{FF2B5EF4-FFF2-40B4-BE49-F238E27FC236}">
                <a16:creationId xmlns:a16="http://schemas.microsoft.com/office/drawing/2014/main" id="{DB1010BA-11BA-F733-1B5C-D465AFDB8334}"/>
              </a:ext>
            </a:extLst>
          </p:cNvPr>
          <p:cNvPicPr>
            <a:picLocks noChangeAspect="1"/>
          </p:cNvPicPr>
          <p:nvPr/>
        </p:nvPicPr>
        <p:blipFill>
          <a:blip r:embed="rId5"/>
          <a:stretch>
            <a:fillRect/>
          </a:stretch>
        </p:blipFill>
        <p:spPr>
          <a:xfrm>
            <a:off x="10580" y="-5288"/>
            <a:ext cx="1481559" cy="1160382"/>
          </a:xfrm>
          <a:prstGeom prst="rect">
            <a:avLst/>
          </a:prstGeom>
        </p:spPr>
      </p:pic>
      <p:pic>
        <p:nvPicPr>
          <p:cNvPr id="15" name="Picture 14">
            <a:extLst>
              <a:ext uri="{FF2B5EF4-FFF2-40B4-BE49-F238E27FC236}">
                <a16:creationId xmlns:a16="http://schemas.microsoft.com/office/drawing/2014/main" id="{9B63A63A-8842-7AF8-FFC2-7EDEF99FFD87}"/>
              </a:ext>
            </a:extLst>
          </p:cNvPr>
          <p:cNvPicPr>
            <a:picLocks noChangeAspect="1"/>
          </p:cNvPicPr>
          <p:nvPr/>
        </p:nvPicPr>
        <p:blipFill>
          <a:blip r:embed="rId6"/>
          <a:stretch>
            <a:fillRect/>
          </a:stretch>
        </p:blipFill>
        <p:spPr>
          <a:xfrm>
            <a:off x="10160000" y="92757"/>
            <a:ext cx="1863588" cy="1062337"/>
          </a:xfrm>
          <a:prstGeom prst="rect">
            <a:avLst/>
          </a:prstGeom>
        </p:spPr>
      </p:pic>
      <p:pic>
        <p:nvPicPr>
          <p:cNvPr id="12" name="Picture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64173" y="0"/>
            <a:ext cx="1813430" cy="856268"/>
          </a:xfrm>
          <a:prstGeom prst="rect">
            <a:avLst/>
          </a:prstGeom>
        </p:spPr>
      </p:pic>
      <p:sp>
        <p:nvSpPr>
          <p:cNvPr id="17410" name="Rectangle 17409"/>
          <p:cNvSpPr/>
          <p:nvPr/>
        </p:nvSpPr>
        <p:spPr>
          <a:xfrm>
            <a:off x="0" y="987552"/>
            <a:ext cx="12191695" cy="587044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1" name="Rounded Rectangle 17410"/>
          <p:cNvSpPr/>
          <p:nvPr/>
        </p:nvSpPr>
        <p:spPr>
          <a:xfrm>
            <a:off x="612648" y="1115568"/>
            <a:ext cx="4160520" cy="50749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731520" y="1207008"/>
            <a:ext cx="3922776" cy="274320"/>
          </a:xfrm>
          <a:prstGeom prst="roundRect">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RESEARCH WORK &amp; EMPIRICAL FINDINGS</a:t>
            </a:r>
          </a:p>
        </p:txBody>
      </p:sp>
      <p:sp>
        <p:nvSpPr>
          <p:cNvPr id="17413" name="Oval 17412"/>
          <p:cNvSpPr/>
          <p:nvPr/>
        </p:nvSpPr>
        <p:spPr>
          <a:xfrm>
            <a:off x="731520" y="1636776"/>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TextBox 17413"/>
          <p:cNvSpPr txBox="1"/>
          <p:nvPr/>
        </p:nvSpPr>
        <p:spPr>
          <a:xfrm>
            <a:off x="969264" y="1600200"/>
            <a:ext cx="3794760" cy="841248"/>
          </a:xfrm>
          <a:prstGeom prst="rect">
            <a:avLst/>
          </a:prstGeom>
          <a:noFill/>
        </p:spPr>
        <p:txBody>
          <a:bodyPr wrap="square" lIns="0" tIns="0" rIns="0" bIns="0">
            <a:spAutoFit/>
          </a:bodyPr>
          <a:lstStyle/>
          <a:p>
            <a:pPr>
              <a:defRPr sz="850" b="1">
                <a:solidFill>
                  <a:srgbClr val="0F226B"/>
                </a:solidFill>
                <a:latin typeface="Arial"/>
              </a:defRPr>
            </a:pPr>
            <a:r>
              <a:t>Informal Credit Gap Field Analysis</a:t>
            </a:r>
          </a:p>
          <a:p>
            <a:pPr>
              <a:defRPr sz="750">
                <a:solidFill>
                  <a:srgbClr val="0F172A"/>
                </a:solidFill>
                <a:latin typeface="Calibri"/>
              </a:defRPr>
            </a:pPr>
            <a:r>
              <a:t>Studied India's $350B unorganized credit market and the 85% reliance of rural micro-enterprises on moneylenders charging 36% to 120% APR with illegal compounding.</a:t>
            </a:r>
          </a:p>
        </p:txBody>
      </p:sp>
      <p:sp>
        <p:nvSpPr>
          <p:cNvPr id="17415" name="Oval 17414"/>
          <p:cNvSpPr/>
          <p:nvPr/>
        </p:nvSpPr>
        <p:spPr>
          <a:xfrm>
            <a:off x="731520" y="2532888"/>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TextBox 17415"/>
          <p:cNvSpPr txBox="1"/>
          <p:nvPr/>
        </p:nvSpPr>
        <p:spPr>
          <a:xfrm>
            <a:off x="969264" y="2496312"/>
            <a:ext cx="3794760" cy="841248"/>
          </a:xfrm>
          <a:prstGeom prst="rect">
            <a:avLst/>
          </a:prstGeom>
          <a:noFill/>
        </p:spPr>
        <p:txBody>
          <a:bodyPr wrap="square" lIns="0" tIns="0" rIns="0" bIns="0">
            <a:spAutoFit/>
          </a:bodyPr>
          <a:lstStyle/>
          <a:p>
            <a:pPr>
              <a:defRPr sz="850" b="1">
                <a:solidFill>
                  <a:srgbClr val="0F226B"/>
                </a:solidFill>
                <a:latin typeface="Arial"/>
              </a:defRPr>
            </a:pPr>
            <a:r>
              <a:t>48% Loan Diversion Root-Cause Study</a:t>
            </a:r>
          </a:p>
          <a:p>
            <a:pPr>
              <a:defRPr sz="750">
                <a:solidFill>
                  <a:srgbClr val="0F172A"/>
                </a:solidFill>
                <a:latin typeface="Calibri"/>
              </a:defRPr>
            </a:pPr>
            <a:r>
              <a:t>Empirical analysis establishing that lump-sum cash disbursements trigger diversion into speculative uses, proving the necessity of supplier-directed milestone tranches.</a:t>
            </a:r>
          </a:p>
        </p:txBody>
      </p:sp>
      <p:sp>
        <p:nvSpPr>
          <p:cNvPr id="17417" name="Oval 17416"/>
          <p:cNvSpPr/>
          <p:nvPr/>
        </p:nvSpPr>
        <p:spPr>
          <a:xfrm>
            <a:off x="731520" y="3429000"/>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TextBox 17417"/>
          <p:cNvSpPr txBox="1"/>
          <p:nvPr/>
        </p:nvSpPr>
        <p:spPr>
          <a:xfrm>
            <a:off x="969264" y="3392424"/>
            <a:ext cx="3794760" cy="841248"/>
          </a:xfrm>
          <a:prstGeom prst="rect">
            <a:avLst/>
          </a:prstGeom>
          <a:noFill/>
        </p:spPr>
        <p:txBody>
          <a:bodyPr wrap="square" lIns="0" tIns="0" rIns="0" bIns="0">
            <a:spAutoFit/>
          </a:bodyPr>
          <a:lstStyle/>
          <a:p>
            <a:pPr>
              <a:defRPr sz="850" b="1">
                <a:solidFill>
                  <a:srgbClr val="0F226B"/>
                </a:solidFill>
                <a:latin typeface="Arial"/>
              </a:defRPr>
            </a:pPr>
            <a:r>
              <a:t>Multi-Asset Volatility &amp; Haircut Modeling</a:t>
            </a:r>
          </a:p>
          <a:p>
            <a:pPr>
              <a:defRPr sz="750">
                <a:solidFill>
                  <a:srgbClr val="0F172A"/>
                </a:solidFill>
                <a:latin typeface="Calibri"/>
              </a:defRPr>
            </a:pPr>
            <a:r>
              <a:t>Algorithmic formulation of volatile asset liquidation margins (Gold 75%, Silver 65%, IT 50%, WHR 60%, Livestock 40%) under stress-tested market conditions.</a:t>
            </a:r>
          </a:p>
        </p:txBody>
      </p:sp>
      <p:sp>
        <p:nvSpPr>
          <p:cNvPr id="17419" name="Oval 17418"/>
          <p:cNvSpPr/>
          <p:nvPr/>
        </p:nvSpPr>
        <p:spPr>
          <a:xfrm>
            <a:off x="731520" y="4325112"/>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969264" y="4288536"/>
            <a:ext cx="3794760" cy="841248"/>
          </a:xfrm>
          <a:prstGeom prst="rect">
            <a:avLst/>
          </a:prstGeom>
          <a:noFill/>
        </p:spPr>
        <p:txBody>
          <a:bodyPr wrap="square" lIns="0" tIns="0" rIns="0" bIns="0">
            <a:spAutoFit/>
          </a:bodyPr>
          <a:lstStyle/>
          <a:p>
            <a:pPr>
              <a:defRPr sz="850" b="1">
                <a:solidFill>
                  <a:srgbClr val="0F226B"/>
                </a:solidFill>
                <a:latin typeface="Arial"/>
              </a:defRPr>
            </a:pPr>
            <a:r>
              <a:t>Hardware Keystore Benchmarks</a:t>
            </a:r>
          </a:p>
          <a:p>
            <a:pPr>
              <a:defRPr sz="750">
                <a:solidFill>
                  <a:srgbClr val="0F172A"/>
                </a:solidFill>
                <a:latin typeface="Calibri"/>
              </a:defRPr>
            </a:pPr>
            <a:r>
              <a:t>Benchmarked Android StrongBox Keystore vs. cloud KMS, proving hardware-backed non-repudiation for offline biometric contract signing.</a:t>
            </a:r>
          </a:p>
        </p:txBody>
      </p:sp>
      <p:sp>
        <p:nvSpPr>
          <p:cNvPr id="17421" name="Oval 17420"/>
          <p:cNvSpPr/>
          <p:nvPr/>
        </p:nvSpPr>
        <p:spPr>
          <a:xfrm>
            <a:off x="731520" y="5221224"/>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TextBox 17421"/>
          <p:cNvSpPr txBox="1"/>
          <p:nvPr/>
        </p:nvSpPr>
        <p:spPr>
          <a:xfrm>
            <a:off x="969264" y="5184648"/>
            <a:ext cx="3794760" cy="841248"/>
          </a:xfrm>
          <a:prstGeom prst="rect">
            <a:avLst/>
          </a:prstGeom>
          <a:noFill/>
        </p:spPr>
        <p:txBody>
          <a:bodyPr wrap="square" lIns="0" tIns="0" rIns="0" bIns="0">
            <a:spAutoFit/>
          </a:bodyPr>
          <a:lstStyle/>
          <a:p>
            <a:pPr>
              <a:defRPr sz="850" b="1">
                <a:solidFill>
                  <a:srgbClr val="0F226B"/>
                </a:solidFill>
                <a:latin typeface="Arial"/>
              </a:defRPr>
            </a:pPr>
            <a:r>
              <a:t>MSME Field Interviews in Bharat</a:t>
            </a:r>
          </a:p>
          <a:p>
            <a:pPr>
              <a:defRPr sz="750">
                <a:solidFill>
                  <a:srgbClr val="0F172A"/>
                </a:solidFill>
                <a:latin typeface="Calibri"/>
              </a:defRPr>
            </a:pPr>
            <a:r>
              <a:t>Direct user requirements gathered from Surat textile weavers and Punjab agricultural producers validating mobile milestone tracking workflows.</a:t>
            </a:r>
          </a:p>
        </p:txBody>
      </p:sp>
      <p:sp>
        <p:nvSpPr>
          <p:cNvPr id="17423" name="Rounded Rectangle 17422"/>
          <p:cNvSpPr/>
          <p:nvPr/>
        </p:nvSpPr>
        <p:spPr>
          <a:xfrm>
            <a:off x="5431311" y="1115568"/>
            <a:ext cx="1289752" cy="2468880"/>
          </a:xfrm>
          <a:prstGeom prst="roundRect">
            <a:avLst/>
          </a:prstGeom>
          <a:solidFill>
            <a:srgbClr val="0F172A"/>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Rounded Rectangle 17423"/>
          <p:cNvSpPr/>
          <p:nvPr/>
        </p:nvSpPr>
        <p:spPr>
          <a:xfrm>
            <a:off x="5916168" y="1129284"/>
            <a:ext cx="320040" cy="32004"/>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5" name="Picture 17424" descr="image.png"/>
          <p:cNvPicPr>
            <a:picLocks noChangeAspect="1"/>
          </p:cNvPicPr>
          <p:nvPr/>
        </p:nvPicPr>
        <p:blipFill>
          <a:blip r:embed="rId8"/>
          <a:stretch>
            <a:fillRect/>
          </a:stretch>
        </p:blipFill>
        <p:spPr>
          <a:xfrm>
            <a:off x="5467887" y="1161288"/>
            <a:ext cx="1216600" cy="2377440"/>
          </a:xfrm>
          <a:prstGeom prst="rect">
            <a:avLst/>
          </a:prstGeom>
        </p:spPr>
      </p:pic>
      <p:sp>
        <p:nvSpPr>
          <p:cNvPr id="17426" name="Rounded Rectangle 17425"/>
          <p:cNvSpPr/>
          <p:nvPr/>
        </p:nvSpPr>
        <p:spPr>
          <a:xfrm>
            <a:off x="5431311" y="3611880"/>
            <a:ext cx="1289752" cy="173736"/>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50" b="1">
                <a:solidFill>
                  <a:srgbClr val="38BDF8"/>
                </a:solidFill>
                <a:latin typeface="Arial"/>
              </a:defRPr>
            </a:pPr>
            <a:r>
              <a:t>DYNAMIC UPI QR REPAY</a:t>
            </a:r>
          </a:p>
        </p:txBody>
      </p:sp>
      <p:sp>
        <p:nvSpPr>
          <p:cNvPr id="17427" name="Rounded Rectangle 17426"/>
          <p:cNvSpPr/>
          <p:nvPr/>
        </p:nvSpPr>
        <p:spPr>
          <a:xfrm>
            <a:off x="5431547" y="3657600"/>
            <a:ext cx="1289280" cy="2468880"/>
          </a:xfrm>
          <a:prstGeom prst="roundRect">
            <a:avLst/>
          </a:prstGeom>
          <a:solidFill>
            <a:srgbClr val="0F172A"/>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Rounded Rectangle 17427"/>
          <p:cNvSpPr/>
          <p:nvPr/>
        </p:nvSpPr>
        <p:spPr>
          <a:xfrm>
            <a:off x="5916168" y="3671316"/>
            <a:ext cx="320040" cy="32004"/>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9" name="Picture 17428" descr="image.png"/>
          <p:cNvPicPr>
            <a:picLocks noChangeAspect="1"/>
          </p:cNvPicPr>
          <p:nvPr/>
        </p:nvPicPr>
        <p:blipFill>
          <a:blip r:embed="rId9"/>
          <a:stretch>
            <a:fillRect/>
          </a:stretch>
        </p:blipFill>
        <p:spPr>
          <a:xfrm>
            <a:off x="5468123" y="3703320"/>
            <a:ext cx="1216128" cy="2377440"/>
          </a:xfrm>
          <a:prstGeom prst="rect">
            <a:avLst/>
          </a:prstGeom>
        </p:spPr>
      </p:pic>
      <p:sp>
        <p:nvSpPr>
          <p:cNvPr id="17430" name="Rounded Rectangle 17429"/>
          <p:cNvSpPr/>
          <p:nvPr/>
        </p:nvSpPr>
        <p:spPr>
          <a:xfrm>
            <a:off x="5431547" y="6153912"/>
            <a:ext cx="1289280" cy="173736"/>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50" b="1">
                <a:solidFill>
                  <a:srgbClr val="38BDF8"/>
                </a:solidFill>
                <a:latin typeface="Arial"/>
              </a:defRPr>
            </a:pPr>
            <a:r>
              <a:t>TELEGRAM SOS ALERTS</a:t>
            </a:r>
          </a:p>
        </p:txBody>
      </p:sp>
      <p:sp>
        <p:nvSpPr>
          <p:cNvPr id="17431" name="Rounded Rectangle 17430"/>
          <p:cNvSpPr/>
          <p:nvPr/>
        </p:nvSpPr>
        <p:spPr>
          <a:xfrm>
            <a:off x="7379208" y="1115568"/>
            <a:ext cx="4160520" cy="5074920"/>
          </a:xfrm>
          <a:prstGeom prst="roundRect">
            <a:avLst/>
          </a:prstGeom>
          <a:solidFill>
            <a:srgbClr val="FFFFFF"/>
          </a:solidFill>
          <a:ln w="1905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2" name="Rounded Rectangle 17431"/>
          <p:cNvSpPr/>
          <p:nvPr/>
        </p:nvSpPr>
        <p:spPr>
          <a:xfrm>
            <a:off x="7498079" y="1207008"/>
            <a:ext cx="3922776" cy="274320"/>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STATUTORY ACTS &amp; INSTITUTIONAL REFERENCES</a:t>
            </a:r>
          </a:p>
        </p:txBody>
      </p:sp>
      <p:sp>
        <p:nvSpPr>
          <p:cNvPr id="17433" name="Oval 17432"/>
          <p:cNvSpPr/>
          <p:nvPr/>
        </p:nvSpPr>
        <p:spPr>
          <a:xfrm>
            <a:off x="7498079" y="1636776"/>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4" name="TextBox 17433"/>
          <p:cNvSpPr txBox="1"/>
          <p:nvPr/>
        </p:nvSpPr>
        <p:spPr>
          <a:xfrm>
            <a:off x="7735824" y="1600200"/>
            <a:ext cx="3794760" cy="713232"/>
          </a:xfrm>
          <a:prstGeom prst="rect">
            <a:avLst/>
          </a:prstGeom>
          <a:noFill/>
        </p:spPr>
        <p:txBody>
          <a:bodyPr wrap="square" lIns="0" tIns="0" rIns="0" bIns="0">
            <a:spAutoFit/>
          </a:bodyPr>
          <a:lstStyle/>
          <a:p>
            <a:pPr>
              <a:defRPr sz="850" b="1">
                <a:solidFill>
                  <a:srgbClr val="0F766E"/>
                </a:solidFill>
                <a:latin typeface="Arial"/>
              </a:defRPr>
            </a:pPr>
            <a:r>
              <a:t>Reserve Bank of India (RBI) Digital Lending Guidelines (2022)</a:t>
            </a:r>
          </a:p>
          <a:p>
            <a:pPr>
              <a:defRPr sz="750">
                <a:solidFill>
                  <a:srgbClr val="0F172A"/>
                </a:solidFill>
                <a:latin typeface="Calibri"/>
              </a:defRPr>
            </a:pPr>
            <a:r>
              <a:t>Direct merchant account transfer mandate, prohibition of loan shark third-party collections — https://www.rbi.org.in/</a:t>
            </a:r>
          </a:p>
        </p:txBody>
      </p:sp>
      <p:sp>
        <p:nvSpPr>
          <p:cNvPr id="17435" name="Oval 17434"/>
          <p:cNvSpPr/>
          <p:nvPr/>
        </p:nvSpPr>
        <p:spPr>
          <a:xfrm>
            <a:off x="7498079" y="2395728"/>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6" name="TextBox 17435"/>
          <p:cNvSpPr txBox="1"/>
          <p:nvPr/>
        </p:nvSpPr>
        <p:spPr>
          <a:xfrm>
            <a:off x="7735824" y="2359152"/>
            <a:ext cx="3794760" cy="713232"/>
          </a:xfrm>
          <a:prstGeom prst="rect">
            <a:avLst/>
          </a:prstGeom>
          <a:noFill/>
        </p:spPr>
        <p:txBody>
          <a:bodyPr wrap="square" lIns="0" tIns="0" rIns="0" bIns="0">
            <a:spAutoFit/>
          </a:bodyPr>
          <a:lstStyle/>
          <a:p>
            <a:pPr>
              <a:defRPr sz="850" b="1">
                <a:solidFill>
                  <a:srgbClr val="0F766E"/>
                </a:solidFill>
                <a:latin typeface="Arial"/>
              </a:defRPr>
            </a:pPr>
            <a:r>
              <a:t>RBI Fair Lending Practice Circular (RBI/2023-24/53)</a:t>
            </a:r>
          </a:p>
          <a:p>
            <a:pPr>
              <a:defRPr sz="750">
                <a:solidFill>
                  <a:srgbClr val="0F172A"/>
                </a:solidFill>
                <a:latin typeface="Calibri"/>
              </a:defRPr>
            </a:pPr>
            <a:r>
              <a:t>Mandating strictly non-compounding daily penal charges capped at 2% p.a. — https://www.rbi.org.in/</a:t>
            </a:r>
          </a:p>
        </p:txBody>
      </p:sp>
      <p:sp>
        <p:nvSpPr>
          <p:cNvPr id="17437" name="Oval 17436"/>
          <p:cNvSpPr/>
          <p:nvPr/>
        </p:nvSpPr>
        <p:spPr>
          <a:xfrm>
            <a:off x="7498079" y="3154680"/>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8" name="TextBox 17437"/>
          <p:cNvSpPr txBox="1"/>
          <p:nvPr/>
        </p:nvSpPr>
        <p:spPr>
          <a:xfrm>
            <a:off x="7735824" y="3118104"/>
            <a:ext cx="3794760" cy="713232"/>
          </a:xfrm>
          <a:prstGeom prst="rect">
            <a:avLst/>
          </a:prstGeom>
          <a:noFill/>
        </p:spPr>
        <p:txBody>
          <a:bodyPr wrap="square" lIns="0" tIns="0" rIns="0" bIns="0">
            <a:spAutoFit/>
          </a:bodyPr>
          <a:lstStyle/>
          <a:p>
            <a:pPr>
              <a:defRPr sz="850" b="1">
                <a:solidFill>
                  <a:srgbClr val="0F766E"/>
                </a:solidFill>
                <a:latin typeface="Arial"/>
              </a:defRPr>
            </a:pPr>
            <a:r>
              <a:t>Section 4, Negotiable Instruments Act 1881</a:t>
            </a:r>
          </a:p>
          <a:p>
            <a:pPr>
              <a:defRPr sz="750">
                <a:solidFill>
                  <a:srgbClr val="0F172A"/>
                </a:solidFill>
                <a:latin typeface="Calibri"/>
              </a:defRPr>
            </a:pPr>
            <a:r>
              <a:t>Statutory framework governing unconditional Promissory Notes with fixed maturity and consideration.</a:t>
            </a:r>
          </a:p>
        </p:txBody>
      </p:sp>
      <p:sp>
        <p:nvSpPr>
          <p:cNvPr id="17439" name="Oval 17438"/>
          <p:cNvSpPr/>
          <p:nvPr/>
        </p:nvSpPr>
        <p:spPr>
          <a:xfrm>
            <a:off x="7498079" y="3913632"/>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0" name="TextBox 17439"/>
          <p:cNvSpPr txBox="1"/>
          <p:nvPr/>
        </p:nvSpPr>
        <p:spPr>
          <a:xfrm>
            <a:off x="7735824" y="3877056"/>
            <a:ext cx="3794760" cy="713232"/>
          </a:xfrm>
          <a:prstGeom prst="rect">
            <a:avLst/>
          </a:prstGeom>
          <a:noFill/>
        </p:spPr>
        <p:txBody>
          <a:bodyPr wrap="square" lIns="0" tIns="0" rIns="0" bIns="0">
            <a:spAutoFit/>
          </a:bodyPr>
          <a:lstStyle/>
          <a:p>
            <a:pPr>
              <a:defRPr sz="850" b="1">
                <a:solidFill>
                  <a:srgbClr val="0F766E"/>
                </a:solidFill>
                <a:latin typeface="Arial"/>
              </a:defRPr>
            </a:pPr>
            <a:r>
              <a:t>Order XXXVII, Code of Civil Procedure 1908</a:t>
            </a:r>
          </a:p>
          <a:p>
            <a:pPr>
              <a:defRPr sz="750">
                <a:solidFill>
                  <a:srgbClr val="0F172A"/>
                </a:solidFill>
                <a:latin typeface="Calibri"/>
              </a:defRPr>
            </a:pPr>
            <a:r>
              <a:t>Summary Suit legal recovery pathway in Civil Courts with expedited decree without 10-year trials.</a:t>
            </a:r>
          </a:p>
        </p:txBody>
      </p:sp>
      <p:sp>
        <p:nvSpPr>
          <p:cNvPr id="17441" name="Oval 17440"/>
          <p:cNvSpPr/>
          <p:nvPr/>
        </p:nvSpPr>
        <p:spPr>
          <a:xfrm>
            <a:off x="7498079" y="4672584"/>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2" name="TextBox 17441"/>
          <p:cNvSpPr txBox="1"/>
          <p:nvPr/>
        </p:nvSpPr>
        <p:spPr>
          <a:xfrm>
            <a:off x="7735824" y="4636008"/>
            <a:ext cx="3794760" cy="713232"/>
          </a:xfrm>
          <a:prstGeom prst="rect">
            <a:avLst/>
          </a:prstGeom>
          <a:noFill/>
        </p:spPr>
        <p:txBody>
          <a:bodyPr wrap="square" lIns="0" tIns="0" rIns="0" bIns="0">
            <a:spAutoFit/>
          </a:bodyPr>
          <a:lstStyle/>
          <a:p>
            <a:pPr>
              <a:defRPr sz="850" b="1">
                <a:solidFill>
                  <a:srgbClr val="0F766E"/>
                </a:solidFill>
                <a:latin typeface="Arial"/>
              </a:defRPr>
            </a:pPr>
            <a:r>
              <a:t>Information Technology Act 2000 (Sec 65B &amp; Sec 10A)</a:t>
            </a:r>
          </a:p>
          <a:p>
            <a:pPr>
              <a:defRPr sz="750">
                <a:solidFill>
                  <a:srgbClr val="0F172A"/>
                </a:solidFill>
                <a:latin typeface="Calibri"/>
              </a:defRPr>
            </a:pPr>
            <a:r>
              <a:t>Electronic evidentiary admissibility of digital biometric hashes and timestamped audit logs.</a:t>
            </a:r>
          </a:p>
        </p:txBody>
      </p:sp>
      <p:sp>
        <p:nvSpPr>
          <p:cNvPr id="17443" name="Oval 17442"/>
          <p:cNvSpPr/>
          <p:nvPr/>
        </p:nvSpPr>
        <p:spPr>
          <a:xfrm>
            <a:off x="7498079" y="5431535"/>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4" name="TextBox 17443"/>
          <p:cNvSpPr txBox="1"/>
          <p:nvPr/>
        </p:nvSpPr>
        <p:spPr>
          <a:xfrm>
            <a:off x="7735824" y="5394959"/>
            <a:ext cx="3794760" cy="713232"/>
          </a:xfrm>
          <a:prstGeom prst="rect">
            <a:avLst/>
          </a:prstGeom>
          <a:noFill/>
        </p:spPr>
        <p:txBody>
          <a:bodyPr wrap="square" lIns="0" tIns="0" rIns="0" bIns="0">
            <a:spAutoFit/>
          </a:bodyPr>
          <a:lstStyle/>
          <a:p>
            <a:pPr>
              <a:defRPr sz="850" b="1">
                <a:solidFill>
                  <a:srgbClr val="0F766E"/>
                </a:solidFill>
                <a:latin typeface="Arial"/>
              </a:defRPr>
            </a:pPr>
            <a:r>
              <a:t>NABARD &amp; WDRA Warehouse Receipt Financing</a:t>
            </a:r>
          </a:p>
          <a:p>
            <a:pPr>
              <a:defRPr sz="750">
                <a:solidFill>
                  <a:srgbClr val="0F172A"/>
                </a:solidFill>
                <a:latin typeface="Calibri"/>
              </a:defRPr>
            </a:pPr>
            <a:r>
              <a:t>Electronic Negotiable Warehouse Receipts (e-NWR) legal framework for agricultural credit — https://www.nabard.org/</a:t>
            </a:r>
          </a:p>
        </p:txBody>
      </p:sp>
    </p:spTree>
    <p:extLst>
      <p:ext uri="{BB962C8B-B14F-4D97-AF65-F5344CB8AC3E}">
        <p14:creationId xmlns:p14="http://schemas.microsoft.com/office/powerpoint/2010/main" val="3916788613"/>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10467</TotalTime>
  <Words>65</Words>
  <Application>Microsoft Office PowerPoint</Application>
  <PresentationFormat>Widescreen</PresentationFormat>
  <Paragraphs>22</Paragraphs>
  <Slides>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ＭＳ Ｐゴシック</vt:lpstr>
      <vt:lpstr>Arial</vt:lpstr>
      <vt:lpstr>Calibri</vt:lpstr>
      <vt:lpstr>Times New Roman</vt:lpstr>
      <vt:lpstr>TradeGothic</vt:lpstr>
      <vt:lpstr>Office Theme</vt:lpstr>
      <vt:lpstr>PowerPoint Presentation</vt:lpstr>
      <vt:lpstr>PowerPoint Presentation</vt:lpstr>
      <vt:lpstr>PowerPoint Presentation</vt:lpstr>
      <vt:lpstr>FEASIBILITY AND VIABILITY</vt:lpstr>
      <vt:lpstr>PowerPoint Presentation</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Ayush Kumar</cp:lastModifiedBy>
  <cp:revision>152</cp:revision>
  <dcterms:created xsi:type="dcterms:W3CDTF">2013-12-12T18:46:50Z</dcterms:created>
  <dcterms:modified xsi:type="dcterms:W3CDTF">2026-08-23T14:38:33Z</dcterms:modified>
  <cp:category/>
</cp:coreProperties>
</file>